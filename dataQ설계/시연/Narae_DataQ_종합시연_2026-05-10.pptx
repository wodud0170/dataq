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828800"/>
            <a:ext cx="6858000" cy="68580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822960"/>
            <a:ext cx="246888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246888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DATA STANDARDIZATION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Pretendard"/>
              </a:rPr>
              <a:t>Narae DataQ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0584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0">
                <a:solidFill>
                  <a:srgbClr val="06B6D4"/>
                </a:solidFill>
                <a:latin typeface="Pretendard"/>
              </a:rPr>
              <a:t>데이터 품질 관리 플랫폼 — 종합 시연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Pretendard"/>
              </a:rPr>
              <a:t>표준 사전 · 모델 수집 · 진단 · 품질 · 자동화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Pretendard"/>
              </a:rPr>
              <a:t>2026.05.10  |  Java 1.8 + Spring Boot 2.7 · Vue 2 · PostgreSQL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retendard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Pretendard"/>
              </a:rPr>
              <a:t>시스템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0">
                <a:solidFill>
                  <a:srgbClr val="64748B"/>
                </a:solidFill>
                <a:latin typeface="Pretendard"/>
              </a:rPr>
              <a:t>표준 사전 → 모델 수집 → 진단 → 품질 → 자동화 라이프사이클을 한 솔루션에서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1 / 42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종합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Pretendard"/>
              </a:rPr>
              <a:t>Narae DataQ — 한 줄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097280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24128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단어·용어·도메인 표준 관리부터 데이터 모델 수집·표준화 진단·구조 변경 감지·데이터 품질 진단·진단 스케줄링까지 한 솔루션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한국 데이터 표준화 컨텍스트 직접 반영 — 행안부 표준 단어 3,300건 + 형식단어/분류어 통일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Java 1.8 + Spring Boot 2.7 백엔드 두 모듈 (q-center 28091 / q-executor 28098)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Vue 2 + Vuetify 2 SPA · PostgreSQL 13 메타DB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외부 데이터소스: Oracle (SID/Service Name) · Cubrid · MySQL / MariaDB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3 / 42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종합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Pretendard"/>
              </a:rPr>
              <a:t>좌측 메뉴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097280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24128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데이터 표준 사전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데이터 모델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표준 진단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구조 변경 진단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데이터 품질 진단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표준화 도구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커뮤니티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스케줄 관리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마이페이지 /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4 / 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retendard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Pretendard"/>
              </a:rPr>
              <a:t>로그인 + 대시보드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0">
                <a:solidFill>
                  <a:srgbClr val="64748B"/>
                </a:solidFill>
                <a:latin typeface="Pretendard"/>
              </a:rPr>
              <a:t>ID/PW + 권한 2단계, 대시보드 한 화면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2 / 42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종합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Pretendard"/>
              </a:rPr>
              <a:t>로그인 + 대시보드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097280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24128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로그인 — ID/PW. 비밀번호 SHA-256 + 솔트. 권한 admin / user 2단계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대시보드 — 표준 현황 / 데이터 모델 현황 / 승인 현황 / 표준화 준수율 추이 / 최근 활동 + 빠른 액션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각 카드 클릭 시 해당 메뉴로 즉시 이동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[실시연] http://localhost:28091 → space / 123 → 대시보드 진입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6 / 42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retendard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Pretendard"/>
              </a:rPr>
              <a:t>데이터 표준 사전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0">
                <a:solidFill>
                  <a:srgbClr val="64748B"/>
                </a:solidFill>
                <a:latin typeface="Pretendard"/>
              </a:rPr>
              <a:t>단어 / 용어(v2) / 코드 / 도메인 / 변경 이력 / 일괄 등록 / 승인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3 / 42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종합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Pretendard"/>
              </a:rPr>
              <a:t>단어 — 표준 단어 사전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097280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24128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행안부 공통 표준 단어 약 3,300건 + 사용자 추가 단어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한글명 · 영문약어명 · 영문명 · 설명 · 도메인 분류 · 형식단어 여부 · 동의어 · 금칙어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검색 필터 — 단어명/영문약어/형식단어/등록일자/승인 여부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[실시연] '회원' 검색 → 매칭 행 → 상세 패널 → [등록] 모달 (영문약어 자동 대문자)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8 / 42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종합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Pretendard"/>
              </a:rPr>
              <a:t>용어 — 등록 모달 v2 (단일 폼 + 자동 분석)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097280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24128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한글 용어명 입력 → 1초 디바운스 후 analyzeTermsBatch 자동 분석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DP 점수 + 동의어 cascade + 미신뢰 토큰 재검색으로 정확한 단어 분리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예: 회원전화번호 → [회원/전화/번호] + 영문약어 자동 합성 (MBR_TEL_NO)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미등록 단어 → 같은 모달 안에서 인라인 등록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마지막 단어가 형식단어(CD 등) → 도메인 유형 자동 cascade + 코드 picker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회귀 케이스 4종 — AUTO / PARTIAL / FAILED / REGISTERED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9 / 42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종합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Pretendard"/>
              </a:rPr>
              <a:t>코드 / 도메인 / 그룹·분류 / 변경 이력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097280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24128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코드 — 코드 그룹 + 항목, 등록일자 범위 검색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도메인 — 데이터 타입·길이 표준 (예: 금액 NUMBER(15,2))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도메인 그룹/분류 — 계층화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변경 이력 — 등록·수정·삭제 추적, before/after 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10 / 42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종합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Pretendard"/>
              </a:rPr>
              <a:t>일괄 등록 + 승인 워크플로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097280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24128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5종 정적 XLSX 양식 (단어/용어/도메인/테이블/컬럼) — 다운로드 → 입력 → 미리보기 → 커밋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일반 사용자 등록 → APRV_YN='N' → 관리자 행별 [승인]/[반려]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단어 선승인 정책 — 미승인 단어 포함 용어는 승인 거부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cascade 반려 — 단어 반려 시 연관 미승인 용어 동시 반려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11 / 42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retendard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Pretendard"/>
              </a:rPr>
              <a:t>데이터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0">
                <a:solidFill>
                  <a:srgbClr val="64748B"/>
                </a:solidFill>
                <a:latin typeface="Pretendard"/>
              </a:rPr>
              <a:t>수집 / 그리드 편집 (대대적 개편) / 표준화 / cascade rename / 진단 제외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4 / 42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종합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Pretendard"/>
              </a:rPr>
              <a:t>데이터 모델 관리 — 수집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097280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24128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DBMS 메타데이터 자동 수집 (Oracle / Postgres / Cubrid / MySQL·MariaDB)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데이터소스 등록 — Oracle 의 경우 SID 또는 Service Name 별도 선택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신규 모델 → 데이터소스 + 스키마(다중) → 자동 수집 → 추가 N건 / 삭제·변경 0건 결과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XMI 임포트 — ERwin 등 외부 모델링 도구의 XMI 2.1 파일 그대로 업로드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한글 alias (ownedComment) 인식 — 한글명 따로 입력 불필요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13 / 42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종합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Pretendard"/>
              </a:rPr>
              <a:t>컬럼 그리드 편집 — 입력 경로 3가지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097280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24128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① 그리드 직접 편집 — 모든 셀 인라인. 데이터 타입은 드롭다운(VARCHAR/NUMBER/DATE 등 17종) + 자유입력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② TSV 멀티 paste — 엑셀에서 한 컬럼 복사 → 같은 필드의 다음 행들로 자동 분배 (한글명/영문명/타입/길이/소수점/순서/디폴트 모두 가능)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③ 엑셀 일괄 업로드 — 양식 → 입력 → 미리보기 → 커밋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14 / 42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종합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Pretendard"/>
              </a:rPr>
              <a:t>컬럼 편집 — 신규 강화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097280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24128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영문명 자동 대문자 (user_id → USER_ID)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컬럼 순서 자동 재배열 — 저장 시 1, 2, 3… 빈자리 없이 재할당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중복 검증 — 같은 테이블 내 영문명 / 한글명 중복 저장 전 차단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추가 대상 변경 시 검색 필터(소유자/테이블 영문/한글) 자동 세팅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15 / 42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종합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Pretendard"/>
              </a:rPr>
              <a:t>표준화 — 한글명 기준 / 영문명 기준 (분리)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097280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24128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한글명 기준 — 한글명 → 영문명/타입/길이/소수점 자동 채움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영문명 기준 — 영문명 → 한글명/타입/길이/소수점 (영문명 그대로)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둘 다 클릭 시 confirm 안내 (변경 항목 명시)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**dryRun 정책** — 즉시 DB 반영 안 하고 그리드만 갱신, [저장] 시점에 일괄 반영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잘못 클릭해도 새로고침 시 복귀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16 / 42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종합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Pretendard"/>
              </a:rPr>
              <a:t>영문명 / 테이블명 변경 — cascade rename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097280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24128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컬럼 영문명 변경 → INDEX / CONSTRAINT / FK_PARENT_ATTR 자동 갱신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테이블 물리명 변경 → OBJ_NM + ATTR + INDEX + CONSTRAINT + REF_TABLE_NM 5단계 cascade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변경 전 영향 미리보기 (카운트) → 사용자 확인 → 일괄 적용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DDL 다운로드 — [데이터 모델 현황] → [DDL 다운로드] (자동/PostgreSQL/Oracle)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17 / 42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종합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Pretendard"/>
              </a:rPr>
              <a:t>진단 제외 관리 + 모델 삭제 cascade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097280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24128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임시·폐기 테이블, 측정 의미 없는 컬럼을 진단 모수에서 명시적으로 제외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표준·구조·품질 3개 진단별 ON/OFF 토글, 사유 모달, 일괄 처리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테이블 OFF → 그 테이블의 컬럼 자동 cascade 제외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**모델 삭제 시 진단 스케줄 cascade 비활성** — soft-delete + 경고 confirm + 비활성 건수 안내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18 / 42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retendard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Pretendard"/>
              </a:rPr>
              <a:t>표준 진단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0">
                <a:solidFill>
                  <a:srgbClr val="64748B"/>
                </a:solidFill>
                <a:latin typeface="Pretendard"/>
              </a:rPr>
              <a:t>사전 기준 6종 이슈 검사 + 시계열 + 빠른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5 / 42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종합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Pretendard"/>
              </a:rPr>
              <a:t>진단 실행 +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097280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24128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표준 사전 기준 컬럼 검사 — 용어 미존재 / 한글명 불일치 / 타입·길이 불일치 등 6종 이슈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q-executor 백그라운드 실행, STOMP/WebSocket 으로 진행률 실시간 push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진단 결과 — 진단 ID 선택 → 필터(이슈 유형/테이블/컬럼/표준 준수 여부) → 상세 drawer (현재값 vs 권장값)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표준 준수율 = (전체 컬럼수 - 이슈 컬럼수) / 전체 컬럼수 × 100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이슈 컬럼수 = COUNT(DISTINCT OBJ_NM || '.' || ATTR_NM)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행 우측 [용어 빠른 등록] / [코멘트] 액션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20 / 42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retendard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Pretendard"/>
              </a:rPr>
              <a:t>구조 변경 진단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0">
                <a:solidFill>
                  <a:srgbClr val="64748B"/>
                </a:solidFill>
                <a:latin typeface="Pretendard"/>
              </a:rPr>
              <a:t>DBMS 실 스키마 vs 수집 스냅샷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6 / 42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종합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Pretendard"/>
              </a:rPr>
              <a:t>구조 변경 자동 감지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097280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24128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추가 / 변경 / 삭제 컬럼 자동 감지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변경 건별 — 컬럼명, 변경 전/후 타입·길이·NULL 여부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진단 제외 관리 적용 — OFF 표시된 테이블/컬럼은 결과 미등장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모델 드롭다운 — DB 데이터소스 연결된 모델만 표시 (논리 모델 제외)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도움말 툴팁으로 사용자 안내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22 / 42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retendard"/>
              </a:rPr>
              <a:t>SECTION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Pretendard"/>
              </a:rPr>
              <a:t>데이터 품질 진단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0">
                <a:solidFill>
                  <a:srgbClr val="64748B"/>
                </a:solidFill>
                <a:latin typeface="Pretendard"/>
              </a:rPr>
              <a:t>도메인 룰 / 값 프로파일 / 업무 규칙 / 컬럼 매핑 / 시계열 통계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7 / 42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종합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Pretendard"/>
              </a:rPr>
              <a:t>도메인 룰 관리 — 분류 단위 룰 + 카탈로그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097280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24128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좌측 트리(분류 → 도메인) + 우측 룰 패널 (적용된 룰 목록)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룰 유형 — NOT_NULL / RANGE / LENGTH / REGEX / ENUM / UNIQUE / REFERENCE / COMPARE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각 유형별 전용 입력 위젯 (RANGE 의 min/max + 정수 토글, REGEX 실시간 매칭, ENUM 칩)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카탈로그 — 시스템 기본 + 사용자 정의. 파라미터/설명 한눈에. [매핑] / [복사] / [삭제]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24 / 42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종합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Pretendard"/>
              </a:rPr>
              <a:t>값 프로파일링 / 업무 규칙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097280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24128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값 프로파일링 — 컬럼 단위 분포·이상값 진단. 샘플링(1만건/10%/100%) + 도메인 분류·테이블·컬럼 필터 + 다중 선택 진단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업무 규칙 관리 — 모델 단위 컬럼/테이블 룰 정의 + 진단 실행 (샘플링/증분 옵션)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업무 규칙 진단 결과 — 룰별 / 도메인 분류 / 상세 3탭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25 / 42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종합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Pretendard"/>
              </a:rPr>
              <a:t>컬럼 규칙 매핑 + 진단 통계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097280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24128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컬럼 ↔ 룰 매핑 — effective rule (도메인 룰 + 직접 매핑) + 직전 진단 적합률 단일 SQL JOIN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진단 통계 — 모델/컬럼 단위 적합률 시계열 (최근 30회). ApexChart 라인 차트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6개 화면 모두 .catch + .finally 보강 — 무한 로딩 차단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각 화면 헤더에 1줄 안내 배너로 화면 컨셉 명시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26 / 42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retendard"/>
              </a:rPr>
              <a:t>SECTION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Pretendard"/>
              </a:rPr>
              <a:t>표준화 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0">
                <a:solidFill>
                  <a:srgbClr val="64748B"/>
                </a:solidFill>
                <a:latin typeface="Pretendard"/>
              </a:rPr>
              <a:t>한글컬럼 일괄 표준화 + 분류어/형식단어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8 / 42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종합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Pretendard"/>
              </a:rPr>
              <a:t>한글컬럼 일괄 표준화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097280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24128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한글로 작성된 컬럼명 textarea 입력(줄바꿈 구분) → [분석]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결과 그리드 — 컬럼명 / status (REGISTERED·AUTO·PARTIAL·FAILED) / 단어 분리 / 추천 영문약어 / 추천 도메인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AUTO 행 → [용어 등록] 즉시 활성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PARTIAL 행 → [수정] 모달 (단어 수동 추가/제거 + 형식단어 검색·자동완성)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마지막 단어가 형식단어 → 도메인 분류 cascade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28 / 42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retendard"/>
              </a:rPr>
              <a:t>SECTION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Pretendard"/>
              </a:rPr>
              <a:t>커뮤니티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0">
                <a:solidFill>
                  <a:srgbClr val="64748B"/>
                </a:solidFill>
                <a:latin typeface="Pretendard"/>
              </a:rPr>
              <a:t>공지사항 / Q&amp;A 게시판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9 / 42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종합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Pretendard"/>
              </a:rPr>
              <a:t>게시판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097280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24128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공지사항 / Q&amp;A 분리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번호 / PIN / 파일 첨부 / 검색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첨부 파일명 OS 금칙 문자(* / \ : ?) 자동 sanitize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RFC 5987 한국어 파일명 다운로드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30 / 42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retendard"/>
              </a:rPr>
              <a:t>SECTION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Pretendard"/>
              </a:rPr>
              <a:t>스케줄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0">
                <a:solidFill>
                  <a:srgbClr val="64748B"/>
                </a:solidFill>
                <a:latin typeface="Pretendard"/>
              </a:rPr>
              <a:t>정기 진단 자동 실행 + admin gate + 즉시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10 / 42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종합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Pretendard"/>
              </a:rPr>
              <a:t>스케줄 등록 + 실행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097280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24128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스케줄 유형 — SIMPLE (일/주/월 + 시각) 또는 CRON 표현식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진단 유형 — STANDARD / STRUCT / BOTH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모델 선택 + 활성화 토글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[즉시 실행] — 수동 트리거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동시 실행 방어 — 같은 모델·유형 진행 중이면 SKIP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32 / 42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종합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Pretendard"/>
              </a:rPr>
              <a:t>권한 정책 + 실행 이력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097280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24128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추가 버튼은 항상 노출, 클릭 시 admin 체크 — 비관리자에게는 안내 표시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(이전 정책: 메뉴 자체 비활성 → 사용자가 메뉴 존재를 모름)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실행 이력 — 시간/모델/유형/상태/소요시간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행 클릭 → drawer 상세 (실행 사용자, 결과 카운트)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33 / 42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retendard"/>
              </a:rPr>
              <a:t>SECTION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Pretendard"/>
              </a:rPr>
              <a:t>마이페이지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0">
                <a:solidFill>
                  <a:srgbClr val="64748B"/>
                </a:solidFill>
                <a:latin typeface="Pretendard"/>
              </a:rPr>
              <a:t>내 정보 + 요청 현황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11 / 42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종합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Pretendard"/>
              </a:rPr>
              <a:t>개인 화면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097280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24128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내 정보 — 비밀번호 변경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요청 현황 — 본인이 신청한 단어/용어/도메인의 승인 상태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카드 (전체/대기/승인/반려) + 그리드 + 상세 패널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35 / 42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retendard"/>
              </a:rPr>
              <a:t>SECTION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Pretendard"/>
              </a:rPr>
              <a:t>관리 (관리자 전용)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0">
                <a:solidFill>
                  <a:srgbClr val="64748B"/>
                </a:solidFill>
                <a:latin typeface="Pretendard"/>
              </a:rPr>
              <a:t>사용자 / 승인 / 데이터 소스 /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12 / 42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종합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Pretendard"/>
              </a:rPr>
              <a:t>관리 메뉴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097280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24128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사용자 — 등록·권한 변경·비활성화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승인 — 행별 [승인]/[반려] 인라인 + 사유 입력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데이터 소스 — Oracle SID/Service Name 양쪽 + 연결 테스트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시스템 — 시스템 정보 관리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관리 그룹은 isAdmin 체크 — 일반 사용자에겐 메뉴 자체 미노출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37 / 42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retendard"/>
              </a:rPr>
              <a:t>SECTION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Pretendard"/>
              </a:rPr>
              <a:t>자동화 회귀 (Selenium)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0">
                <a:solidFill>
                  <a:srgbClr val="64748B"/>
                </a:solidFill>
                <a:latin typeface="Pretendard"/>
              </a:rPr>
              <a:t>한 명령어로 약 100여 케이스 자동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13 / 42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종합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Pretendard"/>
              </a:rPr>
              <a:t>회귀 테스트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097280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24128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한 명령어로 모든 통합 테스트 실행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데이터 표준 사전 / 데이터 모델 / 표준·구조 진단 / 데이터 품질 6개 화면 / 스케줄 관리 / 용어 등록 v2 30 케이스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테스트마다 cleanup hook — DB 폴루션 자동 정리, 좀비 Edge 프로세스 종료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신규 화면 추가 시에도 안정적 회귀 — 변경 후 즉시 검증 패턴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6263640"/>
            <a:ext cx="10972800" cy="365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4338CA"/>
                </a:solidFill>
                <a:latin typeface="Consolas"/>
              </a:rPr>
              <a:t>python dataQ설계/테스트/selenium/v2_2026-05-09/run_all.py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39 / 42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retendard"/>
              </a:rPr>
              <a:t>SECTION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Pretendard"/>
              </a:rPr>
              <a:t>차별화 +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0">
                <a:solidFill>
                  <a:srgbClr val="64748B"/>
                </a:solidFill>
                <a:latin typeface="Pretendard"/>
              </a:rPr>
              <a:t>한국 표준 직접 반영 · cascade · dryRun · 자동 회귀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14 / 42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종합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Pretendard"/>
              </a:rPr>
              <a:t>차별화 포인트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097280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24128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자동 표준화 — DP 점수 + 동의어 cascade 로 단어 분리 정확도 강화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데이터 품질 영역 통합 — 도메인 룰 + 값 프로파일 + 업무 규칙 + 시계열 통계 한 트리에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진단 제외 관리 — 임시·폐기 테이블 cascade 제외 + 사유 기록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모델 삭제 cascade — 연관 진단 스케줄까지 자동 비활성, 끊긴 스케줄 방지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컬럼 인라인 편집 + 멀티 paste + 표준화 dryRun — 엑셀 워크플로 그대로, 저장 직전까지 안전</a:t>
            </a:r>
          </a:p>
          <a:p>
            <a:pPr algn="l">
              <a:lnSpc>
                <a:spcPct val="155000"/>
              </a:lnSpc>
            </a:pPr>
            <a:r>
              <a:rPr sz="1500">
                <a:solidFill>
                  <a:srgbClr val="334155"/>
                </a:solidFill>
                <a:latin typeface="Pretendard"/>
              </a:rPr>
              <a:t>·  한국 표준 직접 반영 — 행안부 형식단어, 분류어 용어 통일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41 / 42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1828800"/>
            <a:ext cx="7315200" cy="73152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6400800" cy="64008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Pretendard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0584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0">
                <a:solidFill>
                  <a:srgbClr val="06B6D4"/>
                </a:solidFill>
                <a:latin typeface="Pretendard"/>
              </a:rPr>
              <a:t>Q&amp;A — Narae DataQ 종합 시연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Pretendard"/>
              </a:rPr>
              <a:t>발표자 직접 시연 · 50~70분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42 / 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