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Narae DataQ — 데이터 품질 관리 플랫폼의 종합 시연을 시작하겠습니다. 단어·용어·도메인 표준 관리부터 데이터 모델 수집·표준화 진단·구조 변경 감지·데이터 품질 검증·진단 스케줄링까지, 데이터 표준화 라이프사이클 전체를 한 솔루션에서 다룹니다. 이번 시연은 좌측 메뉴 순서대로 모든 핵심 기능을 보여드리는 종합 시연입니다.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시연 순서입니다. 좌측 네비게이션 메뉴 순서를 그대로 따라가면서 모든 메뉴의 핵심 기능을 차례대로 보여드립니다. 마지막에는 셀레니움 자동 회귀 결과와 SMETA 대비 차별화 포인트를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백엔드는 Spring Boot 두 모듈 — q-center 웹과 q-executor 워커. 프론트는 Vue 2 SPA, 데이터 모델 진단은 WebSocket 으로 실시간 진행률 push. 메타DB 는 PostgreSQL 13 컨테이너이고, 외부 데이터소스로 Oracle SID/Service Name 둘 다 지원, Cubrid 호환성도 확보했습니다. DDL 은 pg_dump 결과 한 파일로 단일 진실 운영 — 신규 환경 구축은 그 파일 한 번 실행으로 끝납니다.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와 비밀번호는 SHA-256 + 솔트로 저장합니다. 권한은 admin/user 두 단계인데, 중요한 건 admin 만 [관리] 그룹 메뉴가 DOM 에 렌더되고 API 도 403 거부합니다. 지금 로그인합니다 — 'space' / '123'.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대시보드는 한 화면 안에 표준화 운영 KPI 를 보여줍니다. 카드 클릭하면 해당 메뉴로 점프. 표준화 준수율은 컬럼 단위 — DISTINCT(테이블.컬럼) 로 카운트해서 한 컬럼이 여러 이슈여도 1로 처리. 이렇게 해야 의미 있는 백분율이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단어 사전은 행안부 공통 표준 약 3,300건 + 우리 추가 단어. 검색 필터에 등록일자 범위가 있어서 특정 기간 내 등록된 단어만 추적할 수 있고, 형식단어 여부로 명사·분류어 별도 검색이 가능합니다. 등록 모달에서 동의어 리스트가 핵심 — 자동 표준화 시 이 동의어를 통해 미등록 단어를 자동 매칭합니다.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v1 은 stepper 3 단계로 사용자 클릭이 많았고 부분문자열 매칭이 너무 많이 노출됐습니다. 예를 들어 '가로세로일시' 입력 시 27개 분류가 동시에 나와서 어디를 선택해야 할지 헷갈렸어요. v2 는 백엔드의 analyzeTermsBatch API 로 교체했는데, 이게 DP 점수 + 가장 긴 매칭 우선 + 동의어 cascade 적용해서 단어 1개당 분류 1개만 깨끗하게 반환합니다. MATCHED 단어는 자동 체크되고, 추천 도메인은 자동 채움. 마지막 단어가 'CD' 면 코드 picker 가 자동으로 활성화. 사용자 클릭 횟수가 v1 대비 3분의 1 수준으로 줄었습니다.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 분석 결과는 4가지로 분류됩니다. AUTO 는 모두 매칭 — 그대로 등록 가능. PARTIAL 은 일부 미등록인데, 미등록 단어를 모달 안에서 인라인으로 즉시 등록할 수 있어서 화면 전환 없이 흐름이 끊기지 않습니다. FAILED 는 다시 입력하라는 안내, REGISTERED 는 이미 있으니 중복이라고 알려줍니다. 이 4가지가 셀레니움 8 케이스로 자동 검증됩니다.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코드는 코드 그룹과 항목 — 예를 들어 성별 코드 그룹에 M, F, N 같은 항목들. 도메인은 데이터 타입+길이 표준화. 도메인을 분류로 묶으면 자동 표준화 시 마지막 단어의 분류명에 따라 도메인이 cascade 됩니다. 변경 이력은 모든 항목의 before/after 값을 보존 — 누가 언제 뭘 바꿨는지 100% 추적 가능합니다.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양식 다운로드는 정적 XLSX 5종 — 미리 디자인된 헤더만 있는 빈 양식. 사용자가 입력해서 다시 일괄 등록하면 미리보기 단계에서 검증 결과를 색으로 구분해서 보여주고 사용자 확인 후 커밋. 결과 다운로드는 정적이 아니라 POI 로 동적 생성 — 현재 검색·필터 상태 그대로 다운로드되니까 사용자 의도가 반영됩니다.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 워크플로는 일반 사용자 등록 시 APRV_YN='N' 으로 들어가고 관리자가 승인 화면에서 행별로 승인/반려. 정책이 핵심입니다 — 단어가 승인 안 되면 그 단어를 쓴 용어도 승인 거부. 단어 반려하면 연관된 미승인 용어도 동시 반려. 반려된 항목은 물리 삭제해서 동일 이름 재등록이 가능. 이 정책들이 셀레니움 4건 + cascade 12건으로 자동 검증됩니다.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외부 DBMS 메타데이터를 자동으로 수집합니다. Oracle 은 SID 와 Service Name 둘 다 지원. Cubrid 는 시스템 카탈로그 호환성을 추가로 작업해서 사용 가능. 모델 등록 시 스키마 다중 선택해서 한 번에 수집. 재수집 시 추가/삭제/변경 통계가 자동 누적되는데, 이 컬럼이 어제 PC1 과 동기화 작업한 부분입니다. 물리 모델은 데이터소스 연결돼있고, 논리 모델은 DSID 없는 모델 — 둘이 진단 적용 범위가 달라요.</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수집 이력은 단순한 로그가 아니라 변경 통계까지 같이 표시되는 감사 로그입니다. 44번 설계에서 정의한 ADDED_CNT/DELETED_CNT/MODIFIED_CNT 가 핵심 — 운영 중에 어떤 모델에 변경이 컸는지 한눈에 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컬럼 편집은 53번 설계로 재작업한 영역인데, 입력 경로가 3개입니다. 그리드 직접 편집, TSV 붙여넣기, 엑셀 업로드. TSV 붙여넣기가 운영 중 가장 자주 쓰이는데 엑셀에서 표 복사해서 그리드에 붙이면 행이 자동으로 분배됩니다. 한글명을 입력하고 [변환] 누르면 자동 표준화 엔진이 영문약어와 타입을 자동으로 채워줍니다.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테이블 물리명을 바꿀 때 그 테이블 컬럼들, 인덱스, 제약조건, 그리고 외래키로 이 테이블을 참조하는 다른 테이블의 REF_TABLE_NM 까지 5단계로 cascade rename 됩니다. 변경 전에 영향도 카운트가 미리보기로 swal 에 뜨고 사용자 확인 받은 후에만 진행. 셀레니움 test_obj_rename_cascade.py 로 8 phase 자동 검증.</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DDL 다운로드는 모델 행에서 [DDL 다운로드] 드롭다운 클릭하면 방언 선택. 자동 선택하면 모델의 DBMS 타입에 맞춰 Oracle 이면 varchar2/number, Postgres 면 varchar/integer 로 출력. CREATE TABLE 만 아니라 PK/FK/UK + 인덱스 + COMMENT 까지 통합. 데이터 모델 변경 후 DBA 한테 전달할 SQL 한 파일.</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세션 신규 메뉴입니다. 임시 테이블, 폐기 예정 테이블, 의미 없는 컬럼을 진단 모수에서 명시적으로 제외하는 기능. 기존엔 진단 결과를 그냥 무시했는데 그러면 표준 준수율이 왜곡됩니다. 명시적 OFF 하면 모수에서 빠지므로 정확한 준수율. Cascade 가 핵심 — 테이블 OFF 하면 그 안의 컬럼 다 자동 빠지고, 테이블 ON + 컬럼만 OFF 하면 그 컬럼만. 일괄 토글로 한 번에 여러 행 OFF 가능. 모든 변경은 사유와 함께 마지막 변경자/일시 기록.</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79번 검증은 12 phase 로 끊어서 매퍼 SQL 까지 직접 검증합니다. Oracle 컨테이너에 임시 테이블 만들고 메타 INSERT 한 다음 단건/일괄 OFF 적용. 그 다음 표준 진단 매퍼와 구조 진단 매퍼가 OFF row 를 정확히 모수에서 빼는지 SQL 수준에서 카운트 확인. ALTER 후 재검증 단계는 OFF 처리된 테이블의 변경이 결과에 안 떠야 한다는 핵심 동작 검증. 마지막에 ON 복귀 후 모수 회복까지 풀 사이클 — 229초 PASS.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 진단은 사용자가 모델 선택하고 [진단 시작] 누르면 q-executor 가 백그라운드에서 처리. 진행률은 WebSocket STOMP 로 실시간 push 되니까 사용자는 화면 닫아도 됩니다. 이슈 6종 — 용어 미존재, 한글명 불일치, 영문약어 불일치, 타입 불일치, 길이 불일치, 도메인 불일치. 결과는 TB_DIAG_JOB 헤더 + TB_DIAG_RESULT 이슈별 row 로 저장. 79번 진단 제외 cascade 가 매퍼 단계에서 즉시 반영됩니다.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진단 결과 화면은 필터로 빠르게 좁혀들어갑니다. 행 클릭하면 우측에 drawer 가 열려서 현재값과 권장값을 나란히 비교. 표준 준수율 계산식이 중요한데, 이슈 건수가 아니라 이슈 컬럼 수로 계산합니다. 한 컬럼이 6개 이슈가 있어도 1로 카운트 — 그래야 의미있는 백분율이 나오고 사용자가 컬럼 단위로 작업 우선순위를 잡을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진단 결과에서 이슈 행마다 [용어 빠른 등록] 버튼이 있어요. 표준 사전에 없는 용어가 발견되면 그 자리에서 등록해버리고 진단 재실행 없이 결과 row 만 갱신. 운영 중 이걸로 빠르게 표준 사전 채워나갑니다. 코멘트는 진단 결과에 메모를 남길 수 있고, 누가 언제 코멘트했는지 변경 이력에 자동 등록. [해결] 버튼은 자동 표준화 추천 모달로 점프 — 53번 컬럼 그리드의 모달과 동일한 모달이라 학습 비용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구조 변경 진단은 데이터베이스의 실제 스키마와 우리가 수집한 스냅샷을 비교해서 컬럼이 추가/변경/삭제됐는지 감지. 결과는 3단계로 조회 — 진단 이력, 그 안의 상세, 그 안의 컬럼/제약/인덱스별. 79번 진단 제외 cascade 가 여기서도 적용 — OFF 처리된 테이블이나 컬럼의 변경은 결과에 안 떠서 노이즈가 줄어듭니다. 이 cascade 통합 작업은 어제 PC1 에서 보강한 부분이고 4 케이스 전수 검증됐습니다.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표준화는 DataQ 의 핵심 차별화 영역입니다. 한글 컬럼명을 textarea 에 줄바꿈 구분해서 여러 건 동시 입력 → 분석. 알고리즘은 DP 기반으로 가장 그럴듯한 단어 분리를 찾고, DP 만으로 부족한 미신뢰 토큰은 사후처리로 사전 재검색해서 보강. 동의어 매핑이 결정적인데, 예를 들어 '카테고리'를 입력하면 알고리즘이 '범주' 단어로 자동 매칭해줍니다. 결과는 4가지 status 로 자동 분류되고 추천 영문약어/도메인/타입/길이까지 채워줍니다.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수정 모달이 우리 시스템의 UX 차별화 중 하나예요. PARTIAL 이나 FAILED 행에서 [수정] 누르면 진입. 단어 테이블에서 형식단어를 검색·자동완성으로 골라서 추가하면 마지막 단어의 분류명에 따라 도메인 드롭다운이 자동으로 cascade 됩니다. 마지막 단어가 형식단어 (분류어) 가 아니면 도메인이 비활성 + 빨간 안내. 한글/영문 미리보기가 실시간으로 갱신되니까 사용자가 결과를 즉시 확인. test_ca8858d_clsf_domain 10 케이스 PASS.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진단은 67/70번 설계의 결과로 신규 추가된 영역입니다. 룰을 도메인 단위로 정의해서 같은 도메인 컬럼에 일괄 적용하고, 컬럼별로 룰을 직접 매핑할 수도 있습니다. effective rule 은 도메인 룰과 컬럼 매핑을 합집합으로 1 SQL 에 JOIN. 룰 카탈로그에는 이메일·주민번호 같은 표준 정규식이 미리 들어있어서 즉시 사용 가능.</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검증대상 화면에서 컬럼별로 어떤 룰이 적용되는지 효과 룰을 확인하고, 단위 재진단으로 한 컬럼만 즉시 재실행 가능. 품질검증 실행은 DB 연결된 모델만 자동 필터되니까 논리 모델은 안 보입니다. 컬럼 체크해서 진단 시작하면 q-executor 가 값 프로파일과 룰 위반 검사를 동시 수행. RuleSqlBuilder 가 dialect 분기 — Postgres/Oracle/Cubrid 별로 정규식 표현이 달라서 그 부분 호환성 직접 작업.</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품질검증 결과 화면은 4가지 관점 — 진단 단위, 테이블 단위, 검증항목(룰) 단위, 시계열 추이. 위반 샘플은 PK 와 위반값을 같이 보여주니까 운영자가 어떤 row 가 문제인지 즉시 확인 가능. 룰당 기본 100건. 79번 진단 제외는 컬럼 단위로 즉시 적용되고, 테이블 단위 cascade 는 67/70번 정식 통합 시 보강 예정으로 메모돼있습니다.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진단 스케줄러는 Phase 1~4 로 단계 구현했고 자동화 운영을 위한 핵심입니다. cron 표현식으로 스케줄 등록, 진단 유형은 표준만/구조만/둘 다 셋 중 선택. 대상 모델 지정. 활성/비활성 토글로 일시 중단 가능. 테스트할 때는 cron 기다리지 말고 즉시 실행 버튼으로 강제 트리거. 같은 모델 같은 유형이 이미 돌고 있으면 자동으로 SKIP — 동시 실행 방어. 셀레니움으로 SKIP 정책까지 자동 검증.</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스케줄 실행 이력은 자동 진단의 운영 로그. 시각/모델/유형/상태/소요시간 전부 한 그리드. 필터로 기간이나 상태별로 좁혀 보고, 행 클릭하면 drawer 가 열려서 진단 ID 링크로 진단 결과 화면 바로 점프. 실패 케이스에는 에러 스택트레이스가 들어있어서 원인 추적 가능합니다.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스케줄 자체는 일반 사용자도 조회 가능 (운영 투명성). 다만 등록/수정/삭제/즉시 실행은 관리자 전용. UI 비활성만으로는 부족하니까 API 도 서버 단에서 isAdmin 체크 후 403. 셀레니움 phase4_ui_admin_gate 와 perm_matrix 두 테스트로 권한 매트릭스 자동 검증 — 회귀 즉시 감지.</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마이페이지는 사용자 본인이 신청한 항목들을 한눈에 보는 화면. 카드 4개에 전체/대기/승인/반려 카운트가 보이고 클릭하면 필터. 행 클릭하면 상세 패널이 열려서 반려된 경우 사유까지 표시. 운영자가 자기 요청 진척도 빠르게 확인할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관리 메뉴는 관리자 전용. 사용자 관리 / 승인 / 데이터 소스 3개. 데이터 소스가 핵심인데 외부 DBMS 연결 정보 등록하고 [연결 테스트] 로 즉시 확인. 비밀번호는 jasypt 로 암호화 저장. Oracle 은 SID 와 Service Name 둘 다 지원. 관리 그룹은 isAdmin 체크해서 일반 사용자 화면에는 DOM 자체가 안 만들어집니다 — 클라이언트와 서버 양쪽 검증.</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셀레니움 통합 테스트 29건이 한 명령어로 자동 회귀. 약 25분 걸립니다. 종료코드 0 이면 모두 PASS. 각 테스트 사이에 cleanup hook 이 DB 폴루션 자동 삭제하고 좀비 Edge 프로세스 정리 — 이걸 안 하면 누적 데이터로 플레이키 발생. 변경 후엔 영향 영역의 단일 테스트만 빠르게 돌리고, 큰 변경 후엔 전체 회귀. 회귀 즉시 감지 패턴.</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마스터 러너 회귀 — 29건 PASS 0 FAIL. 1675초 약 28분. 79번 진단 제외 관리는 12 phase 가 있어서 단일 테스트가 228초. 표준 사전 그룹에 81/82번 용어 등록 v2 가 5번째로 추가됐고 8 케이스 PASS. 동일 환경에서 2회 연속 동일 결과 — 1624초 / 1675초 (편차 ±50초). cleanup hook 으로 재현성 확보.</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75/76/77/78번 4개 문서로 SMETA 와 정밀 비교한 결과 4가지 차별화 영역. 자동 표준화 엔진이 가장 큰 차이 — DataQ 는 한글 입력만으로 단어 분리, 영문약어, 도메인까지 자동인데 SMETA 는 수동. 진단 제외 관리는 DataQ 만의 신규 기능. 권한 매트릭스도 DataQ 는 자동 셀레니움 회귀. 그리고 한국 표준 — 행안부 형식단어 개념과 표준 단어 3,300건 시드까지 직접 반영했습니다.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 Narae DataQ 종합 시연 마칩니다. 오늘 좌측 메뉴 순서 그대로 모든 핵심 기능과 이번 세션 신규 기능 (79번 진단 제외, 81/82번 용어 등록 v2) 보여드렸고, 셀레니움 자동 회귀로 29 PASS / 0 FAIL 까지 검증된 상태입니다. SMETA 대비 차별화 4 영역도 정리. 질문 받겠습니다.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94560"/>
            <a:ext cx="10698480" cy="914400"/>
          </a:xfrm>
          <a:prstGeom prst="rect">
            <a:avLst/>
          </a:prstGeom>
          <a:noFill/>
        </p:spPr>
        <p:txBody>
          <a:bodyPr wrap="square" anchor="t">
            <a:spAutoFit/>
          </a:bodyPr>
          <a:lstStyle/>
          <a:p>
            <a:pPr algn="ctr"/>
            <a:r>
              <a:rPr sz="6400" b="1">
                <a:solidFill>
                  <a:srgbClr val="FFFFFF"/>
                </a:solidFill>
                <a:latin typeface="맑은 고딕"/>
              </a:rPr>
              <a:t>Narae DataQ</a:t>
            </a:r>
          </a:p>
        </p:txBody>
      </p:sp>
      <p:sp>
        <p:nvSpPr>
          <p:cNvPr id="4" name="TextBox 3"/>
          <p:cNvSpPr txBox="1"/>
          <p:nvPr/>
        </p:nvSpPr>
        <p:spPr>
          <a:xfrm>
            <a:off x="731520" y="3200400"/>
            <a:ext cx="10698480" cy="731520"/>
          </a:xfrm>
          <a:prstGeom prst="rect">
            <a:avLst/>
          </a:prstGeom>
          <a:noFill/>
        </p:spPr>
        <p:txBody>
          <a:bodyPr wrap="square" anchor="t">
            <a:spAutoFit/>
          </a:bodyPr>
          <a:lstStyle/>
          <a:p>
            <a:pPr algn="ctr"/>
            <a:r>
              <a:rPr sz="2800" b="0">
                <a:solidFill>
                  <a:srgbClr val="FFFFFF"/>
                </a:solidFill>
                <a:latin typeface="맑은 고딕"/>
              </a:rPr>
              <a:t>데이터 품질 / 표준화 관리 플랫폼 — 종합 시연</a:t>
            </a:r>
          </a:p>
        </p:txBody>
      </p:sp>
      <p:sp>
        <p:nvSpPr>
          <p:cNvPr id="5" name="TextBox 4"/>
          <p:cNvSpPr txBox="1"/>
          <p:nvPr/>
        </p:nvSpPr>
        <p:spPr>
          <a:xfrm>
            <a:off x="731520" y="4114800"/>
            <a:ext cx="10698480" cy="457200"/>
          </a:xfrm>
          <a:prstGeom prst="rect">
            <a:avLst/>
          </a:prstGeom>
          <a:noFill/>
        </p:spPr>
        <p:txBody>
          <a:bodyPr wrap="square" anchor="t">
            <a:spAutoFit/>
          </a:bodyPr>
          <a:lstStyle/>
          <a:p>
            <a:pPr algn="ctr"/>
            <a:r>
              <a:rPr sz="1600" b="0">
                <a:solidFill>
                  <a:srgbClr val="C5CAE9"/>
                </a:solidFill>
                <a:latin typeface="맑은 고딕"/>
              </a:rPr>
              <a:t>단어·용어·도메인 표준 → 데이터 모델 수집 → 표준화·구조·품질 진단 → 자동 표준화 → 스케줄링</a:t>
            </a:r>
          </a:p>
        </p:txBody>
      </p:sp>
      <p:sp>
        <p:nvSpPr>
          <p:cNvPr id="6" name="TextBox 5"/>
          <p:cNvSpPr txBox="1"/>
          <p:nvPr/>
        </p:nvSpPr>
        <p:spPr>
          <a:xfrm>
            <a:off x="731520" y="6035040"/>
            <a:ext cx="10698480" cy="365760"/>
          </a:xfrm>
          <a:prstGeom prst="rect">
            <a:avLst/>
          </a:prstGeom>
          <a:noFill/>
        </p:spPr>
        <p:txBody>
          <a:bodyPr wrap="square" anchor="t">
            <a:spAutoFit/>
          </a:bodyPr>
          <a:lstStyle/>
          <a:p>
            <a:pPr algn="ctr"/>
            <a:r>
              <a:rPr sz="1400" b="0">
                <a:solidFill>
                  <a:srgbClr val="C5CAE9"/>
                </a:solidFill>
                <a:latin typeface="맑은 고딕"/>
              </a:rPr>
              <a:t>2026-05-06 / 발표자 — 장재영</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Agenda — 메뉴 순서를 그대로 따라가는 종합 시연</a:t>
            </a:r>
          </a:p>
        </p:txBody>
      </p:sp>
      <p:sp>
        <p:nvSpPr>
          <p:cNvPr id="5" name="TextBox 4"/>
          <p:cNvSpPr txBox="1"/>
          <p:nvPr/>
        </p:nvSpPr>
        <p:spPr>
          <a:xfrm>
            <a:off x="548640" y="1188720"/>
            <a:ext cx="5486400" cy="5212080"/>
          </a:xfrm>
          <a:prstGeom prst="rect">
            <a:avLst/>
          </a:prstGeom>
          <a:noFill/>
        </p:spPr>
        <p:txBody>
          <a:bodyPr wrap="square">
            <a:spAutoFit/>
          </a:bodyPr>
          <a:lstStyle/>
          <a:p>
            <a:pPr algn="l"/>
            <a:r>
              <a:rPr sz="1800" b="1">
                <a:solidFill>
                  <a:srgbClr val="1A237E"/>
                </a:solidFill>
                <a:latin typeface="맑은 고딕"/>
              </a:rPr>
              <a:t>• 1. 시스템 개요 + 환경</a:t>
            </a:r>
          </a:p>
          <a:p>
            <a:pPr algn="l"/>
            <a:r>
              <a:rPr sz="1800" b="1">
                <a:solidFill>
                  <a:srgbClr val="1A237E"/>
                </a:solidFill>
                <a:latin typeface="맑은 고딕"/>
              </a:rPr>
              <a:t>• 2. 로그인 + 대시보드</a:t>
            </a:r>
          </a:p>
          <a:p>
            <a:pPr algn="l"/>
            <a:r>
              <a:rPr sz="1800" b="1">
                <a:solidFill>
                  <a:srgbClr val="1A237E"/>
                </a:solidFill>
                <a:latin typeface="맑은 고딕"/>
              </a:rPr>
              <a:t>• 3. 데이터 표준 사전 (단어/용어/코드/도메인/그룹/분류/이력)</a:t>
            </a:r>
          </a:p>
          <a:p>
            <a:pPr algn="l"/>
            <a:r>
              <a:rPr sz="1800" b="1">
                <a:solidFill>
                  <a:srgbClr val="1A237E"/>
                </a:solidFill>
                <a:latin typeface="맑은 고딕"/>
              </a:rPr>
              <a:t>• 4. 데이터 모델 (수집/그리드/DDL/진단 제외 관리 79번)</a:t>
            </a:r>
          </a:p>
          <a:p>
            <a:pPr algn="l"/>
            <a:r>
              <a:rPr sz="1800" b="1">
                <a:solidFill>
                  <a:srgbClr val="1A237E"/>
                </a:solidFill>
                <a:latin typeface="맑은 고딕"/>
              </a:rPr>
              <a:t>• 5. 표준화 진단 (실행/결과/빠른 등록)</a:t>
            </a:r>
          </a:p>
          <a:p>
            <a:pPr algn="l"/>
            <a:r>
              <a:rPr sz="1800" b="1">
                <a:solidFill>
                  <a:srgbClr val="1A237E"/>
                </a:solidFill>
                <a:latin typeface="맑은 고딕"/>
              </a:rPr>
              <a:t>• 6. 구조 변경 진단</a:t>
            </a:r>
          </a:p>
        </p:txBody>
      </p:sp>
      <p:sp>
        <p:nvSpPr>
          <p:cNvPr id="6" name="TextBox 5"/>
          <p:cNvSpPr txBox="1"/>
          <p:nvPr/>
        </p:nvSpPr>
        <p:spPr>
          <a:xfrm>
            <a:off x="6217920" y="1188720"/>
            <a:ext cx="5486400" cy="5212080"/>
          </a:xfrm>
          <a:prstGeom prst="rect">
            <a:avLst/>
          </a:prstGeom>
          <a:noFill/>
        </p:spPr>
        <p:txBody>
          <a:bodyPr wrap="square">
            <a:spAutoFit/>
          </a:bodyPr>
          <a:lstStyle/>
          <a:p>
            <a:pPr algn="l"/>
            <a:r>
              <a:rPr sz="1800" b="1">
                <a:solidFill>
                  <a:srgbClr val="1A237E"/>
                </a:solidFill>
                <a:latin typeface="맑은 고딕"/>
              </a:rPr>
              <a:t>• 7. 자동 표준화 지원 (컬럼 표준화)</a:t>
            </a:r>
          </a:p>
          <a:p>
            <a:pPr algn="l"/>
            <a:r>
              <a:rPr sz="1800" b="1">
                <a:solidFill>
                  <a:srgbClr val="1A237E"/>
                </a:solidFill>
                <a:latin typeface="맑은 고딕"/>
              </a:rPr>
              <a:t>• 8. 데이터 품질 진단 (룰/검증/위반 샘플)</a:t>
            </a:r>
          </a:p>
          <a:p>
            <a:pPr algn="l"/>
            <a:r>
              <a:rPr sz="1800" b="1">
                <a:solidFill>
                  <a:srgbClr val="1A237E"/>
                </a:solidFill>
                <a:latin typeface="맑은 고딕"/>
              </a:rPr>
              <a:t>• 9. 진단 스케줄</a:t>
            </a:r>
          </a:p>
          <a:p>
            <a:pPr algn="l"/>
            <a:r>
              <a:rPr sz="1800" b="1">
                <a:solidFill>
                  <a:srgbClr val="1A237E"/>
                </a:solidFill>
                <a:latin typeface="맑은 고딕"/>
              </a:rPr>
              <a:t>• 10. 마이페이지 + 관리</a:t>
            </a:r>
          </a:p>
          <a:p>
            <a:pPr algn="l"/>
            <a:r>
              <a:rPr sz="1800" b="1">
                <a:solidFill>
                  <a:srgbClr val="1A237E"/>
                </a:solidFill>
                <a:latin typeface="맑은 고딕"/>
              </a:rPr>
              <a:t>• 11. 자동화 검증 (셀레니움 29 PASS)</a:t>
            </a:r>
          </a:p>
          <a:p>
            <a:pPr algn="l"/>
            <a:r>
              <a:rPr sz="1800" b="1">
                <a:solidFill>
                  <a:srgbClr val="1A237E"/>
                </a:solidFill>
                <a:latin typeface="맑은 고딕"/>
              </a:rPr>
              <a:t>• 12. SMETA 비교 + Q&amp;A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1. 시스템 환경</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Java 1.8 + Spring Boot 2.7 + Vue 2 + PostgreSQL 13</a:t>
            </a:r>
          </a:p>
        </p:txBody>
      </p:sp>
      <p:sp>
        <p:nvSpPr>
          <p:cNvPr id="6" name="TextBox 5"/>
          <p:cNvSpPr txBox="1"/>
          <p:nvPr/>
        </p:nvSpPr>
        <p:spPr>
          <a:xfrm>
            <a:off x="548640" y="1188720"/>
            <a:ext cx="5669280" cy="4572000"/>
          </a:xfrm>
          <a:prstGeom prst="rect">
            <a:avLst/>
          </a:prstGeom>
          <a:noFill/>
        </p:spPr>
        <p:txBody>
          <a:bodyPr wrap="square">
            <a:spAutoFit/>
          </a:bodyPr>
          <a:lstStyle/>
          <a:p>
            <a:pPr algn="l"/>
            <a:r>
              <a:rPr sz="1800" b="1">
                <a:solidFill>
                  <a:srgbClr val="1A237E"/>
                </a:solidFill>
                <a:latin typeface="맑은 고딕"/>
              </a:rPr>
              <a:t>• Backend (2 modules)</a:t>
            </a:r>
          </a:p>
          <a:p>
            <a:pPr algn="l"/>
            <a:r>
              <a:rPr sz="1800">
                <a:solidFill>
                  <a:srgbClr val="546E7A"/>
                </a:solidFill>
                <a:latin typeface="맑은 고딕"/>
              </a:rPr>
              <a:t>  – q-center — 웹 서버, 포트 28091</a:t>
            </a:r>
          </a:p>
          <a:p>
            <a:pPr algn="l"/>
            <a:r>
              <a:rPr sz="1800">
                <a:solidFill>
                  <a:srgbClr val="546E7A"/>
                </a:solidFill>
                <a:latin typeface="맑은 고딕"/>
              </a:rPr>
              <a:t>  – q-executor — 백그라운드 워커, 포트 28098</a:t>
            </a:r>
          </a:p>
          <a:p>
            <a:pPr algn="l"/>
            <a:r>
              <a:rPr sz="1800">
                <a:solidFill>
                  <a:srgbClr val="546E7A"/>
                </a:solidFill>
                <a:latin typeface="맑은 고딕"/>
              </a:rPr>
              <a:t>  – q-common — 공유 VO + MyBatis Mapper</a:t>
            </a:r>
          </a:p>
          <a:p>
            <a:pPr algn="l"/>
            <a:r>
              <a:rPr sz="1800" b="1">
                <a:solidFill>
                  <a:srgbClr val="1A237E"/>
                </a:solidFill>
                <a:latin typeface="맑은 고딕"/>
              </a:rPr>
              <a:t>• Frontend</a:t>
            </a:r>
          </a:p>
          <a:p>
            <a:pPr algn="l"/>
            <a:r>
              <a:rPr sz="1800">
                <a:solidFill>
                  <a:srgbClr val="546E7A"/>
                </a:solidFill>
                <a:latin typeface="맑은 고딕"/>
              </a:rPr>
              <a:t>  – Vue 2.5 + Vuetify 2.6 (SPA, keep-alive 탭)</a:t>
            </a:r>
          </a:p>
          <a:p>
            <a:pPr algn="l"/>
            <a:r>
              <a:rPr sz="1800">
                <a:solidFill>
                  <a:srgbClr val="546E7A"/>
                </a:solidFill>
                <a:latin typeface="맑은 고딕"/>
              </a:rPr>
              <a:t>  – WebSocket (STOMP) — 진단 실시간 진행률</a:t>
            </a:r>
          </a:p>
        </p:txBody>
      </p:sp>
      <p:sp>
        <p:nvSpPr>
          <p:cNvPr id="7" name="TextBox 6"/>
          <p:cNvSpPr txBox="1"/>
          <p:nvPr/>
        </p:nvSpPr>
        <p:spPr>
          <a:xfrm>
            <a:off x="6309360" y="1188720"/>
            <a:ext cx="5486400" cy="4572000"/>
          </a:xfrm>
          <a:prstGeom prst="rect">
            <a:avLst/>
          </a:prstGeom>
          <a:noFill/>
        </p:spPr>
        <p:txBody>
          <a:bodyPr wrap="square">
            <a:spAutoFit/>
          </a:bodyPr>
          <a:lstStyle/>
          <a:p>
            <a:pPr algn="l"/>
            <a:r>
              <a:rPr sz="1800" b="1">
                <a:solidFill>
                  <a:srgbClr val="1A237E"/>
                </a:solidFill>
                <a:latin typeface="맑은 고딕"/>
              </a:rPr>
              <a:t>• Database</a:t>
            </a:r>
          </a:p>
          <a:p>
            <a:pPr algn="l"/>
            <a:r>
              <a:rPr sz="1800">
                <a:solidFill>
                  <a:srgbClr val="546E7A"/>
                </a:solidFill>
                <a:latin typeface="맑은 고딕"/>
              </a:rPr>
              <a:t>  – 메타: PostgreSQL 13 (외부 25433)</a:t>
            </a:r>
          </a:p>
          <a:p>
            <a:pPr algn="l"/>
            <a:r>
              <a:rPr sz="1800">
                <a:solidFill>
                  <a:srgbClr val="546E7A"/>
                </a:solidFill>
                <a:latin typeface="맑은 고딕"/>
              </a:rPr>
              <a:t>  – 외부: Oracle SID/Service, Cubrid, MySQL/MariaDB</a:t>
            </a:r>
          </a:p>
          <a:p>
            <a:pPr algn="l"/>
            <a:r>
              <a:rPr sz="1800" b="1">
                <a:solidFill>
                  <a:srgbClr val="1A237E"/>
                </a:solidFill>
                <a:latin typeface="맑은 고딕"/>
              </a:rPr>
              <a:t>• Build / Deploy</a:t>
            </a:r>
          </a:p>
          <a:p>
            <a:pPr algn="l"/>
            <a:r>
              <a:rPr sz="1800">
                <a:solidFill>
                  <a:srgbClr val="546E7A"/>
                </a:solidFill>
                <a:latin typeface="맑은 고딕"/>
              </a:rPr>
              <a:t>  – Maven 루트 reactor (~2분)</a:t>
            </a:r>
          </a:p>
          <a:p>
            <a:pPr algn="l"/>
            <a:r>
              <a:rPr sz="1800">
                <a:solidFill>
                  <a:srgbClr val="546E7A"/>
                </a:solidFill>
                <a:latin typeface="맑은 고딕"/>
              </a:rPr>
              <a:t>  – Docker 컨테이너: dataq-db, oracle-xe</a:t>
            </a:r>
          </a:p>
          <a:p>
            <a:pPr algn="l"/>
            <a:r>
              <a:rPr sz="1800">
                <a:solidFill>
                  <a:srgbClr val="546E7A"/>
                </a:solidFill>
                <a:latin typeface="맑은 고딕"/>
              </a:rPr>
              <a:t>  – DDL_full_schema.sql 단일 진실 → 신규 환경 1파일 실행</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2. 로그인</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ID/PW + SHA-256 솔트 + 권한 (admin / user 2단계)</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시연 절차</a:t>
            </a:r>
          </a:p>
          <a:p>
            <a:pPr algn="l"/>
            <a:r>
              <a:rPr sz="1800">
                <a:solidFill>
                  <a:srgbClr val="546E7A"/>
                </a:solidFill>
                <a:latin typeface="맑은 고딕"/>
              </a:rPr>
              <a:t>  – http://localhost:28091 진입</a:t>
            </a:r>
          </a:p>
          <a:p>
            <a:pPr algn="l"/>
            <a:r>
              <a:rPr sz="1800">
                <a:solidFill>
                  <a:srgbClr val="546E7A"/>
                </a:solidFill>
                <a:latin typeface="맑은 고딕"/>
              </a:rPr>
              <a:t>  – ID 'space' (관리자) / PW '123' 입력</a:t>
            </a:r>
          </a:p>
          <a:p>
            <a:pPr algn="l"/>
            <a:r>
              <a:rPr sz="1800">
                <a:solidFill>
                  <a:srgbClr val="546E7A"/>
                </a:solidFill>
                <a:latin typeface="맑은 고딕"/>
              </a:rPr>
              <a:t>  – [로그인] 클릭 → /app/main 진입</a:t>
            </a:r>
          </a:p>
          <a:p>
            <a:pPr algn="l"/>
            <a:r>
              <a:rPr sz="1800" b="1">
                <a:solidFill>
                  <a:srgbClr val="1A237E"/>
                </a:solidFill>
                <a:latin typeface="맑은 고딕"/>
              </a:rPr>
              <a:t>• 검증 포인트</a:t>
            </a:r>
          </a:p>
          <a:p>
            <a:pPr algn="l"/>
            <a:r>
              <a:rPr sz="1800">
                <a:solidFill>
                  <a:srgbClr val="546E7A"/>
                </a:solidFill>
                <a:latin typeface="맑은 고딕"/>
              </a:rPr>
              <a:t>  – 비밀번호: SHA-256 + 솔트 (ndata-quality-secret)</a:t>
            </a:r>
          </a:p>
          <a:p>
            <a:pPr algn="l"/>
            <a:r>
              <a:rPr sz="1800">
                <a:solidFill>
                  <a:srgbClr val="546E7A"/>
                </a:solidFill>
                <a:latin typeface="맑은 고딕"/>
              </a:rPr>
              <a:t>  – 세션: HttpSession + STOMP WebSocket 동시 인증</a:t>
            </a:r>
          </a:p>
          <a:p>
            <a:pPr algn="l"/>
            <a:r>
              <a:rPr sz="1800">
                <a:solidFill>
                  <a:srgbClr val="546E7A"/>
                </a:solidFill>
                <a:latin typeface="맑은 고딕"/>
              </a:rPr>
              <a:t>  – 권한: TB_USER.ADMIN_YN — 'Y' 면 [관리] 메뉴 노출</a:t>
            </a:r>
          </a:p>
          <a:p>
            <a:pPr algn="l"/>
            <a:r>
              <a:rPr sz="1800" b="1">
                <a:solidFill>
                  <a:srgbClr val="1A237E"/>
                </a:solidFill>
                <a:latin typeface="맑은 고딕"/>
              </a:rPr>
              <a:t>• Fallback</a:t>
            </a:r>
          </a:p>
          <a:p>
            <a:pPr algn="l"/>
            <a:r>
              <a:rPr sz="1800">
                <a:solidFill>
                  <a:srgbClr val="546E7A"/>
                </a:solidFill>
                <a:latin typeface="맑은 고딕"/>
              </a:rPr>
              <a:t>  – DB 연결 실패 시 → docker restart dataq-db → 재시도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3. 대시보드</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표준 현황 + 데이터 모델 현황 + 승인 현황 + 추이 차트</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카드 4개 (클릭 시 해당 메뉴로 이동)</a:t>
            </a:r>
          </a:p>
          <a:p>
            <a:pPr algn="l"/>
            <a:r>
              <a:rPr sz="1800">
                <a:solidFill>
                  <a:srgbClr val="546E7A"/>
                </a:solidFill>
                <a:latin typeface="맑은 고딕"/>
              </a:rPr>
              <a:t>  – 표준 현황 — 단어/용어/도메인 승인된 건수</a:t>
            </a:r>
          </a:p>
          <a:p>
            <a:pPr algn="l"/>
            <a:r>
              <a:rPr sz="1800">
                <a:solidFill>
                  <a:srgbClr val="546E7A"/>
                </a:solidFill>
                <a:latin typeface="맑은 고딕"/>
              </a:rPr>
              <a:t>  – 데이터 모델 현황 — 모델/테이블/컬럼 합계</a:t>
            </a:r>
          </a:p>
          <a:p>
            <a:pPr algn="l"/>
            <a:r>
              <a:rPr sz="1800">
                <a:solidFill>
                  <a:srgbClr val="546E7A"/>
                </a:solidFill>
                <a:latin typeface="맑은 고딕"/>
              </a:rPr>
              <a:t>  – 승인 현황 — 대기 / 승인 완료 / 반려</a:t>
            </a:r>
          </a:p>
          <a:p>
            <a:pPr algn="l"/>
            <a:r>
              <a:rPr sz="1800">
                <a:solidFill>
                  <a:srgbClr val="546E7A"/>
                </a:solidFill>
                <a:latin typeface="맑은 고딕"/>
              </a:rPr>
              <a:t>  – 표준화 준수율 — 모델별 percent</a:t>
            </a:r>
          </a:p>
          <a:p>
            <a:pPr algn="l"/>
            <a:r>
              <a:rPr sz="1800" b="1">
                <a:solidFill>
                  <a:srgbClr val="1A237E"/>
                </a:solidFill>
                <a:latin typeface="맑은 고딕"/>
              </a:rPr>
              <a:t>• 추이 차트</a:t>
            </a:r>
          </a:p>
          <a:p>
            <a:pPr algn="l"/>
            <a:r>
              <a:rPr sz="1800">
                <a:solidFill>
                  <a:srgbClr val="546E7A"/>
                </a:solidFill>
                <a:latin typeface="맑은 고딕"/>
              </a:rPr>
              <a:t>  – 최근 N회 진단의 표준 준수율 시계열</a:t>
            </a:r>
          </a:p>
          <a:p>
            <a:pPr algn="l"/>
            <a:r>
              <a:rPr sz="1800">
                <a:solidFill>
                  <a:srgbClr val="546E7A"/>
                </a:solidFill>
                <a:latin typeface="맑은 고딕"/>
              </a:rPr>
              <a:t>  – 준수율 = (전체 컬럼수 - 이슈 컬럼수) / 전체 컬럼수 × 100</a:t>
            </a:r>
          </a:p>
          <a:p>
            <a:pPr algn="l"/>
            <a:r>
              <a:rPr sz="1800">
                <a:solidFill>
                  <a:srgbClr val="546E7A"/>
                </a:solidFill>
                <a:latin typeface="맑은 고딕"/>
              </a:rPr>
              <a:t>  – RESULT_CNT(이슈 건수) 가 아닌 ISSUE_COL_CNT(이슈 컬럼수) 사용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4-1. 데이터 표준 사전 — 단어</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행안부 공통 표준 단어 + 사용자 추가 + 형식단어</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검색</a:t>
            </a:r>
          </a:p>
          <a:p>
            <a:pPr algn="l"/>
            <a:r>
              <a:rPr sz="1800">
                <a:solidFill>
                  <a:srgbClr val="546E7A"/>
                </a:solidFill>
                <a:latin typeface="맑은 고딕"/>
              </a:rPr>
              <a:t>  – 단어명 / 영문약어 / 형식단어 여부 / 등록일자 범위 / 승인 여부</a:t>
            </a:r>
          </a:p>
          <a:p>
            <a:pPr algn="l"/>
            <a:r>
              <a:rPr sz="1800" b="1">
                <a:solidFill>
                  <a:srgbClr val="1A237E"/>
                </a:solidFill>
                <a:latin typeface="맑은 고딕"/>
              </a:rPr>
              <a:t>• 그리드</a:t>
            </a:r>
          </a:p>
          <a:p>
            <a:pPr algn="l"/>
            <a:r>
              <a:rPr sz="1800">
                <a:solidFill>
                  <a:srgbClr val="546E7A"/>
                </a:solidFill>
                <a:latin typeface="맑은 고딕"/>
              </a:rPr>
              <a:t>  – 행 클릭 → 상세 패널 (영문 풀명, 단어 설명, 동의어 리스트)</a:t>
            </a:r>
          </a:p>
          <a:p>
            <a:pPr algn="l"/>
            <a:r>
              <a:rPr sz="1800" b="1">
                <a:solidFill>
                  <a:srgbClr val="1A237E"/>
                </a:solidFill>
                <a:latin typeface="맑은 고딕"/>
              </a:rPr>
              <a:t>• 버튼</a:t>
            </a:r>
          </a:p>
          <a:p>
            <a:pPr algn="l"/>
            <a:r>
              <a:rPr sz="1800">
                <a:solidFill>
                  <a:srgbClr val="546E7A"/>
                </a:solidFill>
                <a:latin typeface="맑은 고딕"/>
              </a:rPr>
              <a:t>  – [등록] / [일괄 등록] / [템플릿 다운로드] / [다운로드] / [삭제]</a:t>
            </a:r>
          </a:p>
          <a:p>
            <a:pPr algn="l"/>
            <a:r>
              <a:rPr sz="1800" b="1">
                <a:solidFill>
                  <a:srgbClr val="1A237E"/>
                </a:solidFill>
                <a:latin typeface="맑은 고딕"/>
              </a:rPr>
              <a:t>• 등록 모달</a:t>
            </a:r>
          </a:p>
          <a:p>
            <a:pPr algn="l"/>
            <a:r>
              <a:rPr sz="1800">
                <a:solidFill>
                  <a:srgbClr val="546E7A"/>
                </a:solidFill>
                <a:latin typeface="맑은 고딕"/>
              </a:rPr>
              <a:t>  – 한글 단어명 → 영문약어 (자동 대문자) → 영문 풀명</a:t>
            </a:r>
          </a:p>
          <a:p>
            <a:pPr algn="l"/>
            <a:r>
              <a:rPr sz="1800">
                <a:solidFill>
                  <a:srgbClr val="546E7A"/>
                </a:solidFill>
                <a:latin typeface="맑은 고딕"/>
              </a:rPr>
              <a:t>  – 도메인 분류 (금액/일자/코드 등) + 형식단어 여부 토글</a:t>
            </a:r>
          </a:p>
          <a:p>
            <a:pPr algn="l"/>
            <a:r>
              <a:rPr sz="1800">
                <a:solidFill>
                  <a:srgbClr val="546E7A"/>
                </a:solidFill>
                <a:latin typeface="맑은 고딕"/>
              </a:rPr>
              <a:t>  – 동의어 리스트 + 금칙어 리스트</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4-2. 용어 등록 v2 (81/82번 신규)</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단일 폼 + 1초 디바운스 자동 분석 + 코드 picker</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v1 → v2 핵심 변화</a:t>
            </a:r>
          </a:p>
          <a:p>
            <a:pPr algn="l"/>
            <a:r>
              <a:rPr sz="1800">
                <a:solidFill>
                  <a:srgbClr val="546E7A"/>
                </a:solidFill>
                <a:latin typeface="맑은 고딕"/>
              </a:rPr>
              <a:t>  – 3-step stepper 폐지 → 단일 폼</a:t>
            </a:r>
          </a:p>
          <a:p>
            <a:pPr algn="l"/>
            <a:r>
              <a:rPr sz="1800">
                <a:solidFill>
                  <a:srgbClr val="546E7A"/>
                </a:solidFill>
                <a:latin typeface="맑은 고딕"/>
              </a:rPr>
              <a:t>  – 한글 용어명 입력 → 1초 디바운스 → 자동 analyzeTermsBatch API 호출</a:t>
            </a:r>
          </a:p>
          <a:p>
            <a:pPr algn="l"/>
            <a:r>
              <a:rPr sz="1800">
                <a:solidFill>
                  <a:srgbClr val="546E7A"/>
                </a:solidFill>
                <a:latin typeface="맑은 고딕"/>
              </a:rPr>
              <a:t>  – DSTermRecommend 와 동일 알고리즘 (DP 점수 + 동의어 cascade)</a:t>
            </a:r>
          </a:p>
          <a:p>
            <a:pPr algn="l"/>
            <a:r>
              <a:rPr sz="1800" b="1">
                <a:solidFill>
                  <a:srgbClr val="1A237E"/>
                </a:solidFill>
                <a:latin typeface="맑은 고딕"/>
              </a:rPr>
              <a:t>• 응답 (단어 1개당 분류 1개 — 부분문자열 잡음 없음)</a:t>
            </a:r>
          </a:p>
          <a:p>
            <a:pPr algn="l"/>
            <a:r>
              <a:rPr sz="1800">
                <a:solidFill>
                  <a:srgbClr val="546E7A"/>
                </a:solidFill>
                <a:latin typeface="맑은 고딕"/>
              </a:rPr>
              <a:t>  – MATCHED → wordLst[selected wordCandidate] + 자동 체크</a:t>
            </a:r>
          </a:p>
          <a:p>
            <a:pPr algn="l"/>
            <a:r>
              <a:rPr sz="1800">
                <a:solidFill>
                  <a:srgbClr val="546E7A"/>
                </a:solidFill>
                <a:latin typeface="맑은 고딕"/>
              </a:rPr>
              <a:t>  – NEW / UNRECOGNIZED → 인라인 등록 폼 즉시 노출</a:t>
            </a:r>
          </a:p>
          <a:p>
            <a:pPr algn="l"/>
            <a:r>
              <a:rPr sz="1800" b="1">
                <a:solidFill>
                  <a:srgbClr val="1A237E"/>
                </a:solidFill>
                <a:latin typeface="맑은 고딕"/>
              </a:rPr>
              <a:t>• 추가 기능</a:t>
            </a:r>
          </a:p>
          <a:p>
            <a:pPr algn="l"/>
            <a:r>
              <a:rPr sz="1800">
                <a:solidFill>
                  <a:srgbClr val="546E7A"/>
                </a:solidFill>
                <a:latin typeface="맑은 고딕"/>
              </a:rPr>
              <a:t>  – 추천 도메인 자동 채움 (recommendedDomainNm)</a:t>
            </a:r>
          </a:p>
          <a:p>
            <a:pPr algn="l"/>
            <a:r>
              <a:rPr sz="1800">
                <a:solidFill>
                  <a:srgbClr val="546E7A"/>
                </a:solidFill>
                <a:latin typeface="맑은 고딕"/>
              </a:rPr>
              <a:t>  – 마지막 단어가 'CD' → 도메인 유형 자동 '코드' 토글 + picker 다이얼로그</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4-2. 용어 분석 4종 status</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AUTO / PARTIAL / FAILED / REGISTERED — 자동 셀레니움 검증</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AUTO — 모든 단어 매칭</a:t>
            </a:r>
          </a:p>
          <a:p>
            <a:pPr algn="l"/>
            <a:r>
              <a:rPr sz="1800">
                <a:solidFill>
                  <a:srgbClr val="546E7A"/>
                </a:solidFill>
                <a:latin typeface="맑은 고딕"/>
              </a:rPr>
              <a:t>  – 예: '회원전화번호' → [회원, 전화, 번호] → MBR_TEL_NO 즉시 등록 가능</a:t>
            </a:r>
          </a:p>
          <a:p>
            <a:pPr algn="l"/>
            <a:r>
              <a:rPr sz="1800" b="1">
                <a:solidFill>
                  <a:srgbClr val="1A237E"/>
                </a:solidFill>
                <a:latin typeface="맑은 고딕"/>
              </a:rPr>
              <a:t>• PARTIAL — 일부 미등록</a:t>
            </a:r>
          </a:p>
          <a:p>
            <a:pPr algn="l"/>
            <a:r>
              <a:rPr sz="1800">
                <a:solidFill>
                  <a:srgbClr val="546E7A"/>
                </a:solidFill>
                <a:latin typeface="맑은 고딕"/>
              </a:rPr>
              <a:t>  – 예: '블라블라일자' → '일자' MATCHED + '블라블라' UNRECOGNIZED</a:t>
            </a:r>
          </a:p>
          <a:p>
            <a:pPr algn="l"/>
            <a:r>
              <a:rPr sz="1800">
                <a:solidFill>
                  <a:srgbClr val="546E7A"/>
                </a:solidFill>
                <a:latin typeface="맑은 고딕"/>
              </a:rPr>
              <a:t>  – → 미등록 칩 + 인라인 등록 폼 노출 (단어 한글명/영문약어/영문명 입력 + [단어 등록])</a:t>
            </a:r>
          </a:p>
          <a:p>
            <a:pPr algn="l"/>
            <a:r>
              <a:rPr sz="1800" b="1">
                <a:solidFill>
                  <a:srgbClr val="1A237E"/>
                </a:solidFill>
                <a:latin typeface="맑은 고딕"/>
              </a:rPr>
              <a:t>• FAILED — 전 토큰 미인식</a:t>
            </a:r>
          </a:p>
          <a:p>
            <a:pPr algn="l"/>
            <a:r>
              <a:rPr sz="1800">
                <a:solidFill>
                  <a:srgbClr val="546E7A"/>
                </a:solidFill>
                <a:latin typeface="맑은 고딕"/>
              </a:rPr>
              <a:t>  – 예: '라랄라룰루' → 모든 토큰 UNRECOGNIZED → swal 안내</a:t>
            </a:r>
          </a:p>
          <a:p>
            <a:pPr algn="l"/>
            <a:r>
              <a:rPr sz="1800" b="1">
                <a:solidFill>
                  <a:srgbClr val="1A237E"/>
                </a:solidFill>
                <a:latin typeface="맑은 고딕"/>
              </a:rPr>
              <a:t>• REGISTERED — 이미 등록된 용어</a:t>
            </a:r>
          </a:p>
          <a:p>
            <a:pPr algn="l"/>
            <a:r>
              <a:rPr sz="1800">
                <a:solidFill>
                  <a:srgbClr val="546E7A"/>
                </a:solidFill>
                <a:latin typeface="맑은 고딕"/>
              </a:rPr>
              <a:t>  – 중복 swal 알림 + 자동 분석은 그대로 표시</a:t>
            </a:r>
          </a:p>
          <a:p>
            <a:pPr algn="l"/>
            <a:r>
              <a:rPr sz="1800" b="1">
                <a:solidFill>
                  <a:srgbClr val="1A237E"/>
                </a:solidFill>
                <a:latin typeface="맑은 고딕"/>
              </a:rPr>
              <a:t>• → test_term_register_v2.py 8/8 PASS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4-3. 코드 / 도메인 / 그룹 / 분류 / 변경 이력</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표준 사전의 나머지 5개 메뉴</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코드 — 코드 그룹 + 코드 항목</a:t>
            </a:r>
          </a:p>
          <a:p>
            <a:pPr algn="l"/>
            <a:r>
              <a:rPr sz="1800">
                <a:solidFill>
                  <a:srgbClr val="546E7A"/>
                </a:solidFill>
                <a:latin typeface="맑은 고딕"/>
              </a:rPr>
              <a:t>  – 예: '성별 (GENDER_CD)' = M / F / N</a:t>
            </a:r>
          </a:p>
          <a:p>
            <a:pPr algn="l"/>
            <a:r>
              <a:rPr sz="1800">
                <a:solidFill>
                  <a:srgbClr val="546E7A"/>
                </a:solidFill>
                <a:latin typeface="맑은 고딕"/>
              </a:rPr>
              <a:t>  – 등록일자 범위 검색 신규 적용</a:t>
            </a:r>
          </a:p>
          <a:p>
            <a:pPr algn="l"/>
            <a:r>
              <a:rPr sz="1800" b="1">
                <a:solidFill>
                  <a:srgbClr val="1A237E"/>
                </a:solidFill>
                <a:latin typeface="맑은 고딕"/>
              </a:rPr>
              <a:t>• 도메인 — 데이터 타입/길이 표준</a:t>
            </a:r>
          </a:p>
          <a:p>
            <a:pPr algn="l"/>
            <a:r>
              <a:rPr sz="1800">
                <a:solidFill>
                  <a:srgbClr val="546E7A"/>
                </a:solidFill>
                <a:latin typeface="맑은 고딕"/>
              </a:rPr>
              <a:t>  – 예: '금액 (AMT)' = NUMBER(15,2)</a:t>
            </a:r>
          </a:p>
          <a:p>
            <a:pPr algn="l"/>
            <a:r>
              <a:rPr sz="1800" b="1">
                <a:solidFill>
                  <a:srgbClr val="1A237E"/>
                </a:solidFill>
                <a:latin typeface="맑은 고딕"/>
              </a:rPr>
              <a:t>• 도메인 그룹 / 도메인 분류</a:t>
            </a:r>
          </a:p>
          <a:p>
            <a:pPr algn="l"/>
            <a:r>
              <a:rPr sz="1800">
                <a:solidFill>
                  <a:srgbClr val="546E7A"/>
                </a:solidFill>
                <a:latin typeface="맑은 고딕"/>
              </a:rPr>
              <a:t>  – 도메인을 분류로 묶어 자동 표준화 시 cascade 추천</a:t>
            </a:r>
          </a:p>
          <a:p>
            <a:pPr algn="l"/>
            <a:r>
              <a:rPr sz="1800" b="1">
                <a:solidFill>
                  <a:srgbClr val="1A237E"/>
                </a:solidFill>
                <a:latin typeface="맑은 고딕"/>
              </a:rPr>
              <a:t>• 변경 이력</a:t>
            </a:r>
          </a:p>
          <a:p>
            <a:pPr algn="l"/>
            <a:r>
              <a:rPr sz="1800">
                <a:solidFill>
                  <a:srgbClr val="546E7A"/>
                </a:solidFill>
                <a:latin typeface="맑은 고딕"/>
              </a:rPr>
              <a:t>  – 단어/용어/도메인/코드 모든 항목 등록·수정·삭제 이력</a:t>
            </a:r>
          </a:p>
          <a:p>
            <a:pPr algn="l"/>
            <a:r>
              <a:rPr sz="1800">
                <a:solidFill>
                  <a:srgbClr val="546E7A"/>
                </a:solidFill>
                <a:latin typeface="맑은 고딕"/>
              </a:rPr>
              <a:t>  – 변경 사용자, 시각, before/after 값 모두 추적</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4-4. 일괄 등록 양식 + 결과 다운로드</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정적 XLSX 5종 + 동적 POI</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정적 XLSX 양식 (5종)</a:t>
            </a:r>
          </a:p>
          <a:p>
            <a:pPr algn="l"/>
            <a:r>
              <a:rPr sz="1800">
                <a:solidFill>
                  <a:srgbClr val="546E7A"/>
                </a:solidFill>
                <a:latin typeface="맑은 고딕"/>
              </a:rPr>
              <a:t>  – 단어 / 용어 / 도메인 / 테이블 / 컬럼</a:t>
            </a:r>
          </a:p>
          <a:p>
            <a:pPr algn="l"/>
            <a:r>
              <a:rPr sz="1800">
                <a:solidFill>
                  <a:srgbClr val="546E7A"/>
                </a:solidFill>
                <a:latin typeface="맑은 고딕"/>
              </a:rPr>
              <a:t>  – [템플릿 다운로드] → 즉시 다운로드 (ClassPathResource)</a:t>
            </a:r>
          </a:p>
          <a:p>
            <a:pPr algn="l"/>
            <a:r>
              <a:rPr sz="1800" b="1">
                <a:solidFill>
                  <a:srgbClr val="1A237E"/>
                </a:solidFill>
                <a:latin typeface="맑은 고딕"/>
              </a:rPr>
              <a:t>• 일괄 등록 흐름</a:t>
            </a:r>
          </a:p>
          <a:p>
            <a:pPr algn="l"/>
            <a:r>
              <a:rPr sz="1800">
                <a:solidFill>
                  <a:srgbClr val="546E7A"/>
                </a:solidFill>
                <a:latin typeface="맑은 고딕"/>
              </a:rPr>
              <a:t>  – 양식 입력 → [일괄 등록] → 미리보기 (검증 결과 색 구분) → [커밋]</a:t>
            </a:r>
          </a:p>
          <a:p>
            <a:pPr algn="l"/>
            <a:r>
              <a:rPr sz="1800">
                <a:solidFill>
                  <a:srgbClr val="546E7A"/>
                </a:solidFill>
                <a:latin typeface="맑은 고딕"/>
              </a:rPr>
              <a:t>  – 검증 실패 행은 빨강 + 사유 인라인</a:t>
            </a:r>
          </a:p>
          <a:p>
            <a:pPr algn="l"/>
            <a:r>
              <a:rPr sz="1800" b="1">
                <a:solidFill>
                  <a:srgbClr val="1A237E"/>
                </a:solidFill>
                <a:latin typeface="맑은 고딕"/>
              </a:rPr>
              <a:t>• 결과 다운로드 (동적)</a:t>
            </a:r>
          </a:p>
          <a:p>
            <a:pPr algn="l"/>
            <a:r>
              <a:rPr sz="1800">
                <a:solidFill>
                  <a:srgbClr val="546E7A"/>
                </a:solidFill>
                <a:latin typeface="맑은 고딕"/>
              </a:rPr>
              <a:t>  – 검색 필터 적용 결과를 POI 동적 생성으로 XLSX</a:t>
            </a:r>
          </a:p>
          <a:p>
            <a:pPr algn="l"/>
            <a:r>
              <a:rPr sz="1800">
                <a:solidFill>
                  <a:srgbClr val="546E7A"/>
                </a:solidFill>
                <a:latin typeface="맑은 고딕"/>
              </a:rPr>
              <a:t>  – 현재 그리드 상태 그대로 — 사용자 의도 반영</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4-5. 승인 워크플로 (관리 메뉴)</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단어 선승인 + cascade 반려 + 반려 후 물리 삭제</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승인 흐름</a:t>
            </a:r>
          </a:p>
          <a:p>
            <a:pPr algn="l"/>
            <a:r>
              <a:rPr sz="1800">
                <a:solidFill>
                  <a:srgbClr val="546E7A"/>
                </a:solidFill>
                <a:latin typeface="맑은 고딕"/>
              </a:rPr>
              <a:t>  – 일반 사용자 등록 → APRV_YN='N' → [관리 &gt; 승인] 대기열</a:t>
            </a:r>
          </a:p>
          <a:p>
            <a:pPr algn="l"/>
            <a:r>
              <a:rPr sz="1800">
                <a:solidFill>
                  <a:srgbClr val="546E7A"/>
                </a:solidFill>
                <a:latin typeface="맑은 고딕"/>
              </a:rPr>
              <a:t>  – 관리자 행별 [승인]/[반려] 인라인 (사유 입력)</a:t>
            </a:r>
          </a:p>
          <a:p>
            <a:pPr algn="l"/>
            <a:r>
              <a:rPr sz="1800">
                <a:solidFill>
                  <a:srgbClr val="546E7A"/>
                </a:solidFill>
                <a:latin typeface="맑은 고딕"/>
              </a:rPr>
              <a:t>  – 관리자 등록 시 APRV_YN='Y' 즉시 승인</a:t>
            </a:r>
          </a:p>
          <a:p>
            <a:pPr algn="l"/>
            <a:r>
              <a:rPr sz="1800" b="1">
                <a:solidFill>
                  <a:srgbClr val="1A237E"/>
                </a:solidFill>
                <a:latin typeface="맑은 고딕"/>
              </a:rPr>
              <a:t>• 정책</a:t>
            </a:r>
          </a:p>
          <a:p>
            <a:pPr algn="l"/>
            <a:r>
              <a:rPr sz="1800">
                <a:solidFill>
                  <a:srgbClr val="546E7A"/>
                </a:solidFill>
                <a:latin typeface="맑은 고딕"/>
              </a:rPr>
              <a:t>  – 단어 선승인 — 구성 단어 미승인 시 용어 승인 거부 (alert)</a:t>
            </a:r>
          </a:p>
          <a:p>
            <a:pPr algn="l"/>
            <a:r>
              <a:rPr sz="1800">
                <a:solidFill>
                  <a:srgbClr val="546E7A"/>
                </a:solidFill>
                <a:latin typeface="맑은 고딕"/>
              </a:rPr>
              <a:t>  – cascade 반려 — 단어 반려 시 연관 미승인 용어 동시 반려 + 알림</a:t>
            </a:r>
          </a:p>
          <a:p>
            <a:pPr algn="l"/>
            <a:r>
              <a:rPr sz="1800">
                <a:solidFill>
                  <a:srgbClr val="546E7A"/>
                </a:solidFill>
                <a:latin typeface="맑은 고딕"/>
              </a:rPr>
              <a:t>  – 반려 후 물리 삭제 — 표준 사전에서 미노출, 동일 단어명 재등록 가능</a:t>
            </a:r>
          </a:p>
          <a:p>
            <a:pPr algn="l"/>
            <a:r>
              <a:rPr sz="1800" b="1">
                <a:solidFill>
                  <a:srgbClr val="1A237E"/>
                </a:solidFill>
                <a:latin typeface="맑은 고딕"/>
              </a:rPr>
              <a:t>• 검증</a:t>
            </a:r>
          </a:p>
          <a:p>
            <a:pPr algn="l"/>
            <a:r>
              <a:rPr sz="1800">
                <a:solidFill>
                  <a:srgbClr val="546E7A"/>
                </a:solidFill>
                <a:latin typeface="맑은 고딕"/>
              </a:rPr>
              <a:t>  – test_word_approval_flow / test_full_approval_flow / test_cascade_and_word_first / test_reject_physical_delete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5-1. 데이터 모델 — 등록 + 자동 수집</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Oracle/Postgres/Cubrid/MySQL/MariaDB DBMS 메타데이터 자동 수집</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데이터 소스 등록 (관리 &gt; 데이터 소스)</a:t>
            </a:r>
          </a:p>
          <a:p>
            <a:pPr algn="l"/>
            <a:r>
              <a:rPr sz="1800">
                <a:solidFill>
                  <a:srgbClr val="546E7A"/>
                </a:solidFill>
                <a:latin typeface="맑은 고딕"/>
              </a:rPr>
              <a:t>  – DBMS 유형 선택 — Oracle SID / Oracle Service Name / Postgres / Cubrid / MySQL / MariaDB</a:t>
            </a:r>
          </a:p>
          <a:p>
            <a:pPr algn="l"/>
            <a:r>
              <a:rPr sz="1800">
                <a:solidFill>
                  <a:srgbClr val="546E7A"/>
                </a:solidFill>
                <a:latin typeface="맑은 고딕"/>
              </a:rPr>
              <a:t>  – 호스트 / 포트 / 계정 / 비밀번호 (jasypt 암호화)</a:t>
            </a:r>
          </a:p>
          <a:p>
            <a:pPr algn="l"/>
            <a:r>
              <a:rPr sz="1800">
                <a:solidFill>
                  <a:srgbClr val="546E7A"/>
                </a:solidFill>
                <a:latin typeface="맑은 고딕"/>
              </a:rPr>
              <a:t>  – [연결 테스트] — 즉시 검증</a:t>
            </a:r>
          </a:p>
          <a:p>
            <a:pPr algn="l"/>
            <a:r>
              <a:rPr sz="1800" b="1">
                <a:solidFill>
                  <a:srgbClr val="1A237E"/>
                </a:solidFill>
                <a:latin typeface="맑은 고딕"/>
              </a:rPr>
              <a:t>• 데이터 모델 등록 (데이터 모델 &gt; 관리)</a:t>
            </a:r>
          </a:p>
          <a:p>
            <a:pPr algn="l"/>
            <a:r>
              <a:rPr sz="1800">
                <a:solidFill>
                  <a:srgbClr val="546E7A"/>
                </a:solidFill>
                <a:latin typeface="맑은 고딕"/>
              </a:rPr>
              <a:t>  – 데이터소스 선택 + 스키마 다중 선택 → 저장 + 자동 수집</a:t>
            </a:r>
          </a:p>
          <a:p>
            <a:pPr algn="l"/>
            <a:r>
              <a:rPr sz="1800">
                <a:solidFill>
                  <a:srgbClr val="546E7A"/>
                </a:solidFill>
                <a:latin typeface="맑은 고딕"/>
              </a:rPr>
              <a:t>  – 수집: 테이블 + 컬럼 + 인덱스 + 제약조건 4 영역</a:t>
            </a:r>
          </a:p>
          <a:p>
            <a:pPr algn="l"/>
            <a:r>
              <a:rPr sz="1800">
                <a:solidFill>
                  <a:srgbClr val="546E7A"/>
                </a:solidFill>
                <a:latin typeface="맑은 고딕"/>
              </a:rPr>
              <a:t>  – 재수집 시: ADDED_CNT / DELETED_CNT / MODIFIED_CNT 통계 (44/48번 설계)</a:t>
            </a:r>
          </a:p>
          <a:p>
            <a:pPr algn="l"/>
            <a:r>
              <a:rPr sz="1800" b="1">
                <a:solidFill>
                  <a:srgbClr val="1A237E"/>
                </a:solidFill>
                <a:latin typeface="맑은 고딕"/>
              </a:rPr>
              <a:t>• 물리 모델 / 논리 모델 분리</a:t>
            </a:r>
          </a:p>
          <a:p>
            <a:pPr algn="l"/>
            <a:r>
              <a:rPr sz="1800">
                <a:solidFill>
                  <a:srgbClr val="546E7A"/>
                </a:solidFill>
                <a:latin typeface="맑은 고딕"/>
              </a:rPr>
              <a:t>  – DSID NULL 이면 논리 모델 — 표준 진단만 (구조 진단 거부)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5-1-2. 수집 이력</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수집 이벤트 로그 + 변경 통계</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테이블 컬럼</a:t>
            </a:r>
          </a:p>
          <a:p>
            <a:pPr algn="l"/>
            <a:r>
              <a:rPr sz="1800">
                <a:solidFill>
                  <a:srgbClr val="546E7A"/>
                </a:solidFill>
                <a:latin typeface="맑은 고딕"/>
              </a:rPr>
              <a:t>  – 수집 ID / 모델명 / 시작·종료 시각 / 완료 여부</a:t>
            </a:r>
          </a:p>
          <a:p>
            <a:pPr algn="l"/>
            <a:r>
              <a:rPr sz="1800">
                <a:solidFill>
                  <a:srgbClr val="546E7A"/>
                </a:solidFill>
                <a:latin typeface="맑은 고딕"/>
              </a:rPr>
              <a:t>  – ADDED_CNT — 신규 추가된 테이블·컬럼 합계</a:t>
            </a:r>
          </a:p>
          <a:p>
            <a:pPr algn="l"/>
            <a:r>
              <a:rPr sz="1800">
                <a:solidFill>
                  <a:srgbClr val="546E7A"/>
                </a:solidFill>
                <a:latin typeface="맑은 고딕"/>
              </a:rPr>
              <a:t>  – DELETED_CNT — 삭제된 테이블·컬럼 합계</a:t>
            </a:r>
          </a:p>
          <a:p>
            <a:pPr algn="l"/>
            <a:r>
              <a:rPr sz="1800">
                <a:solidFill>
                  <a:srgbClr val="546E7A"/>
                </a:solidFill>
                <a:latin typeface="맑은 고딕"/>
              </a:rPr>
              <a:t>  – MODIFIED_CNT — 변경된 테이블·컬럼 합계</a:t>
            </a:r>
          </a:p>
          <a:p>
            <a:pPr algn="l"/>
            <a:r>
              <a:rPr sz="1800" b="1">
                <a:solidFill>
                  <a:srgbClr val="1A237E"/>
                </a:solidFill>
                <a:latin typeface="맑은 고딕"/>
              </a:rPr>
              <a:t>• 활용</a:t>
            </a:r>
          </a:p>
          <a:p>
            <a:pPr algn="l"/>
            <a:r>
              <a:rPr sz="1800">
                <a:solidFill>
                  <a:srgbClr val="546E7A"/>
                </a:solidFill>
                <a:latin typeface="맑은 고딕"/>
              </a:rPr>
              <a:t>  – 운영 추적 — 'X 모델 마지막 수집 일시 + 변경량' 한 화면 조회</a:t>
            </a:r>
          </a:p>
          <a:p>
            <a:pPr algn="l"/>
            <a:r>
              <a:rPr sz="1800">
                <a:solidFill>
                  <a:srgbClr val="546E7A"/>
                </a:solidFill>
                <a:latin typeface="맑은 고딕"/>
              </a:rPr>
              <a:t>  – 장애 시 — '어제 수집 vs 오늘 수집' 차이로 원인 추정</a:t>
            </a:r>
          </a:p>
          <a:p>
            <a:pPr algn="l"/>
            <a:r>
              <a:rPr sz="1800">
                <a:solidFill>
                  <a:srgbClr val="546E7A"/>
                </a:solidFill>
                <a:latin typeface="맑은 고딕"/>
              </a:rPr>
              <a:t>  – 감사 — 누가 언제 수집을 트리거했는지 변경 이력에 남김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5-2. 테이블 + 컬럼 그리드 편집 (53번 재설계)</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3가지 입력 경로 + 인라인 검증 + dirty 표시</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3가지 입력 경로</a:t>
            </a:r>
          </a:p>
          <a:p>
            <a:pPr algn="l"/>
            <a:r>
              <a:rPr sz="1800">
                <a:solidFill>
                  <a:srgbClr val="546E7A"/>
                </a:solidFill>
                <a:latin typeface="맑은 고딕"/>
              </a:rPr>
              <a:t>  – 그리드 직접 — 인라인 행 추가, 셀 편집, 한글명 중복 검증</a:t>
            </a:r>
          </a:p>
          <a:p>
            <a:pPr algn="l"/>
            <a:r>
              <a:rPr sz="1800">
                <a:solidFill>
                  <a:srgbClr val="546E7A"/>
                </a:solidFill>
                <a:latin typeface="맑은 고딕"/>
              </a:rPr>
              <a:t>  – TSV 붙여넣기 — 엑셀에서 다중 셀 복사 → Ctrl+V → 자동 행 분배</a:t>
            </a:r>
          </a:p>
          <a:p>
            <a:pPr algn="l"/>
            <a:r>
              <a:rPr sz="1800">
                <a:solidFill>
                  <a:srgbClr val="546E7A"/>
                </a:solidFill>
                <a:latin typeface="맑은 고딕"/>
              </a:rPr>
              <a:t>  – 엑셀 일괄 업로드 — 양식 다운로드 → 입력 → 미리보기 → 커밋</a:t>
            </a:r>
          </a:p>
          <a:p>
            <a:pPr algn="l"/>
            <a:r>
              <a:rPr sz="1800" b="1">
                <a:solidFill>
                  <a:srgbClr val="1A237E"/>
                </a:solidFill>
                <a:latin typeface="맑은 고딕"/>
              </a:rPr>
              <a:t>• 헤더 라벨 통일 (PC1 4-27 보강)</a:t>
            </a:r>
          </a:p>
          <a:p>
            <a:pPr algn="l"/>
            <a:r>
              <a:rPr sz="1800">
                <a:solidFill>
                  <a:srgbClr val="546E7A"/>
                </a:solidFill>
                <a:latin typeface="맑은 고딕"/>
              </a:rPr>
              <a:t>  – '테이블명' → '테이블 영문명 (물리)' 등 명확화</a:t>
            </a:r>
          </a:p>
          <a:p>
            <a:pPr algn="l"/>
            <a:r>
              <a:rPr sz="1800">
                <a:solidFill>
                  <a:srgbClr val="546E7A"/>
                </a:solidFill>
                <a:latin typeface="맑은 고딕"/>
              </a:rPr>
              <a:t>  – 헤더 3색 + 인라인 편집 + dirty 노란 배경</a:t>
            </a:r>
          </a:p>
          <a:p>
            <a:pPr algn="l"/>
            <a:r>
              <a:rPr sz="1800" b="1">
                <a:solidFill>
                  <a:srgbClr val="1A237E"/>
                </a:solidFill>
                <a:latin typeface="맑은 고딕"/>
              </a:rPr>
              <a:t>• 변환 (자동 표준화 연동)</a:t>
            </a:r>
          </a:p>
          <a:p>
            <a:pPr algn="l"/>
            <a:r>
              <a:rPr sz="1800">
                <a:solidFill>
                  <a:srgbClr val="546E7A"/>
                </a:solidFill>
                <a:latin typeface="맑은 고딕"/>
              </a:rPr>
              <a:t>  – 한글명 입력 → [변환] → 영문약어/타입/길이 자동</a:t>
            </a:r>
          </a:p>
          <a:p>
            <a:pPr algn="l"/>
            <a:r>
              <a:rPr sz="1800">
                <a:solidFill>
                  <a:srgbClr val="546E7A"/>
                </a:solidFill>
                <a:latin typeface="맑은 고딕"/>
              </a:rPr>
              <a:t>  – 변환 실패 시 → TMP_COL_{n} + VARCHAR(255) 비표준 자동 저장</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5-2-2. 테이블 물리명 변경 (cascade rename)</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5단계 cascade — OBJ_NM / ATTR / INDEX / CONSTRAINT / REF_TABLE_NM</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변경 영향도 미리보기</a:t>
            </a:r>
          </a:p>
          <a:p>
            <a:pPr algn="l"/>
            <a:r>
              <a:rPr sz="1800">
                <a:solidFill>
                  <a:srgbClr val="546E7A"/>
                </a:solidFill>
                <a:latin typeface="맑은 고딕"/>
              </a:rPr>
              <a:t>  – previewObjRename API — 5개 카운트 (OBJ/ATTR/INDEX/CONSTRAINT/REF_TABLE)</a:t>
            </a:r>
          </a:p>
          <a:p>
            <a:pPr algn="l"/>
            <a:r>
              <a:rPr sz="1800">
                <a:solidFill>
                  <a:srgbClr val="546E7A"/>
                </a:solidFill>
                <a:latin typeface="맑은 고딕"/>
              </a:rPr>
              <a:t>  – 사용자 확인 swal → 진행 여부 결정</a:t>
            </a:r>
          </a:p>
          <a:p>
            <a:pPr algn="l"/>
            <a:r>
              <a:rPr sz="1800" b="1">
                <a:solidFill>
                  <a:srgbClr val="1A237E"/>
                </a:solidFill>
                <a:latin typeface="맑은 고딕"/>
              </a:rPr>
              <a:t>• 실제 변경</a:t>
            </a:r>
          </a:p>
          <a:p>
            <a:pPr algn="l"/>
            <a:r>
              <a:rPr sz="1800">
                <a:solidFill>
                  <a:srgbClr val="546E7A"/>
                </a:solidFill>
                <a:latin typeface="맑은 고딕"/>
              </a:rPr>
              <a:t>  – updateObj API — 5단계 cascade rename 트랜잭션</a:t>
            </a:r>
          </a:p>
          <a:p>
            <a:pPr algn="l"/>
            <a:r>
              <a:rPr sz="1800">
                <a:solidFill>
                  <a:srgbClr val="546E7A"/>
                </a:solidFill>
                <a:latin typeface="맑은 고딕"/>
              </a:rPr>
              <a:t>  – DM_ID + 자연키 PK 기준 (CLCT 폐기 후)</a:t>
            </a:r>
          </a:p>
          <a:p>
            <a:pPr algn="l"/>
            <a:r>
              <a:rPr sz="1800" b="1">
                <a:solidFill>
                  <a:srgbClr val="1A237E"/>
                </a:solidFill>
                <a:latin typeface="맑은 고딕"/>
              </a:rPr>
              <a:t>• 검증</a:t>
            </a:r>
          </a:p>
          <a:p>
            <a:pPr algn="l"/>
            <a:r>
              <a:rPr sz="1800">
                <a:solidFill>
                  <a:srgbClr val="546E7A"/>
                </a:solidFill>
                <a:latin typeface="맑은 고딕"/>
              </a:rPr>
              <a:t>  – test_obj_rename_cascade.py — 8/8 PASS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5-3. DDL 다운로드</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방언 자동 / PostgreSQL / Oracle 선택</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방언 선택 (이번 세션 v-menu 드롭다운)</a:t>
            </a:r>
          </a:p>
          <a:p>
            <a:pPr algn="l"/>
            <a:r>
              <a:rPr sz="1800">
                <a:solidFill>
                  <a:srgbClr val="546E7A"/>
                </a:solidFill>
                <a:latin typeface="맑은 고딕"/>
              </a:rPr>
              <a:t>  – 자동 — 모델의 데이터소스 DBMS 타입 기준</a:t>
            </a:r>
          </a:p>
          <a:p>
            <a:pPr algn="l"/>
            <a:r>
              <a:rPr sz="1800">
                <a:solidFill>
                  <a:srgbClr val="546E7A"/>
                </a:solidFill>
                <a:latin typeface="맑은 고딕"/>
              </a:rPr>
              <a:t>  – PostgreSQL — varchar / integer / timestamp</a:t>
            </a:r>
          </a:p>
          <a:p>
            <a:pPr algn="l"/>
            <a:r>
              <a:rPr sz="1800">
                <a:solidFill>
                  <a:srgbClr val="546E7A"/>
                </a:solidFill>
                <a:latin typeface="맑은 고딕"/>
              </a:rPr>
              <a:t>  – Oracle — varchar2 / number / date</a:t>
            </a:r>
          </a:p>
          <a:p>
            <a:pPr algn="l"/>
            <a:r>
              <a:rPr sz="1800">
                <a:solidFill>
                  <a:srgbClr val="546E7A"/>
                </a:solidFill>
                <a:latin typeface="맑은 고딕"/>
              </a:rPr>
              <a:t>  – 물리 미연결 시 oracle 폴백</a:t>
            </a:r>
          </a:p>
          <a:p>
            <a:pPr algn="l"/>
            <a:r>
              <a:rPr sz="1800" b="1">
                <a:solidFill>
                  <a:srgbClr val="1A237E"/>
                </a:solidFill>
                <a:latin typeface="맑은 고딕"/>
              </a:rPr>
              <a:t>• 포함 항목</a:t>
            </a:r>
          </a:p>
          <a:p>
            <a:pPr algn="l"/>
            <a:r>
              <a:rPr sz="1800">
                <a:solidFill>
                  <a:srgbClr val="546E7A"/>
                </a:solidFill>
                <a:latin typeface="맑은 고딕"/>
              </a:rPr>
              <a:t>  – CREATE TABLE (모든 컬럼 + COMMENT)</a:t>
            </a:r>
          </a:p>
          <a:p>
            <a:pPr algn="l"/>
            <a:r>
              <a:rPr sz="1800">
                <a:solidFill>
                  <a:srgbClr val="546E7A"/>
                </a:solidFill>
                <a:latin typeface="맑은 고딕"/>
              </a:rPr>
              <a:t>  – PK / FK / UK 제약조건</a:t>
            </a:r>
          </a:p>
          <a:p>
            <a:pPr algn="l"/>
            <a:r>
              <a:rPr sz="1800">
                <a:solidFill>
                  <a:srgbClr val="546E7A"/>
                </a:solidFill>
                <a:latin typeface="맑은 고딕"/>
              </a:rPr>
              <a:t>  – INDEX 정의</a:t>
            </a:r>
          </a:p>
          <a:p>
            <a:pPr algn="l"/>
            <a:r>
              <a:rPr sz="1800" b="1">
                <a:solidFill>
                  <a:srgbClr val="1A237E"/>
                </a:solidFill>
                <a:latin typeface="맑은 고딕"/>
              </a:rPr>
              <a:t>• 출력</a:t>
            </a:r>
          </a:p>
          <a:p>
            <a:pPr algn="l"/>
            <a:r>
              <a:rPr sz="1800">
                <a:solidFill>
                  <a:srgbClr val="546E7A"/>
                </a:solidFill>
                <a:latin typeface="맑은 고딕"/>
              </a:rPr>
              <a:t>  – .sql 파일 즉시 다운로드</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5-4. 진단 제외 관리 (79번 신규)</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임시·폐기 테이블/컬럼 → 진단 모수에서 명시적 제외 + cascade + 사유</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화면 구성</a:t>
            </a:r>
          </a:p>
          <a:p>
            <a:pPr algn="l"/>
            <a:r>
              <a:rPr sz="1800">
                <a:solidFill>
                  <a:srgbClr val="546E7A"/>
                </a:solidFill>
                <a:latin typeface="맑은 고딕"/>
              </a:rPr>
              <a:t>  – 테이블 단위 / 컬럼 단위 탭</a:t>
            </a:r>
          </a:p>
          <a:p>
            <a:pPr algn="l"/>
            <a:r>
              <a:rPr sz="1800">
                <a:solidFill>
                  <a:srgbClr val="546E7A"/>
                </a:solidFill>
                <a:latin typeface="맑은 고딕"/>
              </a:rPr>
              <a:t>  – 각 행에 표준 / 구조 / 품질 3개 진단별 ON/OFF 토글 아이콘</a:t>
            </a:r>
          </a:p>
          <a:p>
            <a:pPr algn="l"/>
            <a:r>
              <a:rPr sz="1800" b="1">
                <a:solidFill>
                  <a:srgbClr val="1A237E"/>
                </a:solidFill>
                <a:latin typeface="맑은 고딕"/>
              </a:rPr>
              <a:t>• OFF 시 사유 모달</a:t>
            </a:r>
          </a:p>
          <a:p>
            <a:pPr algn="l"/>
            <a:r>
              <a:rPr sz="1800">
                <a:solidFill>
                  <a:srgbClr val="546E7A"/>
                </a:solidFill>
                <a:latin typeface="맑은 고딕"/>
              </a:rPr>
              <a:t>  – 선택입력 — 빈 사유로도 OFF 가능 (NULL 저장)</a:t>
            </a:r>
          </a:p>
          <a:p>
            <a:pPr algn="l"/>
            <a:r>
              <a:rPr sz="1800">
                <a:solidFill>
                  <a:srgbClr val="546E7A"/>
                </a:solidFill>
                <a:latin typeface="맑은 고딕"/>
              </a:rPr>
              <a:t>  – 마지막 변경자 / 일시 자동 기록</a:t>
            </a:r>
          </a:p>
          <a:p>
            <a:pPr algn="l"/>
            <a:r>
              <a:rPr sz="1800" b="1">
                <a:solidFill>
                  <a:srgbClr val="1A237E"/>
                </a:solidFill>
                <a:latin typeface="맑은 고딕"/>
              </a:rPr>
              <a:t>• Cascade 정책</a:t>
            </a:r>
          </a:p>
          <a:p>
            <a:pPr algn="l"/>
            <a:r>
              <a:rPr sz="1800">
                <a:solidFill>
                  <a:srgbClr val="546E7A"/>
                </a:solidFill>
                <a:latin typeface="맑은 고딕"/>
              </a:rPr>
              <a:t>  – 테이블 OFF → 그 테이블의 모든 컬럼이 자동 모수 제외</a:t>
            </a:r>
          </a:p>
          <a:p>
            <a:pPr algn="l"/>
            <a:r>
              <a:rPr sz="1800">
                <a:solidFill>
                  <a:srgbClr val="546E7A"/>
                </a:solidFill>
                <a:latin typeface="맑은 고딕"/>
              </a:rPr>
              <a:t>  – 테이블 ON + 컬럼 OFF → 해당 컬럼만 제외</a:t>
            </a:r>
          </a:p>
          <a:p>
            <a:pPr algn="l"/>
            <a:r>
              <a:rPr sz="1800" b="1">
                <a:solidFill>
                  <a:srgbClr val="1A237E"/>
                </a:solidFill>
                <a:latin typeface="맑은 고딕"/>
              </a:rPr>
              <a:t>• 일괄 토글</a:t>
            </a:r>
          </a:p>
          <a:p>
            <a:pPr algn="l"/>
            <a:r>
              <a:rPr sz="1800">
                <a:solidFill>
                  <a:srgbClr val="546E7A"/>
                </a:solidFill>
                <a:latin typeface="맑은 고딕"/>
              </a:rPr>
              <a:t>  – 다중 선택 → [표준 OFF / 구조 OFF / 품질 OFF / ...ON] 버튼</a:t>
            </a:r>
          </a:p>
          <a:p>
            <a:pPr algn="l"/>
            <a:r>
              <a:rPr sz="1800" b="1">
                <a:solidFill>
                  <a:srgbClr val="1A237E"/>
                </a:solidFill>
                <a:latin typeface="맑은 고딕"/>
              </a:rPr>
              <a:t>• 권한</a:t>
            </a:r>
          </a:p>
          <a:p>
            <a:pPr algn="l"/>
            <a:r>
              <a:rPr sz="1800">
                <a:solidFill>
                  <a:srgbClr val="546E7A"/>
                </a:solidFill>
                <a:latin typeface="맑은 고딕"/>
              </a:rPr>
              <a:t>  – 관리자 전용 — 일반 사용자는 화면 진입 후 토글 시 403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5-4-2. 79번 12 phase 자동 검증</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test_diag_target_imsi.py — Oracle DDL + 매퍼 SQL 직접 검증</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P1~P2: Oracle IMSI_TEST_001/002/003 생성 + 메타 INSERT (12 ATTR)</a:t>
            </a:r>
          </a:p>
          <a:p>
            <a:pPr algn="l"/>
            <a:r>
              <a:rPr sz="1800" b="1">
                <a:solidFill>
                  <a:srgbClr val="1A237E"/>
                </a:solidFill>
                <a:latin typeface="맑은 고딕"/>
              </a:rPr>
              <a:t>• P3: OBJ 단건 OFF — TEST_001 표준 + 사유</a:t>
            </a:r>
          </a:p>
          <a:p>
            <a:pPr algn="l"/>
            <a:r>
              <a:rPr sz="1800" b="1">
                <a:solidFill>
                  <a:srgbClr val="1A237E"/>
                </a:solidFill>
                <a:latin typeface="맑은 고딕"/>
              </a:rPr>
              <a:t>• P4: OBJ 일괄 OFF — TEST_002/003 구조 + 사유</a:t>
            </a:r>
          </a:p>
          <a:p>
            <a:pPr algn="l"/>
            <a:r>
              <a:rPr sz="1800" b="1">
                <a:solidFill>
                  <a:srgbClr val="1A237E"/>
                </a:solidFill>
                <a:latin typeface="맑은 고딕"/>
              </a:rPr>
              <a:t>• P5: ATTR 단건 OFF — TEST_001.NAME 구조 + 사유 빈칸 (NULL)</a:t>
            </a:r>
          </a:p>
          <a:p>
            <a:pPr algn="l"/>
            <a:r>
              <a:rPr sz="1800" b="1">
                <a:solidFill>
                  <a:srgbClr val="1A237E"/>
                </a:solidFill>
                <a:latin typeface="맑은 고딕"/>
              </a:rPr>
              <a:t>• P6: ATTR 일괄 OFF — TEST_002.CODE/VALUE 표준</a:t>
            </a:r>
          </a:p>
          <a:p>
            <a:pPr algn="l"/>
            <a:r>
              <a:rPr sz="1800" b="1">
                <a:solidFill>
                  <a:srgbClr val="1A237E"/>
                </a:solidFill>
                <a:latin typeface="맑은 고딕"/>
              </a:rPr>
              <a:t>• P7: 표준 진단 매퍼 — 모수 5 / 제외 7 (cascade 적용)</a:t>
            </a:r>
          </a:p>
          <a:p>
            <a:pPr algn="l"/>
            <a:r>
              <a:rPr sz="1800" b="1">
                <a:solidFill>
                  <a:srgbClr val="1A237E"/>
                </a:solidFill>
                <a:latin typeface="맑은 고딕"/>
              </a:rPr>
              <a:t>• P8: 구조 진단 매퍼 — 모수 4 (TEST_001 cascade)</a:t>
            </a:r>
          </a:p>
          <a:p>
            <a:pPr algn="l"/>
            <a:r>
              <a:rPr sz="1800" b="1">
                <a:solidFill>
                  <a:srgbClr val="1A237E"/>
                </a:solidFill>
                <a:latin typeface="맑은 고딕"/>
              </a:rPr>
              <a:t>• P9: ALTER (XYZ_DATA 길이 / NEW_COL 추가 / ETC 길이)</a:t>
            </a:r>
          </a:p>
          <a:p>
            <a:pPr algn="l"/>
            <a:r>
              <a:rPr sz="1800" b="1">
                <a:solidFill>
                  <a:srgbClr val="1A237E"/>
                </a:solidFill>
                <a:latin typeface="맑은 고딕"/>
              </a:rPr>
              <a:t>• P10: 구조 매퍼 재검증 — OFF 변경은 모수 미포함</a:t>
            </a:r>
          </a:p>
          <a:p>
            <a:pPr algn="l"/>
            <a:r>
              <a:rPr sz="1800" b="1">
                <a:solidFill>
                  <a:srgbClr val="1A237E"/>
                </a:solidFill>
                <a:latin typeface="맑은 고딕"/>
              </a:rPr>
              <a:t>• P11: ON 복귀 후 모수 13 회복 (12 + NEW_COL) / 사유 NULL 클리어</a:t>
            </a:r>
          </a:p>
          <a:p>
            <a:pPr algn="l"/>
            <a:r>
              <a:rPr sz="1800" b="1">
                <a:solidFill>
                  <a:srgbClr val="1A237E"/>
                </a:solidFill>
                <a:latin typeface="맑은 고딕"/>
              </a:rPr>
              <a:t>• P12: cleanup — Oracle DROP + 메타 DELETE</a:t>
            </a:r>
          </a:p>
          <a:p>
            <a:pPr algn="l"/>
            <a:r>
              <a:rPr sz="1800" b="1">
                <a:solidFill>
                  <a:srgbClr val="1A237E"/>
                </a:solidFill>
                <a:latin typeface="맑은 고딕"/>
              </a:rPr>
              <a:t>• → 229초 PASS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6-1. 표준화 진단 — 실행</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q-executor 백그라운드 + STOMP 실시간 진행률</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실행 절차</a:t>
            </a:r>
          </a:p>
          <a:p>
            <a:pPr algn="l"/>
            <a:r>
              <a:rPr sz="1800">
                <a:solidFill>
                  <a:srgbClr val="546E7A"/>
                </a:solidFill>
                <a:latin typeface="맑은 고딕"/>
              </a:rPr>
              <a:t>  – [표준 진단 &gt; 진단 실행] → 모델 선택 → [진단 시작]</a:t>
            </a:r>
          </a:p>
          <a:p>
            <a:pPr algn="l"/>
            <a:r>
              <a:rPr sz="1800">
                <a:solidFill>
                  <a:srgbClr val="546E7A"/>
                </a:solidFill>
                <a:latin typeface="맑은 고딕"/>
              </a:rPr>
              <a:t>  – q-executor 가 백그라운드 처리 (q-center 와 STOMP 통신)</a:t>
            </a:r>
          </a:p>
          <a:p>
            <a:pPr algn="l"/>
            <a:r>
              <a:rPr sz="1800" b="1">
                <a:solidFill>
                  <a:srgbClr val="1A237E"/>
                </a:solidFill>
                <a:latin typeface="맑은 고딕"/>
              </a:rPr>
              <a:t>• 이슈 6종</a:t>
            </a:r>
          </a:p>
          <a:p>
            <a:pPr algn="l"/>
            <a:r>
              <a:rPr sz="1800">
                <a:solidFill>
                  <a:srgbClr val="546E7A"/>
                </a:solidFill>
                <a:latin typeface="맑은 고딕"/>
              </a:rPr>
              <a:t>  – 용어 미존재 / 한글명 불일치 / 영문약어 불일치</a:t>
            </a:r>
          </a:p>
          <a:p>
            <a:pPr algn="l"/>
            <a:r>
              <a:rPr sz="1800">
                <a:solidFill>
                  <a:srgbClr val="546E7A"/>
                </a:solidFill>
                <a:latin typeface="맑은 고딕"/>
              </a:rPr>
              <a:t>  – 타입 불일치 / 길이 불일치 / 도메인 불일치</a:t>
            </a:r>
          </a:p>
          <a:p>
            <a:pPr algn="l"/>
            <a:r>
              <a:rPr sz="1800" b="1">
                <a:solidFill>
                  <a:srgbClr val="1A237E"/>
                </a:solidFill>
                <a:latin typeface="맑은 고딕"/>
              </a:rPr>
              <a:t>• 진행률 표시</a:t>
            </a:r>
          </a:p>
          <a:p>
            <a:pPr algn="l"/>
            <a:r>
              <a:rPr sz="1800">
                <a:solidFill>
                  <a:srgbClr val="546E7A"/>
                </a:solidFill>
                <a:latin typeface="맑은 고딕"/>
              </a:rPr>
              <a:t>  – 현재 처리 중 / 전체 컬럼수 / 발견된 이슈 / 예상 완료 시각</a:t>
            </a:r>
          </a:p>
          <a:p>
            <a:pPr algn="l"/>
            <a:r>
              <a:rPr sz="1800" b="1">
                <a:solidFill>
                  <a:srgbClr val="1A237E"/>
                </a:solidFill>
                <a:latin typeface="맑은 고딕"/>
              </a:rPr>
              <a:t>• 결과 저장</a:t>
            </a:r>
          </a:p>
          <a:p>
            <a:pPr algn="l"/>
            <a:r>
              <a:rPr sz="1800">
                <a:solidFill>
                  <a:srgbClr val="546E7A"/>
                </a:solidFill>
                <a:latin typeface="맑은 고딕"/>
              </a:rPr>
              <a:t>  – TB_DIAG_JOB (헤더) + TB_DIAG_RESULT (이슈 건별)</a:t>
            </a:r>
          </a:p>
          <a:p>
            <a:pPr algn="l"/>
            <a:r>
              <a:rPr sz="1800">
                <a:solidFill>
                  <a:srgbClr val="546E7A"/>
                </a:solidFill>
                <a:latin typeface="맑은 고딕"/>
              </a:rPr>
              <a:t>  – TARGET_YN='Y' 만 모수 — 79번 진단 제외 cascade 즉시 반영</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6-2. 표준화 진단 — 결과</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필터 + 상세 drawer + 표준 준수율</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필터</a:t>
            </a:r>
          </a:p>
          <a:p>
            <a:pPr algn="l"/>
            <a:r>
              <a:rPr sz="1800">
                <a:solidFill>
                  <a:srgbClr val="546E7A"/>
                </a:solidFill>
                <a:latin typeface="맑은 고딕"/>
              </a:rPr>
              <a:t>  – 이슈 유형 / 테이블 / 컬럼 / 표준 준수 여부 / 확인 여부</a:t>
            </a:r>
          </a:p>
          <a:p>
            <a:pPr algn="l"/>
            <a:r>
              <a:rPr sz="1800" b="1">
                <a:solidFill>
                  <a:srgbClr val="1A237E"/>
                </a:solidFill>
                <a:latin typeface="맑은 고딕"/>
              </a:rPr>
              <a:t>• 그리드</a:t>
            </a:r>
          </a:p>
          <a:p>
            <a:pPr algn="l"/>
            <a:r>
              <a:rPr sz="1800">
                <a:solidFill>
                  <a:srgbClr val="546E7A"/>
                </a:solidFill>
                <a:latin typeface="맑은 고딕"/>
              </a:rPr>
              <a:t>  – 행 클릭 → 상세 drawer (현재값 vs 권장값 비교)</a:t>
            </a:r>
          </a:p>
          <a:p>
            <a:pPr algn="l"/>
            <a:r>
              <a:rPr sz="1800" b="1">
                <a:solidFill>
                  <a:srgbClr val="1A237E"/>
                </a:solidFill>
                <a:latin typeface="맑은 고딕"/>
              </a:rPr>
              <a:t>• 표준 준수율</a:t>
            </a:r>
          </a:p>
          <a:p>
            <a:pPr algn="l"/>
            <a:r>
              <a:rPr sz="1800">
                <a:solidFill>
                  <a:srgbClr val="546E7A"/>
                </a:solidFill>
                <a:latin typeface="맑은 고딕"/>
              </a:rPr>
              <a:t>  – (전체 컬럼수 - 이슈 컬럼수) / 전체 컬럼수 × 100</a:t>
            </a:r>
          </a:p>
          <a:p>
            <a:pPr algn="l"/>
            <a:r>
              <a:rPr sz="1800">
                <a:solidFill>
                  <a:srgbClr val="546E7A"/>
                </a:solidFill>
                <a:latin typeface="맑은 고딕"/>
              </a:rPr>
              <a:t>  – RESULT_CNT(이슈 건수) 가 아닌 ISSUE_COL_CNT(이슈 컬럼수)</a:t>
            </a:r>
          </a:p>
          <a:p>
            <a:pPr algn="l"/>
            <a:r>
              <a:rPr sz="1800">
                <a:solidFill>
                  <a:srgbClr val="546E7A"/>
                </a:solidFill>
                <a:latin typeface="맑은 고딕"/>
              </a:rPr>
              <a:t>  – 한 컬럼이 6 이슈라도 1로 카운트 — 의미 있는 백분율</a:t>
            </a:r>
          </a:p>
          <a:p>
            <a:pPr algn="l"/>
            <a:r>
              <a:rPr sz="1800" b="1">
                <a:solidFill>
                  <a:srgbClr val="1A237E"/>
                </a:solidFill>
                <a:latin typeface="맑은 고딕"/>
              </a:rPr>
              <a:t>• 결과 다운로드</a:t>
            </a:r>
          </a:p>
          <a:p>
            <a:pPr algn="l"/>
            <a:r>
              <a:rPr sz="1800">
                <a:solidFill>
                  <a:srgbClr val="546E7A"/>
                </a:solidFill>
                <a:latin typeface="맑은 고딕"/>
              </a:rPr>
              <a:t>  – 현재 필터 상태 그대로 POI 동적 XLSX</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6-3. 진단 결과 — 용어 빠른 등록 + 코멘트</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이슈 → 즉시 표준 사전 보강 → 진단 재실행 없이 결과 갱신</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용어 빠른 등록</a:t>
            </a:r>
          </a:p>
          <a:p>
            <a:pPr algn="l"/>
            <a:r>
              <a:rPr sz="1800">
                <a:solidFill>
                  <a:srgbClr val="546E7A"/>
                </a:solidFill>
                <a:latin typeface="맑은 고딕"/>
              </a:rPr>
              <a:t>  – 이슈 행 → [용어 빠른 등록] → 즉시 등록</a:t>
            </a:r>
          </a:p>
          <a:p>
            <a:pPr algn="l"/>
            <a:r>
              <a:rPr sz="1800">
                <a:solidFill>
                  <a:srgbClr val="546E7A"/>
                </a:solidFill>
                <a:latin typeface="맑은 고딕"/>
              </a:rPr>
              <a:t>  – 진단 재실행 없이 결과 row 갱신 (TB_DIAG_RESULT 한 row update)</a:t>
            </a:r>
          </a:p>
          <a:p>
            <a:pPr algn="l"/>
            <a:r>
              <a:rPr sz="1800" b="1">
                <a:solidFill>
                  <a:srgbClr val="1A237E"/>
                </a:solidFill>
                <a:latin typeface="맑은 고딕"/>
              </a:rPr>
              <a:t>• 코멘트</a:t>
            </a:r>
          </a:p>
          <a:p>
            <a:pPr algn="l"/>
            <a:r>
              <a:rPr sz="1800">
                <a:solidFill>
                  <a:srgbClr val="546E7A"/>
                </a:solidFill>
                <a:latin typeface="맑은 고딕"/>
              </a:rPr>
              <a:t>  – 진단 결과에 메모 (예: '검토 완료', '현재 시스템 제약상 불가')</a:t>
            </a:r>
          </a:p>
          <a:p>
            <a:pPr algn="l"/>
            <a:r>
              <a:rPr sz="1800">
                <a:solidFill>
                  <a:srgbClr val="546E7A"/>
                </a:solidFill>
                <a:latin typeface="맑은 고딕"/>
              </a:rPr>
              <a:t>  – 변경 이력에 자동 등록 — 누가 언제 코멘트했는지 추적</a:t>
            </a:r>
          </a:p>
          <a:p>
            <a:pPr algn="l"/>
            <a:r>
              <a:rPr sz="1800" b="1">
                <a:solidFill>
                  <a:srgbClr val="1A237E"/>
                </a:solidFill>
                <a:latin typeface="맑은 고딕"/>
              </a:rPr>
              <a:t>• [해결] 버튼</a:t>
            </a:r>
          </a:p>
          <a:p>
            <a:pPr algn="l"/>
            <a:r>
              <a:rPr sz="1800">
                <a:solidFill>
                  <a:srgbClr val="546E7A"/>
                </a:solidFill>
                <a:latin typeface="맑은 고딕"/>
              </a:rPr>
              <a:t>  – PARTIAL/FAILED 행 → 자동 표준화 추천 모달 진입</a:t>
            </a:r>
          </a:p>
          <a:p>
            <a:pPr algn="l"/>
            <a:r>
              <a:rPr sz="1800">
                <a:solidFill>
                  <a:srgbClr val="546E7A"/>
                </a:solidFill>
                <a:latin typeface="맑은 고딕"/>
              </a:rPr>
              <a:t>  – 53번 컬럼 그리드와 동일 모달 재사용</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7. 구조 변경 진단</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DBMS 실 스키마 vs 수집 스냅샷 — 추가/변경/삭제 자동 감지</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실행</a:t>
            </a:r>
          </a:p>
          <a:p>
            <a:pPr algn="l"/>
            <a:r>
              <a:rPr sz="1800">
                <a:solidFill>
                  <a:srgbClr val="546E7A"/>
                </a:solidFill>
                <a:latin typeface="맑은 고딕"/>
              </a:rPr>
              <a:t>  – [구조 변경 진단 &gt; 진단 실행] → 모델 선택 → [실행]</a:t>
            </a:r>
          </a:p>
          <a:p>
            <a:pPr algn="l"/>
            <a:r>
              <a:rPr sz="1800">
                <a:solidFill>
                  <a:srgbClr val="546E7A"/>
                </a:solidFill>
                <a:latin typeface="맑은 고딕"/>
              </a:rPr>
              <a:t>  – 물리 모델만 (DSID 있는) — 논리 모델은 거부 (400)</a:t>
            </a:r>
          </a:p>
          <a:p>
            <a:pPr algn="l"/>
            <a:r>
              <a:rPr sz="1800" b="1">
                <a:solidFill>
                  <a:srgbClr val="1A237E"/>
                </a:solidFill>
                <a:latin typeface="맑은 고딕"/>
              </a:rPr>
              <a:t>• 결과 화면 3단계 조회</a:t>
            </a:r>
          </a:p>
          <a:p>
            <a:pPr algn="l"/>
            <a:r>
              <a:rPr sz="1800">
                <a:solidFill>
                  <a:srgbClr val="546E7A"/>
                </a:solidFill>
                <a:latin typeface="맑은 고딕"/>
              </a:rPr>
              <a:t>  – 이력 (TB_STRUCT_DIAG_HISTORY) → 상세 (DETAIL) → 컬럼/제약/인덱스별</a:t>
            </a:r>
          </a:p>
          <a:p>
            <a:pPr algn="l"/>
            <a:r>
              <a:rPr sz="1800">
                <a:solidFill>
                  <a:srgbClr val="546E7A"/>
                </a:solidFill>
                <a:latin typeface="맑은 고딕"/>
              </a:rPr>
              <a:t>  – 각 변경 — 컬럼명, 변경 전/후 타입·길이·NULL 여부</a:t>
            </a:r>
          </a:p>
          <a:p>
            <a:pPr algn="l"/>
            <a:r>
              <a:rPr sz="1800" b="1">
                <a:solidFill>
                  <a:srgbClr val="1A237E"/>
                </a:solidFill>
                <a:latin typeface="맑은 고딕"/>
              </a:rPr>
              <a:t>• 79번 진단 제외 cascade</a:t>
            </a:r>
          </a:p>
          <a:p>
            <a:pPr algn="l"/>
            <a:r>
              <a:rPr sz="1800">
                <a:solidFill>
                  <a:srgbClr val="546E7A"/>
                </a:solidFill>
                <a:latin typeface="맑은 고딕"/>
              </a:rPr>
              <a:t>  – OFF 표시된 테이블/컬럼의 변경은 결과 미등장</a:t>
            </a:r>
          </a:p>
          <a:p>
            <a:pPr algn="l"/>
            <a:r>
              <a:rPr sz="1800">
                <a:solidFill>
                  <a:srgbClr val="546E7A"/>
                </a:solidFill>
                <a:latin typeface="맑은 고딕"/>
              </a:rPr>
              <a:t>  – PC1 보강 (2bef4e8) — prev/curr OFF set 통합 + toUpperCase 정렬</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8-1. 자동 표준화 — 컬럼 표준화 분석</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한글 컬럼명 → 단어 분리 → 영문약어/도메인 추천 → 자동 등록</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입력</a:t>
            </a:r>
          </a:p>
          <a:p>
            <a:pPr algn="l"/>
            <a:r>
              <a:rPr sz="1800">
                <a:solidFill>
                  <a:srgbClr val="546E7A"/>
                </a:solidFill>
                <a:latin typeface="맑은 고딕"/>
              </a:rPr>
              <a:t>  – [자동 표준화 지원 &gt; 컬럼 표준화] → textarea 한글 컬럼명 N건 (줄바꿈 구분)</a:t>
            </a:r>
          </a:p>
          <a:p>
            <a:pPr algn="l"/>
            <a:r>
              <a:rPr sz="1800">
                <a:solidFill>
                  <a:srgbClr val="546E7A"/>
                </a:solidFill>
                <a:latin typeface="맑은 고딕"/>
              </a:rPr>
              <a:t>  – 공백 무시, 중복 제거</a:t>
            </a:r>
          </a:p>
          <a:p>
            <a:pPr algn="l"/>
            <a:r>
              <a:rPr sz="1800" b="1">
                <a:solidFill>
                  <a:srgbClr val="1A237E"/>
                </a:solidFill>
                <a:latin typeface="맑은 고딕"/>
              </a:rPr>
              <a:t>• 분석 알고리즘 (DataStandardController + analyzeTermsBatch)</a:t>
            </a:r>
          </a:p>
          <a:p>
            <a:pPr algn="l"/>
            <a:r>
              <a:rPr sz="1800">
                <a:solidFill>
                  <a:srgbClr val="546E7A"/>
                </a:solidFill>
                <a:latin typeface="맑은 고딕"/>
              </a:rPr>
              <a:t>  – DP 점수 — SPLIT_PENALTY=8000 / 1자 비형식단어 격하(5000)</a:t>
            </a:r>
          </a:p>
          <a:p>
            <a:pPr algn="l"/>
            <a:r>
              <a:rPr sz="1800">
                <a:solidFill>
                  <a:srgbClr val="546E7A"/>
                </a:solidFill>
                <a:latin typeface="맑은 고딕"/>
              </a:rPr>
              <a:t>  – 사후처리 resolveUncertainRuns — 미신뢰 토큰 합쳐 사전(TB_WORD/DICT/alloph_synm) 재검색</a:t>
            </a:r>
          </a:p>
          <a:p>
            <a:pPr algn="l"/>
            <a:r>
              <a:rPr sz="1800">
                <a:solidFill>
                  <a:srgbClr val="546E7A"/>
                </a:solidFill>
                <a:latin typeface="맑은 고딕"/>
              </a:rPr>
              <a:t>  – 동의어 매핑 synmToWord — 카테고리 → 범주 자동 매칭</a:t>
            </a:r>
          </a:p>
          <a:p>
            <a:pPr algn="l"/>
            <a:r>
              <a:rPr sz="1800" b="1">
                <a:solidFill>
                  <a:srgbClr val="1A237E"/>
                </a:solidFill>
                <a:latin typeface="맑은 고딕"/>
              </a:rPr>
              <a:t>• 결과</a:t>
            </a:r>
          </a:p>
          <a:p>
            <a:pPr algn="l"/>
            <a:r>
              <a:rPr sz="1800">
                <a:solidFill>
                  <a:srgbClr val="546E7A"/>
                </a:solidFill>
                <a:latin typeface="맑은 고딕"/>
              </a:rPr>
              <a:t>  – REGISTERED / AUTO / PARTIAL / FAILED 4 status 자동 판정</a:t>
            </a:r>
          </a:p>
          <a:p>
            <a:pPr algn="l"/>
            <a:r>
              <a:rPr sz="1800">
                <a:solidFill>
                  <a:srgbClr val="546E7A"/>
                </a:solidFill>
                <a:latin typeface="맑은 고딕"/>
              </a:rPr>
              <a:t>  – 추천 영문약어 / 도메인 / 데이터타입 / 길이 자동</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8-2. 자동 표준화 — 수정 모달 (cascade)</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행안부 지침 — '분류어' → '형식단어' 가시 텍스트 통일</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모달 구조</a:t>
            </a:r>
          </a:p>
          <a:p>
            <a:pPr algn="l"/>
            <a:r>
              <a:rPr sz="1800">
                <a:solidFill>
                  <a:srgbClr val="546E7A"/>
                </a:solidFill>
                <a:latin typeface="맑은 고딕"/>
              </a:rPr>
              <a:t>  – 단어 테이블 — 자동 분리 결과 + 수동 추가/제거</a:t>
            </a:r>
          </a:p>
          <a:p>
            <a:pPr algn="l"/>
            <a:r>
              <a:rPr sz="1800">
                <a:solidFill>
                  <a:srgbClr val="546E7A"/>
                </a:solidFill>
                <a:latin typeface="맑은 고딕"/>
              </a:rPr>
              <a:t>  – 형식단어 검색·자동완성 + [형식단어 추가] 버튼</a:t>
            </a:r>
          </a:p>
          <a:p>
            <a:pPr algn="l"/>
            <a:r>
              <a:rPr sz="1800">
                <a:solidFill>
                  <a:srgbClr val="546E7A"/>
                </a:solidFill>
                <a:latin typeface="맑은 고딕"/>
              </a:rPr>
              <a:t>  – 용어 도메인 — 마지막 단어의 분류명 cascade</a:t>
            </a:r>
          </a:p>
          <a:p>
            <a:pPr algn="l"/>
            <a:r>
              <a:rPr sz="1800">
                <a:solidFill>
                  <a:srgbClr val="546E7A"/>
                </a:solidFill>
                <a:latin typeface="맑은 고딕"/>
              </a:rPr>
              <a:t>  – 용어 미리보기 — 입력값으로 만들어질 한글/영문 즉시 표시</a:t>
            </a:r>
          </a:p>
          <a:p>
            <a:pPr algn="l"/>
            <a:r>
              <a:rPr sz="1800" b="1">
                <a:solidFill>
                  <a:srgbClr val="1A237E"/>
                </a:solidFill>
                <a:latin typeface="맑은 고딕"/>
              </a:rPr>
              <a:t>• Cascade 동작</a:t>
            </a:r>
          </a:p>
          <a:p>
            <a:pPr algn="l"/>
            <a:r>
              <a:rPr sz="1800">
                <a:solidFill>
                  <a:srgbClr val="546E7A"/>
                </a:solidFill>
                <a:latin typeface="맑은 고딕"/>
              </a:rPr>
              <a:t>  – 단어 테이블 변경 → 마지막 단어의 분류명 → 도메인 후보 자동 재로드</a:t>
            </a:r>
          </a:p>
          <a:p>
            <a:pPr algn="l"/>
            <a:r>
              <a:rPr sz="1800">
                <a:solidFill>
                  <a:srgbClr val="546E7A"/>
                </a:solidFill>
                <a:latin typeface="맑은 고딕"/>
              </a:rPr>
              <a:t>  – 마지막 단어가 형식단어가 아니면 도메인 비활성 + 빨간 안내</a:t>
            </a:r>
          </a:p>
          <a:p>
            <a:pPr algn="l"/>
            <a:r>
              <a:rPr sz="1800" b="1">
                <a:solidFill>
                  <a:srgbClr val="1A237E"/>
                </a:solidFill>
                <a:latin typeface="맑은 고딕"/>
              </a:rPr>
              <a:t>• 검증</a:t>
            </a:r>
          </a:p>
          <a:p>
            <a:pPr algn="l"/>
            <a:r>
              <a:rPr sz="1800">
                <a:solidFill>
                  <a:srgbClr val="546E7A"/>
                </a:solidFill>
                <a:latin typeface="맑은 고딕"/>
              </a:rPr>
              <a:t>  – test_ca8858d_clsf_domain.py — 10/10 PASS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9-1. 데이터 품질 진단 — 검증항목 (룰 정의)</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DQI / CTQ / BR + 도메인 룰 1:N + 컬럼 매핑</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룰 종류</a:t>
            </a:r>
          </a:p>
          <a:p>
            <a:pPr algn="l"/>
            <a:r>
              <a:rPr sz="1800">
                <a:solidFill>
                  <a:srgbClr val="546E7A"/>
                </a:solidFill>
                <a:latin typeface="맑은 고딕"/>
              </a:rPr>
              <a:t>  – 품질지표 (DQI) — 데이터 품질 지표</a:t>
            </a:r>
          </a:p>
          <a:p>
            <a:pPr algn="l"/>
            <a:r>
              <a:rPr sz="1800">
                <a:solidFill>
                  <a:srgbClr val="546E7A"/>
                </a:solidFill>
                <a:latin typeface="맑은 고딕"/>
              </a:rPr>
              <a:t>  – 핵심관리항목 (CTQ) — 비즈니스 우선순위 컬럼</a:t>
            </a:r>
          </a:p>
          <a:p>
            <a:pPr algn="l"/>
            <a:r>
              <a:rPr sz="1800">
                <a:solidFill>
                  <a:srgbClr val="546E7A"/>
                </a:solidFill>
                <a:latin typeface="맑은 고딕"/>
              </a:rPr>
              <a:t>  – 업무규칙 (BR) — 도메인 정합성</a:t>
            </a:r>
          </a:p>
          <a:p>
            <a:pPr algn="l"/>
            <a:r>
              <a:rPr sz="1800" b="1">
                <a:solidFill>
                  <a:srgbClr val="1A237E"/>
                </a:solidFill>
                <a:latin typeface="맑은 고딕"/>
              </a:rPr>
              <a:t>• 룰 카탈로그 (TB_QUAL_RULE_CATALOG)</a:t>
            </a:r>
          </a:p>
          <a:p>
            <a:pPr algn="l"/>
            <a:r>
              <a:rPr sz="1800">
                <a:solidFill>
                  <a:srgbClr val="546E7A"/>
                </a:solidFill>
                <a:latin typeface="맑은 고딕"/>
              </a:rPr>
              <a:t>  – 이메일 / 주민번호 / 사업자번호 / 휴대전화번호 등 표준 정규식</a:t>
            </a:r>
          </a:p>
          <a:p>
            <a:pPr algn="l"/>
            <a:r>
              <a:rPr sz="1800" b="1">
                <a:solidFill>
                  <a:srgbClr val="1A237E"/>
                </a:solidFill>
                <a:latin typeface="맑은 고딕"/>
              </a:rPr>
              <a:t>• 도메인 룰 (1:N)</a:t>
            </a:r>
          </a:p>
          <a:p>
            <a:pPr algn="l"/>
            <a:r>
              <a:rPr sz="1800">
                <a:solidFill>
                  <a:srgbClr val="546E7A"/>
                </a:solidFill>
                <a:latin typeface="맑은 고딕"/>
              </a:rPr>
              <a:t>  – 한 도메인에 여러 룰 매핑 (예: 이메일 도메인 + 정규식 + NOT NULL)</a:t>
            </a:r>
          </a:p>
          <a:p>
            <a:pPr algn="l"/>
            <a:r>
              <a:rPr sz="1800" b="1">
                <a:solidFill>
                  <a:srgbClr val="1A237E"/>
                </a:solidFill>
                <a:latin typeface="맑은 고딕"/>
              </a:rPr>
              <a:t>• 컬럼별 룰 매핑</a:t>
            </a:r>
          </a:p>
          <a:p>
            <a:pPr algn="l"/>
            <a:r>
              <a:rPr sz="1800">
                <a:solidFill>
                  <a:srgbClr val="546E7A"/>
                </a:solidFill>
                <a:latin typeface="맑은 고딕"/>
              </a:rPr>
              <a:t>  – effective rule = 도메인 룰 ∪ 컬럼 직접 매핑 — 1 SQL JOIN 으로 효과 룰 추출</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9-2. 검증대상 + 품질검증 실행</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컬럼 매핑 + 값 프로파일 + 룰 위반 동시</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검증대상 (DSQualColRule)</a:t>
            </a:r>
          </a:p>
          <a:p>
            <a:pPr algn="l"/>
            <a:r>
              <a:rPr sz="1800">
                <a:solidFill>
                  <a:srgbClr val="546E7A"/>
                </a:solidFill>
                <a:latin typeface="맑은 고딕"/>
              </a:rPr>
              <a:t>  – 컬럼 그리드 → 효과 룰 (effective rule) 표시</a:t>
            </a:r>
          </a:p>
          <a:p>
            <a:pPr algn="l"/>
            <a:r>
              <a:rPr sz="1800">
                <a:solidFill>
                  <a:srgbClr val="546E7A"/>
                </a:solidFill>
                <a:latin typeface="맑은 고딕"/>
              </a:rPr>
              <a:t>  – 단위 재진단 — 한 컬럼만 즉시 재실행</a:t>
            </a:r>
          </a:p>
          <a:p>
            <a:pPr algn="l"/>
            <a:r>
              <a:rPr sz="1800" b="1">
                <a:solidFill>
                  <a:srgbClr val="1A237E"/>
                </a:solidFill>
                <a:latin typeface="맑은 고딕"/>
              </a:rPr>
              <a:t>• 품질검증 실행 (DSQualValueProfile)</a:t>
            </a:r>
          </a:p>
          <a:p>
            <a:pPr algn="l"/>
            <a:r>
              <a:rPr sz="1800">
                <a:solidFill>
                  <a:srgbClr val="546E7A"/>
                </a:solidFill>
                <a:latin typeface="맑은 고딕"/>
              </a:rPr>
              <a:t>  – 모델 선택 → [DB 연결된 모델만] 필터 자동 (connectedOnly='Y')</a:t>
            </a:r>
          </a:p>
          <a:p>
            <a:pPr algn="l"/>
            <a:r>
              <a:rPr sz="1800">
                <a:solidFill>
                  <a:srgbClr val="546E7A"/>
                </a:solidFill>
                <a:latin typeface="맑은 고딕"/>
              </a:rPr>
              <a:t>  – 컬럼 체크 → [진단 시작]</a:t>
            </a:r>
          </a:p>
          <a:p>
            <a:pPr algn="l"/>
            <a:r>
              <a:rPr sz="1800" b="1">
                <a:solidFill>
                  <a:srgbClr val="1A237E"/>
                </a:solidFill>
                <a:latin typeface="맑은 고딕"/>
              </a:rPr>
              <a:t>• 처리 (q-executor BusinessRuleService + ValueProfileService)</a:t>
            </a:r>
          </a:p>
          <a:p>
            <a:pPr algn="l"/>
            <a:r>
              <a:rPr sz="1800">
                <a:solidFill>
                  <a:srgbClr val="546E7A"/>
                </a:solidFill>
                <a:latin typeface="맑은 고딕"/>
              </a:rPr>
              <a:t>  – 값 프로파일 — null/distinct/min/max/avg/quantile 등</a:t>
            </a:r>
          </a:p>
          <a:p>
            <a:pPr algn="l"/>
            <a:r>
              <a:rPr sz="1800">
                <a:solidFill>
                  <a:srgbClr val="546E7A"/>
                </a:solidFill>
                <a:latin typeface="맑은 고딕"/>
              </a:rPr>
              <a:t>  – 룰 위반 검사 — RuleSqlBuilder dialect 분기 (Postgres/Oracle/Cubrid)</a:t>
            </a:r>
          </a:p>
          <a:p>
            <a:pPr algn="l"/>
            <a:r>
              <a:rPr sz="1800" b="1">
                <a:solidFill>
                  <a:srgbClr val="1A237E"/>
                </a:solidFill>
                <a:latin typeface="맑은 고딕"/>
              </a:rPr>
              <a:t>• 결과 저장</a:t>
            </a:r>
          </a:p>
          <a:p>
            <a:pPr algn="l"/>
            <a:r>
              <a:rPr sz="1800">
                <a:solidFill>
                  <a:srgbClr val="546E7A"/>
                </a:solidFill>
                <a:latin typeface="맑은 고딕"/>
              </a:rPr>
              <a:t>  – TB_QUAL_PROFILE_RESULT (UPSERT) + TB_QUAL_RULE_RESULT + TB_QUAL_VIOLATION_SAMPLE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9-3. 데이터 품질 진단 — 결과 + 시계열</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위반율 / 위반 샘플 / 검증항목별 / 시계열 추이</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품질검증 결과</a:t>
            </a:r>
          </a:p>
          <a:p>
            <a:pPr algn="l"/>
            <a:r>
              <a:rPr sz="1800">
                <a:solidFill>
                  <a:srgbClr val="546E7A"/>
                </a:solidFill>
                <a:latin typeface="맑은 고딕"/>
              </a:rPr>
              <a:t>  – 진단별 위반율 + 위반 샘플 (PK + 위반값, 룰당 100건 default)</a:t>
            </a:r>
          </a:p>
          <a:p>
            <a:pPr algn="l"/>
            <a:r>
              <a:rPr sz="1800">
                <a:solidFill>
                  <a:srgbClr val="546E7A"/>
                </a:solidFill>
                <a:latin typeface="맑은 고딕"/>
              </a:rPr>
              <a:t>  – drawer 상세 — 룰 텍스트 + 위반 행 그리드</a:t>
            </a:r>
          </a:p>
          <a:p>
            <a:pPr algn="l"/>
            <a:r>
              <a:rPr sz="1800" b="1">
                <a:solidFill>
                  <a:srgbClr val="1A237E"/>
                </a:solidFill>
                <a:latin typeface="맑은 고딕"/>
              </a:rPr>
              <a:t>• 테이블별 결과</a:t>
            </a:r>
          </a:p>
          <a:p>
            <a:pPr algn="l"/>
            <a:r>
              <a:rPr sz="1800">
                <a:solidFill>
                  <a:srgbClr val="546E7A"/>
                </a:solidFill>
                <a:latin typeface="맑은 고딕"/>
              </a:rPr>
              <a:t>  – 테이블 단위 합계 + 컬럼별 위반율</a:t>
            </a:r>
          </a:p>
          <a:p>
            <a:pPr algn="l"/>
            <a:r>
              <a:rPr sz="1800" b="1">
                <a:solidFill>
                  <a:srgbClr val="1A237E"/>
                </a:solidFill>
                <a:latin typeface="맑은 고딕"/>
              </a:rPr>
              <a:t>• 검증항목별 결과</a:t>
            </a:r>
          </a:p>
          <a:p>
            <a:pPr algn="l"/>
            <a:r>
              <a:rPr sz="1800">
                <a:solidFill>
                  <a:srgbClr val="546E7A"/>
                </a:solidFill>
                <a:latin typeface="맑은 고딕"/>
              </a:rPr>
              <a:t>  – 룰 단위 — 어떤 룰이 어디서 위반됐는지</a:t>
            </a:r>
          </a:p>
          <a:p>
            <a:pPr algn="l"/>
            <a:r>
              <a:rPr sz="1800" b="1">
                <a:solidFill>
                  <a:srgbClr val="1A237E"/>
                </a:solidFill>
                <a:latin typeface="맑은 고딕"/>
              </a:rPr>
              <a:t>• 데이터 품질 현황</a:t>
            </a:r>
          </a:p>
          <a:p>
            <a:pPr algn="l"/>
            <a:r>
              <a:rPr sz="1800">
                <a:solidFill>
                  <a:srgbClr val="546E7A"/>
                </a:solidFill>
                <a:latin typeface="맑은 고딕"/>
              </a:rPr>
              <a:t>  – 시계열 — 진단 N회의 위반율 추이 차트</a:t>
            </a:r>
          </a:p>
          <a:p>
            <a:pPr algn="l"/>
            <a:r>
              <a:rPr sz="1800" b="1">
                <a:solidFill>
                  <a:srgbClr val="1A237E"/>
                </a:solidFill>
                <a:latin typeface="맑은 고딕"/>
              </a:rPr>
              <a:t>• 79번 진단 제외 (컬럼 단위)</a:t>
            </a:r>
          </a:p>
          <a:p>
            <a:pPr algn="l"/>
            <a:r>
              <a:rPr sz="1800">
                <a:solidFill>
                  <a:srgbClr val="546E7A"/>
                </a:solidFill>
                <a:latin typeface="맑은 고딕"/>
              </a:rPr>
              <a:t>  – QUAL_DIAG_TARGET_YN='N' 컬럼은 모수 자동 제외</a:t>
            </a:r>
          </a:p>
          <a:p>
            <a:pPr algn="l"/>
            <a:r>
              <a:rPr sz="1800">
                <a:solidFill>
                  <a:srgbClr val="546E7A"/>
                </a:solidFill>
                <a:latin typeface="맑은 고딕"/>
              </a:rPr>
              <a:t>  – 테이블 단위 cascade 는 67/70번 정식 통합 시 보강 예정</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10-1. 진단 스케줄 — 등록</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cron 표현식 + 진단 유형 + 즉시 실행 + 동시 실행 방어</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스케줄 등록</a:t>
            </a:r>
          </a:p>
          <a:p>
            <a:pPr algn="l"/>
            <a:r>
              <a:rPr sz="1800">
                <a:solidFill>
                  <a:srgbClr val="546E7A"/>
                </a:solidFill>
                <a:latin typeface="맑은 고딕"/>
              </a:rPr>
              <a:t>  – [진단 스케줄] → [등록] 모달</a:t>
            </a:r>
          </a:p>
          <a:p>
            <a:pPr algn="l"/>
            <a:r>
              <a:rPr sz="1800">
                <a:solidFill>
                  <a:srgbClr val="546E7A"/>
                </a:solidFill>
                <a:latin typeface="맑은 고딕"/>
              </a:rPr>
              <a:t>  – cron 표현식 (예: '0 0 9 * * MON-FRI' — 평일 9시)</a:t>
            </a:r>
          </a:p>
          <a:p>
            <a:pPr algn="l"/>
            <a:r>
              <a:rPr sz="1800">
                <a:solidFill>
                  <a:srgbClr val="546E7A"/>
                </a:solidFill>
                <a:latin typeface="맑은 고딕"/>
              </a:rPr>
              <a:t>  – 진단 유형 — STND / STRUCT / BOTH</a:t>
            </a:r>
          </a:p>
          <a:p>
            <a:pPr algn="l"/>
            <a:r>
              <a:rPr sz="1800">
                <a:solidFill>
                  <a:srgbClr val="546E7A"/>
                </a:solidFill>
                <a:latin typeface="맑은 고딕"/>
              </a:rPr>
              <a:t>  – 대상 모델 + 활성/비활성 토글</a:t>
            </a:r>
          </a:p>
          <a:p>
            <a:pPr algn="l"/>
            <a:r>
              <a:rPr sz="1800" b="1">
                <a:solidFill>
                  <a:srgbClr val="1A237E"/>
                </a:solidFill>
                <a:latin typeface="맑은 고딕"/>
              </a:rPr>
              <a:t>• 즉시 실행 (runNow)</a:t>
            </a:r>
          </a:p>
          <a:p>
            <a:pPr algn="l"/>
            <a:r>
              <a:rPr sz="1800">
                <a:solidFill>
                  <a:srgbClr val="546E7A"/>
                </a:solidFill>
                <a:latin typeface="맑은 고딕"/>
              </a:rPr>
              <a:t>  – 테스트용 강제 트리거 — cron 무시 + 즉시 결과 row 생성</a:t>
            </a:r>
          </a:p>
          <a:p>
            <a:pPr algn="l"/>
            <a:r>
              <a:rPr sz="1800" b="1">
                <a:solidFill>
                  <a:srgbClr val="1A237E"/>
                </a:solidFill>
                <a:latin typeface="맑은 고딕"/>
              </a:rPr>
              <a:t>• 동시 실행 방어</a:t>
            </a:r>
          </a:p>
          <a:p>
            <a:pPr algn="l"/>
            <a:r>
              <a:rPr sz="1800">
                <a:solidFill>
                  <a:srgbClr val="546E7A"/>
                </a:solidFill>
                <a:latin typeface="맑은 고딕"/>
              </a:rPr>
              <a:t>  – 같은 모델/유형 진행 중이면 SKIP (자동 검증)</a:t>
            </a:r>
          </a:p>
          <a:p>
            <a:pPr algn="l"/>
            <a:r>
              <a:rPr sz="1800" b="1">
                <a:solidFill>
                  <a:srgbClr val="1A237E"/>
                </a:solidFill>
                <a:latin typeface="맑은 고딕"/>
              </a:rPr>
              <a:t>• 권한</a:t>
            </a:r>
          </a:p>
          <a:p>
            <a:pPr algn="l"/>
            <a:r>
              <a:rPr sz="1800">
                <a:solidFill>
                  <a:srgbClr val="546E7A"/>
                </a:solidFill>
                <a:latin typeface="맑은 고딕"/>
              </a:rPr>
              <a:t>  – 등록·수정·삭제·즉시 실행은 관리자 전용 (admin gate)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10-2. 스케줄 실행 이력</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시간/모델/유형/상태/소요시간 + drawer 상세</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그리드 컬럼</a:t>
            </a:r>
          </a:p>
          <a:p>
            <a:pPr algn="l"/>
            <a:r>
              <a:rPr sz="1800">
                <a:solidFill>
                  <a:srgbClr val="546E7A"/>
                </a:solidFill>
                <a:latin typeface="맑은 고딕"/>
              </a:rPr>
              <a:t>  – 실행 시각 / 모델명 / 진단 유형 / 상태 (성공/실패/SKIP)</a:t>
            </a:r>
          </a:p>
          <a:p>
            <a:pPr algn="l"/>
            <a:r>
              <a:rPr sz="1800">
                <a:solidFill>
                  <a:srgbClr val="546E7A"/>
                </a:solidFill>
                <a:latin typeface="맑은 고딕"/>
              </a:rPr>
              <a:t>  – 소요 시간 / 실행 사용자 / 결과 카운트</a:t>
            </a:r>
          </a:p>
          <a:p>
            <a:pPr algn="l"/>
            <a:r>
              <a:rPr sz="1800" b="1">
                <a:solidFill>
                  <a:srgbClr val="1A237E"/>
                </a:solidFill>
                <a:latin typeface="맑은 고딕"/>
              </a:rPr>
              <a:t>• 필터</a:t>
            </a:r>
          </a:p>
          <a:p>
            <a:pPr algn="l"/>
            <a:r>
              <a:rPr sz="1800">
                <a:solidFill>
                  <a:srgbClr val="546E7A"/>
                </a:solidFill>
                <a:latin typeface="맑은 고딕"/>
              </a:rPr>
              <a:t>  – 기간 (from/to) / 모델 / 유형 / 상태</a:t>
            </a:r>
          </a:p>
          <a:p>
            <a:pPr algn="l"/>
            <a:r>
              <a:rPr sz="1800" b="1">
                <a:solidFill>
                  <a:srgbClr val="1A237E"/>
                </a:solidFill>
                <a:latin typeface="맑은 고딕"/>
              </a:rPr>
              <a:t>• Drawer 상세</a:t>
            </a:r>
          </a:p>
          <a:p>
            <a:pPr algn="l"/>
            <a:r>
              <a:rPr sz="1800">
                <a:solidFill>
                  <a:srgbClr val="546E7A"/>
                </a:solidFill>
                <a:latin typeface="맑은 고딕"/>
              </a:rPr>
              <a:t>  – 행 클릭 → 상세 — 진단 ID 링크 (결과 화면으로 점프)</a:t>
            </a:r>
          </a:p>
          <a:p>
            <a:pPr algn="l"/>
            <a:r>
              <a:rPr sz="1800">
                <a:solidFill>
                  <a:srgbClr val="546E7A"/>
                </a:solidFill>
                <a:latin typeface="맑은 고딕"/>
              </a:rPr>
              <a:t>  – 에러 케이스 — 스택트레이스 + 원인 분석 단서</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10-3. 진단 스케줄 — 권한 (관리자 게이트)</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일반 사용자는 조회만 — UI 비활성 + API 403 양쪽 검증</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관리자 (isAdmin=true)</a:t>
            </a:r>
          </a:p>
          <a:p>
            <a:pPr algn="l"/>
            <a:r>
              <a:rPr sz="1800">
                <a:solidFill>
                  <a:srgbClr val="546E7A"/>
                </a:solidFill>
                <a:latin typeface="맑은 고딕"/>
              </a:rPr>
              <a:t>  – [등록] / [수정] / [삭제] / [즉시 실행] 버튼 노출</a:t>
            </a:r>
          </a:p>
          <a:p>
            <a:pPr algn="l"/>
            <a:r>
              <a:rPr sz="1800">
                <a:solidFill>
                  <a:srgbClr val="546E7A"/>
                </a:solidFill>
                <a:latin typeface="맑은 고딕"/>
              </a:rPr>
              <a:t>  – 스케줄 활성/비활성 토글 가능</a:t>
            </a:r>
          </a:p>
          <a:p>
            <a:pPr algn="l"/>
            <a:r>
              <a:rPr sz="1800" b="1">
                <a:solidFill>
                  <a:srgbClr val="1A237E"/>
                </a:solidFill>
                <a:latin typeface="맑은 고딕"/>
              </a:rPr>
              <a:t>• 일반 사용자</a:t>
            </a:r>
          </a:p>
          <a:p>
            <a:pPr algn="l"/>
            <a:r>
              <a:rPr sz="1800">
                <a:solidFill>
                  <a:srgbClr val="546E7A"/>
                </a:solidFill>
                <a:latin typeface="맑은 고딕"/>
              </a:rPr>
              <a:t>  – 그리드 조회만 — 모든 액션 버튼 비활성</a:t>
            </a:r>
          </a:p>
          <a:p>
            <a:pPr algn="l"/>
            <a:r>
              <a:rPr sz="1800">
                <a:solidFill>
                  <a:srgbClr val="546E7A"/>
                </a:solidFill>
                <a:latin typeface="맑은 고딕"/>
              </a:rPr>
              <a:t>  – API 직접 호출 시도 → 403 Forbidden (서버 검증)</a:t>
            </a:r>
          </a:p>
          <a:p>
            <a:pPr algn="l"/>
            <a:r>
              <a:rPr sz="1800" b="1">
                <a:solidFill>
                  <a:srgbClr val="1A237E"/>
                </a:solidFill>
                <a:latin typeface="맑은 고딕"/>
              </a:rPr>
              <a:t>• 검증</a:t>
            </a:r>
          </a:p>
          <a:p>
            <a:pPr algn="l"/>
            <a:r>
              <a:rPr sz="1800">
                <a:solidFill>
                  <a:srgbClr val="546E7A"/>
                </a:solidFill>
                <a:latin typeface="맑은 고딕"/>
              </a:rPr>
              <a:t>  – test_phase4_ui_admin_gate.py — 4/4 PASS</a:t>
            </a:r>
          </a:p>
          <a:p>
            <a:pPr algn="l"/>
            <a:r>
              <a:rPr sz="1800">
                <a:solidFill>
                  <a:srgbClr val="546E7A"/>
                </a:solidFill>
                <a:latin typeface="맑은 고딕"/>
              </a:rPr>
              <a:t>  – test_perm_matrix.py — admin/user 권한 매트릭스 자동 검증</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11-1. 마이페이지</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내 정보 + 요청 현황</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내 정보</a:t>
            </a:r>
          </a:p>
          <a:p>
            <a:pPr algn="l"/>
            <a:r>
              <a:rPr sz="1800">
                <a:solidFill>
                  <a:srgbClr val="546E7A"/>
                </a:solidFill>
                <a:latin typeface="맑은 고딕"/>
              </a:rPr>
              <a:t>  – 비밀번호 변경 (현재 비밀번호 검증 + 새 비밀번호 + 확인)</a:t>
            </a:r>
          </a:p>
          <a:p>
            <a:pPr algn="l"/>
            <a:r>
              <a:rPr sz="1800">
                <a:solidFill>
                  <a:srgbClr val="546E7A"/>
                </a:solidFill>
                <a:latin typeface="맑은 고딕"/>
              </a:rPr>
              <a:t>  – 마지막 로그인 시각</a:t>
            </a:r>
          </a:p>
          <a:p>
            <a:pPr algn="l"/>
            <a:r>
              <a:rPr sz="1800" b="1">
                <a:solidFill>
                  <a:srgbClr val="1A237E"/>
                </a:solidFill>
                <a:latin typeface="맑은 고딕"/>
              </a:rPr>
              <a:t>• 요청 현황 (DSMyRequest)</a:t>
            </a:r>
          </a:p>
          <a:p>
            <a:pPr algn="l"/>
            <a:r>
              <a:rPr sz="1800">
                <a:solidFill>
                  <a:srgbClr val="546E7A"/>
                </a:solidFill>
                <a:latin typeface="맑은 고딕"/>
              </a:rPr>
              <a:t>  – 본인이 신청한 단어/용어/도메인 승인 상태</a:t>
            </a:r>
          </a:p>
          <a:p>
            <a:pPr algn="l"/>
            <a:r>
              <a:rPr sz="1800">
                <a:solidFill>
                  <a:srgbClr val="546E7A"/>
                </a:solidFill>
                <a:latin typeface="맑은 고딕"/>
              </a:rPr>
              <a:t>  – 카드 4개 — 전체 / 대기 / 승인 / 반려 (필터 클릭 가능)</a:t>
            </a:r>
          </a:p>
          <a:p>
            <a:pPr algn="l"/>
            <a:r>
              <a:rPr sz="1800">
                <a:solidFill>
                  <a:srgbClr val="546E7A"/>
                </a:solidFill>
                <a:latin typeface="맑은 고딕"/>
              </a:rPr>
              <a:t>  – 그리드 + 상세 패널 (반려 사유 표시)</a:t>
            </a:r>
          </a:p>
          <a:p>
            <a:pPr algn="l"/>
            <a:r>
              <a:rPr sz="1800">
                <a:solidFill>
                  <a:srgbClr val="546E7A"/>
                </a:solidFill>
                <a:latin typeface="맑은 고딕"/>
              </a:rPr>
              <a:t>  – 검색 — 유형 / 기간 (datetime range)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11-2. 관리 (관리자 전용)</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사용자 + 승인 + 데이터 소스</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사용자 관리</a:t>
            </a:r>
          </a:p>
          <a:p>
            <a:pPr algn="l"/>
            <a:r>
              <a:rPr sz="1800">
                <a:solidFill>
                  <a:srgbClr val="546E7A"/>
                </a:solidFill>
                <a:latin typeface="맑은 고딕"/>
              </a:rPr>
              <a:t>  – 사용자 등록 / 비활성화 / 권한 변경 (admin 토글)</a:t>
            </a:r>
          </a:p>
          <a:p>
            <a:pPr algn="l"/>
            <a:r>
              <a:rPr sz="1800">
                <a:solidFill>
                  <a:srgbClr val="546E7A"/>
                </a:solidFill>
                <a:latin typeface="맑은 고딕"/>
              </a:rPr>
              <a:t>  – 비밀번호 초기화 (관리자 강제 리셋)</a:t>
            </a:r>
          </a:p>
          <a:p>
            <a:pPr algn="l"/>
            <a:r>
              <a:rPr sz="1800" b="1">
                <a:solidFill>
                  <a:srgbClr val="1A237E"/>
                </a:solidFill>
                <a:latin typeface="맑은 고딕"/>
              </a:rPr>
              <a:t>• 승인</a:t>
            </a:r>
          </a:p>
          <a:p>
            <a:pPr algn="l"/>
            <a:r>
              <a:rPr sz="1800">
                <a:solidFill>
                  <a:srgbClr val="546E7A"/>
                </a:solidFill>
                <a:latin typeface="맑은 고딕"/>
              </a:rPr>
              <a:t>  – 행별 [승인]/[반려] 인라인 (사유 입력)</a:t>
            </a:r>
          </a:p>
          <a:p>
            <a:pPr algn="l"/>
            <a:r>
              <a:rPr sz="1800">
                <a:solidFill>
                  <a:srgbClr val="546E7A"/>
                </a:solidFill>
                <a:latin typeface="맑은 고딕"/>
              </a:rPr>
              <a:t>  – 단어 선승인 + cascade 반려 + 반려 후 물리 삭제 정책</a:t>
            </a:r>
          </a:p>
          <a:p>
            <a:pPr algn="l"/>
            <a:r>
              <a:rPr sz="1800" b="1">
                <a:solidFill>
                  <a:srgbClr val="1A237E"/>
                </a:solidFill>
                <a:latin typeface="맑은 고딕"/>
              </a:rPr>
              <a:t>• 데이터 소스</a:t>
            </a:r>
          </a:p>
          <a:p>
            <a:pPr algn="l"/>
            <a:r>
              <a:rPr sz="1800">
                <a:solidFill>
                  <a:srgbClr val="546E7A"/>
                </a:solidFill>
                <a:latin typeface="맑은 고딕"/>
              </a:rPr>
              <a:t>  – 외부 DBMS 연결 정보 (jasypt 암호화)</a:t>
            </a:r>
          </a:p>
          <a:p>
            <a:pPr algn="l"/>
            <a:r>
              <a:rPr sz="1800">
                <a:solidFill>
                  <a:srgbClr val="546E7A"/>
                </a:solidFill>
                <a:latin typeface="맑은 고딕"/>
              </a:rPr>
              <a:t>  – Oracle SID/Service Name 양쪽 지원 (drivers.xml swap)</a:t>
            </a:r>
          </a:p>
          <a:p>
            <a:pPr algn="l"/>
            <a:r>
              <a:rPr sz="1800">
                <a:solidFill>
                  <a:srgbClr val="546E7A"/>
                </a:solidFill>
                <a:latin typeface="맑은 고딕"/>
              </a:rPr>
              <a:t>  – [연결 테스트] — 즉시 검증</a:t>
            </a:r>
          </a:p>
          <a:p>
            <a:pPr algn="l"/>
            <a:r>
              <a:rPr sz="1800" b="1">
                <a:solidFill>
                  <a:srgbClr val="1A237E"/>
                </a:solidFill>
                <a:latin typeface="맑은 고딕"/>
              </a:rPr>
              <a:t>• 메뉴 가시성</a:t>
            </a:r>
          </a:p>
          <a:p>
            <a:pPr algn="l"/>
            <a:r>
              <a:rPr sz="1800">
                <a:solidFill>
                  <a:srgbClr val="546E7A"/>
                </a:solidFill>
                <a:latin typeface="맑은 고딕"/>
              </a:rPr>
              <a:t>  – isAdmin=false → '관리' 그룹 자체 DOM 미렌더 (서버 + 클라이언트 양쪽)</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12-1. 셀레니움 자동화 회귀 — 마스터 러너</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29건 통합 테스트 자동 회귀 (~25분, 종료코드 0)</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1 명령어 전체 실행</a:t>
            </a:r>
          </a:p>
          <a:p>
            <a:pPr algn="l"/>
            <a:r>
              <a:rPr sz="1800">
                <a:solidFill>
                  <a:srgbClr val="546E7A"/>
                </a:solidFill>
                <a:latin typeface="맑은 고딕"/>
              </a:rPr>
              <a:t>  – python dataQ설계/테스트/selenium/run_all.py</a:t>
            </a:r>
          </a:p>
          <a:p>
            <a:pPr algn="l"/>
            <a:r>
              <a:rPr sz="1800" b="1">
                <a:solidFill>
                  <a:srgbClr val="1A237E"/>
                </a:solidFill>
                <a:latin typeface="맑은 고딕"/>
              </a:rPr>
              <a:t>• 그룹별 진행</a:t>
            </a:r>
          </a:p>
          <a:p>
            <a:pPr algn="l"/>
            <a:r>
              <a:rPr sz="1800">
                <a:solidFill>
                  <a:srgbClr val="546E7A"/>
                </a:solidFill>
                <a:latin typeface="맑은 고딕"/>
              </a:rPr>
              <a:t>  – API/Login 5 / 표준 사전 5 / 데이터 모델 11 / 논리물리 3 / 진단 스케줄 4 / 79번 1</a:t>
            </a:r>
          </a:p>
          <a:p>
            <a:pPr algn="l"/>
            <a:r>
              <a:rPr sz="1800" b="1">
                <a:solidFill>
                  <a:srgbClr val="1A237E"/>
                </a:solidFill>
                <a:latin typeface="맑은 고딕"/>
              </a:rPr>
              <a:t>• Per-test cleanup hook</a:t>
            </a:r>
          </a:p>
          <a:p>
            <a:pPr algn="l"/>
            <a:r>
              <a:rPr sz="1800">
                <a:solidFill>
                  <a:srgbClr val="546E7A"/>
                </a:solidFill>
                <a:latin typeface="맑은 고딕"/>
              </a:rPr>
              <a:t>  – DB 폴루션 자동 DELETE — ^(셀|테스트), 셀도메인%, IMSI_*</a:t>
            </a:r>
          </a:p>
          <a:p>
            <a:pPr algn="l"/>
            <a:r>
              <a:rPr sz="1800">
                <a:solidFill>
                  <a:srgbClr val="546E7A"/>
                </a:solidFill>
                <a:latin typeface="맑은 고딕"/>
              </a:rPr>
              <a:t>  – 좀비 Edge 프로세스 정리 — taskkill msedgedriver.exe</a:t>
            </a:r>
          </a:p>
          <a:p>
            <a:pPr algn="l"/>
            <a:r>
              <a:rPr sz="1800">
                <a:solidFill>
                  <a:srgbClr val="546E7A"/>
                </a:solidFill>
                <a:latin typeface="맑은 고딕"/>
              </a:rPr>
              <a:t>  – → 28건 순차 실행 시 누적 폴루션으로 인한 플레이키 0</a:t>
            </a:r>
          </a:p>
          <a:p>
            <a:pPr algn="l"/>
            <a:r>
              <a:rPr sz="1800" b="1">
                <a:solidFill>
                  <a:srgbClr val="1A237E"/>
                </a:solidFill>
                <a:latin typeface="맑은 고딕"/>
              </a:rPr>
              <a:t>• 변경 후 즉시 회귀</a:t>
            </a:r>
          </a:p>
          <a:p>
            <a:pPr algn="l"/>
            <a:r>
              <a:rPr sz="1800">
                <a:solidFill>
                  <a:srgbClr val="546E7A"/>
                </a:solidFill>
                <a:latin typeface="맑은 고딕"/>
              </a:rPr>
              <a:t>  – 각 테스트 단일 실행 가능 — 변경 영향 영역만 빠르게 검증</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12-2. 회귀 결과 — 29 PASS / 0 FAIL</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오늘 마스터 러너 결과 (1675초, exit 0) — 동일 결과 2회 재현</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그룹별 결과</a:t>
            </a:r>
          </a:p>
          <a:p>
            <a:pPr algn="l"/>
            <a:r>
              <a:rPr sz="1800">
                <a:solidFill>
                  <a:srgbClr val="546E7A"/>
                </a:solidFill>
                <a:latin typeface="맑은 고딕"/>
              </a:rPr>
              <a:t>  – API/Login (가벼움) — 5/5 PASS</a:t>
            </a:r>
          </a:p>
          <a:p>
            <a:pPr algn="l"/>
            <a:r>
              <a:rPr sz="1800">
                <a:solidFill>
                  <a:srgbClr val="546E7A"/>
                </a:solidFill>
                <a:latin typeface="맑은 고딕"/>
              </a:rPr>
              <a:t>  – 표준 사전 — 5/5 PASS (test_term_register_v2 v2 포함)</a:t>
            </a:r>
          </a:p>
          <a:p>
            <a:pPr algn="l"/>
            <a:r>
              <a:rPr sz="1800">
                <a:solidFill>
                  <a:srgbClr val="546E7A"/>
                </a:solidFill>
                <a:latin typeface="맑은 고딕"/>
              </a:rPr>
              <a:t>  – 데이터 모델 (Phase 5) — 11/11 PASS</a:t>
            </a:r>
          </a:p>
          <a:p>
            <a:pPr algn="l"/>
            <a:r>
              <a:rPr sz="1800">
                <a:solidFill>
                  <a:srgbClr val="546E7A"/>
                </a:solidFill>
                <a:latin typeface="맑은 고딕"/>
              </a:rPr>
              <a:t>  – 논리/물리 모델 진단 — 3/3 PASS</a:t>
            </a:r>
          </a:p>
          <a:p>
            <a:pPr algn="l"/>
            <a:r>
              <a:rPr sz="1800">
                <a:solidFill>
                  <a:srgbClr val="546E7A"/>
                </a:solidFill>
                <a:latin typeface="맑은 고딕"/>
              </a:rPr>
              <a:t>  – 진단 스케줄 (Phase 2~4) — 4/4 PASS</a:t>
            </a:r>
          </a:p>
          <a:p>
            <a:pPr algn="l"/>
            <a:r>
              <a:rPr sz="1800">
                <a:solidFill>
                  <a:srgbClr val="546E7A"/>
                </a:solidFill>
                <a:latin typeface="맑은 고딕"/>
              </a:rPr>
              <a:t>  – 진단 제외 관리 (79번) — 1/1 PASS (12 phase, 228초)</a:t>
            </a:r>
          </a:p>
          <a:p>
            <a:pPr algn="l"/>
            <a:r>
              <a:rPr sz="1800" b="1">
                <a:solidFill>
                  <a:srgbClr val="1A237E"/>
                </a:solidFill>
                <a:latin typeface="맑은 고딕"/>
              </a:rPr>
              <a:t>• → 합계 29 PASS / 0 FAIL / 1675초</a:t>
            </a:r>
          </a:p>
          <a:p>
            <a:pPr algn="l"/>
            <a:r>
              <a:rPr sz="1800" b="1">
                <a:solidFill>
                  <a:srgbClr val="1A237E"/>
                </a:solidFill>
                <a:latin typeface="맑은 고딕"/>
              </a:rPr>
              <a:t>• 재현성</a:t>
            </a:r>
          </a:p>
          <a:p>
            <a:pPr algn="l"/>
            <a:r>
              <a:rPr sz="1800">
                <a:solidFill>
                  <a:srgbClr val="546E7A"/>
                </a:solidFill>
                <a:latin typeface="맑은 고딕"/>
              </a:rPr>
              <a:t>  – 동일 환경에서 2회 연속 회귀 — 1624초 / 1675초 (편차 ±50초)</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430000" cy="548640"/>
          </a:xfrm>
          <a:prstGeom prst="rect">
            <a:avLst/>
          </a:prstGeom>
          <a:noFill/>
        </p:spPr>
        <p:txBody>
          <a:bodyPr wrap="square" anchor="t">
            <a:spAutoFit/>
          </a:bodyPr>
          <a:lstStyle/>
          <a:p>
            <a:pPr algn="l"/>
            <a:r>
              <a:rPr sz="2800" b="1">
                <a:solidFill>
                  <a:srgbClr val="FFFFFF"/>
                </a:solidFill>
                <a:latin typeface="맑은 고딕"/>
              </a:rPr>
              <a:t>13. SMETA 대비 차별화 (75/76/77/78번 분석 결과)</a:t>
            </a:r>
          </a:p>
        </p:txBody>
      </p:sp>
      <p:sp>
        <p:nvSpPr>
          <p:cNvPr id="5" name="TextBox 4"/>
          <p:cNvSpPr txBox="1"/>
          <p:nvPr/>
        </p:nvSpPr>
        <p:spPr>
          <a:xfrm>
            <a:off x="457200" y="594360"/>
            <a:ext cx="11430000" cy="365760"/>
          </a:xfrm>
          <a:prstGeom prst="rect">
            <a:avLst/>
          </a:prstGeom>
          <a:noFill/>
        </p:spPr>
        <p:txBody>
          <a:bodyPr wrap="square" anchor="t">
            <a:spAutoFit/>
          </a:bodyPr>
          <a:lstStyle/>
          <a:p>
            <a:pPr algn="l"/>
            <a:r>
              <a:rPr sz="1400" b="0">
                <a:solidFill>
                  <a:srgbClr val="FFFFFF"/>
                </a:solidFill>
                <a:latin typeface="맑은 고딕"/>
              </a:rPr>
              <a:t>자동 표준화 + 진단 제외 관리 + 권한 자동 검증 + 한국 표준</a:t>
            </a:r>
          </a:p>
        </p:txBody>
      </p:sp>
      <p:sp>
        <p:nvSpPr>
          <p:cNvPr id="6" name="TextBox 5"/>
          <p:cNvSpPr txBox="1"/>
          <p:nvPr/>
        </p:nvSpPr>
        <p:spPr>
          <a:xfrm>
            <a:off x="548640" y="1188720"/>
            <a:ext cx="10972800" cy="5212080"/>
          </a:xfrm>
          <a:prstGeom prst="rect">
            <a:avLst/>
          </a:prstGeom>
          <a:noFill/>
        </p:spPr>
        <p:txBody>
          <a:bodyPr wrap="square">
            <a:spAutoFit/>
          </a:bodyPr>
          <a:lstStyle/>
          <a:p>
            <a:pPr algn="l"/>
            <a:r>
              <a:rPr sz="1800" b="1">
                <a:solidFill>
                  <a:srgbClr val="1A237E"/>
                </a:solidFill>
                <a:latin typeface="맑은 고딕"/>
              </a:rPr>
              <a:t>• 자동 표준화 엔진</a:t>
            </a:r>
          </a:p>
          <a:p>
            <a:pPr algn="l"/>
            <a:r>
              <a:rPr sz="1800">
                <a:solidFill>
                  <a:srgbClr val="546E7A"/>
                </a:solidFill>
                <a:latin typeface="맑은 고딕"/>
              </a:rPr>
              <a:t>  – DataQ — DP 점수 + 동의어 cascade + 사후처리 재검색 (자동)</a:t>
            </a:r>
          </a:p>
          <a:p>
            <a:pPr algn="l"/>
            <a:r>
              <a:rPr sz="1800">
                <a:solidFill>
                  <a:srgbClr val="546E7A"/>
                </a:solidFill>
                <a:latin typeface="맑은 고딕"/>
              </a:rPr>
              <a:t>  – SMETA — 단어 분리 수동, 영문약어 사용자 직접 입력</a:t>
            </a:r>
          </a:p>
          <a:p>
            <a:pPr algn="l"/>
            <a:r>
              <a:rPr sz="1800" b="1">
                <a:solidFill>
                  <a:srgbClr val="1A237E"/>
                </a:solidFill>
                <a:latin typeface="맑은 고딕"/>
              </a:rPr>
              <a:t>• 진단 제외 관리</a:t>
            </a:r>
          </a:p>
          <a:p>
            <a:pPr algn="l"/>
            <a:r>
              <a:rPr sz="1800">
                <a:solidFill>
                  <a:srgbClr val="546E7A"/>
                </a:solidFill>
                <a:latin typeface="맑은 고딕"/>
              </a:rPr>
              <a:t>  – DataQ — 메뉴 화면 + cascade + 사유 + 변경 이력 (이번 세션 신규)</a:t>
            </a:r>
          </a:p>
          <a:p>
            <a:pPr algn="l"/>
            <a:r>
              <a:rPr sz="1800">
                <a:solidFill>
                  <a:srgbClr val="546E7A"/>
                </a:solidFill>
                <a:latin typeface="맑은 고딕"/>
              </a:rPr>
              <a:t>  – SMETA — 미지원</a:t>
            </a:r>
          </a:p>
          <a:p>
            <a:pPr algn="l"/>
            <a:r>
              <a:rPr sz="1800" b="1">
                <a:solidFill>
                  <a:srgbClr val="1A237E"/>
                </a:solidFill>
                <a:latin typeface="맑은 고딕"/>
              </a:rPr>
              <a:t>• 권한 매트릭스 자동 검증</a:t>
            </a:r>
          </a:p>
          <a:p>
            <a:pPr algn="l"/>
            <a:r>
              <a:rPr sz="1800">
                <a:solidFill>
                  <a:srgbClr val="546E7A"/>
                </a:solidFill>
                <a:latin typeface="맑은 고딕"/>
              </a:rPr>
              <a:t>  – DataQ — test_perm_matrix / phase4_ui_admin_gate 자동 회귀</a:t>
            </a:r>
          </a:p>
          <a:p>
            <a:pPr algn="l"/>
            <a:r>
              <a:rPr sz="1800">
                <a:solidFill>
                  <a:srgbClr val="546E7A"/>
                </a:solidFill>
                <a:latin typeface="맑은 고딕"/>
              </a:rPr>
              <a:t>  – SMETA — 수동 검증</a:t>
            </a:r>
          </a:p>
          <a:p>
            <a:pPr algn="l"/>
            <a:r>
              <a:rPr sz="1800" b="1">
                <a:solidFill>
                  <a:srgbClr val="1A237E"/>
                </a:solidFill>
                <a:latin typeface="맑은 고딕"/>
              </a:rPr>
              <a:t>• 한국 표준 직접 반영</a:t>
            </a:r>
          </a:p>
          <a:p>
            <a:pPr algn="l"/>
            <a:r>
              <a:rPr sz="1800">
                <a:solidFill>
                  <a:srgbClr val="546E7A"/>
                </a:solidFill>
                <a:latin typeface="맑은 고딕"/>
              </a:rPr>
              <a:t>  – DataQ — 행안부 형식단어, 분류어 → 형식단어 통일, 행안부 표준 단어 3,300건 시드</a:t>
            </a:r>
          </a:p>
          <a:p>
            <a:pPr algn="l"/>
            <a:r>
              <a:rPr sz="1800">
                <a:solidFill>
                  <a:srgbClr val="546E7A"/>
                </a:solidFill>
                <a:latin typeface="맑은 고딕"/>
              </a:rPr>
              <a:t>  – SMETA — 일반 표준 (한국 특화 보강 별도)</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698480" cy="731520"/>
          </a:xfrm>
          <a:prstGeom prst="rect">
            <a:avLst/>
          </a:prstGeom>
          <a:noFill/>
        </p:spPr>
        <p:txBody>
          <a:bodyPr wrap="square" anchor="t">
            <a:spAutoFit/>
          </a:bodyPr>
          <a:lstStyle/>
          <a:p>
            <a:pPr algn="ctr"/>
            <a:r>
              <a:rPr sz="5600" b="1">
                <a:solidFill>
                  <a:srgbClr val="FFFFFF"/>
                </a:solidFill>
                <a:latin typeface="맑은 고딕"/>
              </a:rPr>
              <a:t>Thank you</a:t>
            </a:r>
          </a:p>
        </p:txBody>
      </p:sp>
      <p:sp>
        <p:nvSpPr>
          <p:cNvPr id="4" name="TextBox 3"/>
          <p:cNvSpPr txBox="1"/>
          <p:nvPr/>
        </p:nvSpPr>
        <p:spPr>
          <a:xfrm>
            <a:off x="731520" y="2468880"/>
            <a:ext cx="10698480" cy="548640"/>
          </a:xfrm>
          <a:prstGeom prst="rect">
            <a:avLst/>
          </a:prstGeom>
          <a:noFill/>
        </p:spPr>
        <p:txBody>
          <a:bodyPr wrap="square" anchor="t">
            <a:spAutoFit/>
          </a:bodyPr>
          <a:lstStyle/>
          <a:p>
            <a:pPr algn="ctr"/>
            <a:r>
              <a:rPr sz="3600" b="0">
                <a:solidFill>
                  <a:srgbClr val="FFFFFF"/>
                </a:solidFill>
                <a:latin typeface="맑은 고딕"/>
              </a:rPr>
              <a:t>Q &amp; A</a:t>
            </a:r>
          </a:p>
        </p:txBody>
      </p:sp>
      <p:sp>
        <p:nvSpPr>
          <p:cNvPr id="5" name="TextBox 4"/>
          <p:cNvSpPr txBox="1"/>
          <p:nvPr/>
        </p:nvSpPr>
        <p:spPr>
          <a:xfrm>
            <a:off x="731520" y="3657600"/>
            <a:ext cx="10698480" cy="2286000"/>
          </a:xfrm>
          <a:prstGeom prst="rect">
            <a:avLst/>
          </a:prstGeom>
          <a:noFill/>
        </p:spPr>
        <p:txBody>
          <a:bodyPr wrap="square" anchor="t">
            <a:spAutoFit/>
          </a:bodyPr>
          <a:lstStyle/>
          <a:p>
            <a:pPr algn="ctr"/>
            <a:r>
              <a:rPr sz="1600" b="0">
                <a:solidFill>
                  <a:srgbClr val="C5CAE9"/>
                </a:solidFill>
                <a:latin typeface="맑은 고딕"/>
              </a:rPr>
              <a:t>오늘 시연한 영역 요약</a:t>
            </a:r>
          </a:p>
          <a:p>
            <a:pPr algn="ctr"/>
            <a:r>
              <a:rPr sz="1600" b="0">
                <a:solidFill>
                  <a:srgbClr val="C5CAE9"/>
                </a:solidFill>
                <a:latin typeface="맑은 고딕"/>
              </a:rPr>
              <a:t>  • 모든 메뉴 (1~11) 핵심 기능 + 신규 기능 (79번 진단 제외, 81/82번 용어 등록 v2)</a:t>
            </a:r>
          </a:p>
          <a:p>
            <a:pPr algn="ctr"/>
            <a:r>
              <a:rPr sz="1600" b="0">
                <a:solidFill>
                  <a:srgbClr val="C5CAE9"/>
                </a:solidFill>
                <a:latin typeface="맑은 고딕"/>
              </a:rPr>
              <a:t>  • 자동화 회귀 (29 PASS / 0 FAIL / 1624초)</a:t>
            </a:r>
          </a:p>
          <a:p>
            <a:pPr algn="ctr"/>
            <a:r>
              <a:rPr sz="1600" b="0">
                <a:solidFill>
                  <a:srgbClr val="C5CAE9"/>
                </a:solidFill>
                <a:latin typeface="맑은 고딕"/>
              </a:rPr>
              <a:t>  • SMETA 대비 차별화 4 영역</a:t>
            </a:r>
          </a:p>
          <a:p>
            <a:pPr algn="ctr"/>
            <a:r>
              <a:rPr sz="1600" b="0">
                <a:solidFill>
                  <a:srgbClr val="C5CAE9"/>
                </a:solidFill>
                <a:latin typeface="맑은 고딕"/>
              </a:rPr>
              <a:t/>
            </a:r>
          </a:p>
          <a:p>
            <a:pPr algn="ctr"/>
            <a:r>
              <a:rPr sz="1600" b="0">
                <a:solidFill>
                  <a:srgbClr val="C5CAE9"/>
                </a:solidFill>
                <a:latin typeface="맑은 고딕"/>
              </a:rPr>
              <a:t>참조 문서</a:t>
            </a:r>
          </a:p>
          <a:p>
            <a:pPr algn="ctr"/>
            <a:r>
              <a:rPr sz="1600" b="0">
                <a:solidFill>
                  <a:srgbClr val="C5CAE9"/>
                </a:solidFill>
                <a:latin typeface="맑은 고딕"/>
              </a:rPr>
              <a:t>  • dataQ설계/Narae_DataQ_사용자매뉴얼.md (v2.1)</a:t>
            </a:r>
          </a:p>
          <a:p>
            <a:pPr algn="ctr"/>
            <a:r>
              <a:rPr sz="1600" b="0">
                <a:solidFill>
                  <a:srgbClr val="C5CAE9"/>
                </a:solidFill>
                <a:latin typeface="맑은 고딕"/>
              </a:rPr>
              <a:t>  • dataQ설계/테스트/통합테스트시연/ (그룹별 시연 절차서)</a:t>
            </a:r>
          </a:p>
          <a:p>
            <a:pPr algn="ctr"/>
            <a:r>
              <a:rPr sz="1600" b="0">
                <a:solidFill>
                  <a:srgbClr val="C5CAE9"/>
                </a:solidFill>
                <a:latin typeface="맑은 고딕"/>
              </a:rPr>
              <a:t>  • dataQ설계/시연/종합시연_대본.md (본 발표 대본)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