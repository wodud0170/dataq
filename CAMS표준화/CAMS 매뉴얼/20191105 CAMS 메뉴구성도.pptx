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9" r:id="rId2"/>
    <p:sldId id="260" r:id="rId3"/>
    <p:sldId id="261" r:id="rId4"/>
    <p:sldId id="262" r:id="rId5"/>
    <p:sldId id="263" r:id="rId6"/>
    <p:sldId id="265" r:id="rId7"/>
    <p:sldId id="266" r:id="rId8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9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743" autoAdjust="0"/>
  </p:normalViewPr>
  <p:slideViewPr>
    <p:cSldViewPr showGuides="1">
      <p:cViewPr>
        <p:scale>
          <a:sx n="125" d="100"/>
          <a:sy n="125" d="100"/>
        </p:scale>
        <p:origin x="-288" y="-7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6332"/>
          </a:xfrm>
          <a:prstGeom prst="rect">
            <a:avLst/>
          </a:prstGeom>
        </p:spPr>
        <p:txBody>
          <a:bodyPr vert="horz" lIns="95559" tIns="47780" rIns="95559" bIns="47780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1"/>
            <a:ext cx="2945659" cy="496332"/>
          </a:xfrm>
          <a:prstGeom prst="rect">
            <a:avLst/>
          </a:prstGeom>
        </p:spPr>
        <p:txBody>
          <a:bodyPr vert="horz" lIns="95559" tIns="47780" rIns="95559" bIns="47780" rtlCol="0"/>
          <a:lstStyle>
            <a:lvl1pPr algn="r">
              <a:defRPr sz="1300"/>
            </a:lvl1pPr>
          </a:lstStyle>
          <a:p>
            <a:fld id="{C12E2BAB-BED1-44B1-A3CE-B70BE649DDCF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6332"/>
          </a:xfrm>
          <a:prstGeom prst="rect">
            <a:avLst/>
          </a:prstGeom>
        </p:spPr>
        <p:txBody>
          <a:bodyPr vert="horz" lIns="95559" tIns="47780" rIns="95559" bIns="47780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</p:spPr>
        <p:txBody>
          <a:bodyPr vert="horz" lIns="95559" tIns="47780" rIns="95559" bIns="47780" rtlCol="0" anchor="b"/>
          <a:lstStyle>
            <a:lvl1pPr algn="r">
              <a:defRPr sz="1300"/>
            </a:lvl1pPr>
          </a:lstStyle>
          <a:p>
            <a:fld id="{BAB98DCB-06A6-4889-8710-36D7B2AC5D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46758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6332"/>
          </a:xfrm>
          <a:prstGeom prst="rect">
            <a:avLst/>
          </a:prstGeom>
        </p:spPr>
        <p:txBody>
          <a:bodyPr vert="horz" lIns="95559" tIns="47780" rIns="95559" bIns="47780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6332"/>
          </a:xfrm>
          <a:prstGeom prst="rect">
            <a:avLst/>
          </a:prstGeom>
        </p:spPr>
        <p:txBody>
          <a:bodyPr vert="horz" lIns="95559" tIns="47780" rIns="95559" bIns="47780" rtlCol="0"/>
          <a:lstStyle>
            <a:lvl1pPr algn="r">
              <a:defRPr sz="1300"/>
            </a:lvl1pPr>
          </a:lstStyle>
          <a:p>
            <a:fld id="{D07C4D2E-A67A-48EF-850F-6DA2FFC611BA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59" tIns="47780" rIns="95559" bIns="4778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5559" tIns="47780" rIns="95559" bIns="4778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6332"/>
          </a:xfrm>
          <a:prstGeom prst="rect">
            <a:avLst/>
          </a:prstGeom>
        </p:spPr>
        <p:txBody>
          <a:bodyPr vert="horz" lIns="95559" tIns="47780" rIns="95559" bIns="47780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</p:spPr>
        <p:txBody>
          <a:bodyPr vert="horz" lIns="95559" tIns="47780" rIns="95559" bIns="47780" rtlCol="0" anchor="b"/>
          <a:lstStyle>
            <a:lvl1pPr algn="r">
              <a:defRPr sz="1300"/>
            </a:lvl1pPr>
          </a:lstStyle>
          <a:p>
            <a:fld id="{8E321C07-D166-4DBB-A0E6-05E124C083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6512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321C07-D166-4DBB-A0E6-05E124C083B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0853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321C07-D166-4DBB-A0E6-05E124C083B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0853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321C07-D166-4DBB-A0E6-05E124C083B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0853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321C07-D166-4DBB-A0E6-05E124C083B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0853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321C07-D166-4DBB-A0E6-05E124C083B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0853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321C07-D166-4DBB-A0E6-05E124C083B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799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676C-B331-4485-813E-93FF88974761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FA46C-E483-4924-A998-43422FF45D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9567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676C-B331-4485-813E-93FF88974761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FA46C-E483-4924-A998-43422FF45D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009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676C-B331-4485-813E-93FF88974761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FA46C-E483-4924-A998-43422FF45D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026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676C-B331-4485-813E-93FF88974761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FA46C-E483-4924-A998-43422FF45D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112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676C-B331-4485-813E-93FF88974761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FA46C-E483-4924-A998-43422FF45D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585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676C-B331-4485-813E-93FF88974761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FA46C-E483-4924-A998-43422FF45D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203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676C-B331-4485-813E-93FF88974761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FA46C-E483-4924-A998-43422FF45D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1229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676C-B331-4485-813E-93FF88974761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FA46C-E483-4924-A998-43422FF45D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7047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676C-B331-4485-813E-93FF88974761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FA46C-E483-4924-A998-43422FF45D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455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676C-B331-4485-813E-93FF88974761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FA46C-E483-4924-A998-43422FF45D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75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676C-B331-4485-813E-93FF88974761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FA46C-E483-4924-A998-43422FF45D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0268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E8676C-B331-4485-813E-93FF88974761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FFA46C-E483-4924-A998-43422FF45D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294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그룹 88"/>
          <p:cNvGrpSpPr/>
          <p:nvPr/>
        </p:nvGrpSpPr>
        <p:grpSpPr>
          <a:xfrm>
            <a:off x="56456" y="692696"/>
            <a:ext cx="9793088" cy="5760640"/>
            <a:chOff x="56456" y="692696"/>
            <a:chExt cx="9793088" cy="5760640"/>
          </a:xfrm>
        </p:grpSpPr>
        <p:sp>
          <p:nvSpPr>
            <p:cNvPr id="90" name="AutoShape 47"/>
            <p:cNvSpPr>
              <a:spLocks noChangeArrowheads="1"/>
            </p:cNvSpPr>
            <p:nvPr/>
          </p:nvSpPr>
          <p:spPr bwMode="auto">
            <a:xfrm>
              <a:off x="56456" y="692696"/>
              <a:ext cx="9793088" cy="5760640"/>
            </a:xfrm>
            <a:prstGeom prst="roundRect">
              <a:avLst>
                <a:gd name="adj" fmla="val 4387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wrap="none" lIns="0" tIns="0" rIns="0" bIns="0" anchor="ctr"/>
            <a:lstStyle/>
            <a:p>
              <a:r>
                <a:rPr lang="en-US" altLang="ko-KR" sz="1000" dirty="0" smtClean="0"/>
                <a:t> </a:t>
              </a:r>
              <a:endParaRPr lang="ko-KR" altLang="en-US" sz="1000" dirty="0"/>
            </a:p>
          </p:txBody>
        </p:sp>
        <p:pic>
          <p:nvPicPr>
            <p:cNvPr id="91" name="Picture 2" descr="C:\Users\WooJung\Desktop\h1_logo.gif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4523" y="6038443"/>
              <a:ext cx="1966608" cy="3081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TextBox 12"/>
          <p:cNvSpPr txBox="1"/>
          <p:nvPr/>
        </p:nvSpPr>
        <p:spPr>
          <a:xfrm>
            <a:off x="56727" y="138118"/>
            <a:ext cx="5112297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 extrusionH="6350"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□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중앙영구기록관리시스템 메뉴구성도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기록물 관리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]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2542177" y="890657"/>
            <a:ext cx="1266616" cy="35272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 w="12700">
            <a:solidFill>
              <a:schemeClr val="accent3">
                <a:lumMod val="75000"/>
              </a:schemeClr>
            </a:solidFill>
          </a:ln>
          <a:effectLst>
            <a:outerShdw blurRad="38100" sx="102000" sy="102000" algn="ctr" rotWithShape="0">
              <a:prstClr val="black">
                <a:alpha val="9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bg1"/>
                </a:solidFill>
                <a:latin typeface="+mj-ea"/>
                <a:ea typeface="+mj-ea"/>
              </a:rPr>
              <a:t>등 </a:t>
            </a:r>
            <a:r>
              <a:rPr lang="ko-KR" altLang="en-US" sz="1200" b="1" dirty="0" err="1" smtClean="0">
                <a:solidFill>
                  <a:schemeClr val="bg1"/>
                </a:solidFill>
                <a:latin typeface="+mj-ea"/>
                <a:ea typeface="+mj-ea"/>
              </a:rPr>
              <a:t>록</a:t>
            </a:r>
            <a:endParaRPr lang="ko-KR" altLang="en-US" sz="12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67" name="꺾인 연결선 66"/>
          <p:cNvCxnSpPr>
            <a:endCxn id="68" idx="1"/>
          </p:cNvCxnSpPr>
          <p:nvPr/>
        </p:nvCxnSpPr>
        <p:spPr>
          <a:xfrm rot="16200000" flipH="1">
            <a:off x="2559123" y="1425665"/>
            <a:ext cx="520885" cy="105558"/>
          </a:xfrm>
          <a:prstGeom prst="bentConnector2">
            <a:avLst/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AutoShape 47"/>
          <p:cNvSpPr>
            <a:spLocks noChangeArrowheads="1"/>
          </p:cNvSpPr>
          <p:nvPr/>
        </p:nvSpPr>
        <p:spPr bwMode="auto">
          <a:xfrm>
            <a:off x="2872344" y="1487399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ko-KR" altLang="en-US" sz="1000" dirty="0" smtClean="0"/>
              <a:t>일반기록물</a:t>
            </a:r>
            <a:endParaRPr lang="ko-KR" altLang="en-US" sz="1000" dirty="0"/>
          </a:p>
        </p:txBody>
      </p:sp>
      <p:sp>
        <p:nvSpPr>
          <p:cNvPr id="69" name="AutoShape 184"/>
          <p:cNvSpPr>
            <a:spLocks noChangeArrowheads="1"/>
          </p:cNvSpPr>
          <p:nvPr/>
        </p:nvSpPr>
        <p:spPr bwMode="auto">
          <a:xfrm>
            <a:off x="3953002" y="1562846"/>
            <a:ext cx="621965" cy="36933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B6B6B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135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extrusionH="6350"/>
          </a:bodyPr>
          <a:lstStyle/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일반문서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역사기록물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총독부기록물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70" name="AutoShape 47"/>
          <p:cNvSpPr>
            <a:spLocks noChangeArrowheads="1"/>
          </p:cNvSpPr>
          <p:nvPr/>
        </p:nvSpPr>
        <p:spPr bwMode="auto">
          <a:xfrm>
            <a:off x="2872344" y="2171874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ko-KR" altLang="en-US" sz="1000" dirty="0" smtClean="0"/>
              <a:t>시청각기록물</a:t>
            </a:r>
            <a:endParaRPr lang="ko-KR" altLang="en-US" sz="1000" dirty="0"/>
          </a:p>
        </p:txBody>
      </p:sp>
      <p:sp>
        <p:nvSpPr>
          <p:cNvPr id="71" name="AutoShape 184"/>
          <p:cNvSpPr>
            <a:spLocks noChangeArrowheads="1"/>
          </p:cNvSpPr>
          <p:nvPr/>
        </p:nvSpPr>
        <p:spPr bwMode="auto">
          <a:xfrm>
            <a:off x="3953002" y="2361806"/>
            <a:ext cx="479298" cy="123111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B6B6B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135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extrusionH="6350"/>
          </a:bodyPr>
          <a:lstStyle/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기본목록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cxnSp>
        <p:nvCxnSpPr>
          <p:cNvPr id="72" name="꺾인 연결선 71"/>
          <p:cNvCxnSpPr>
            <a:endCxn id="70" idx="1"/>
          </p:cNvCxnSpPr>
          <p:nvPr/>
        </p:nvCxnSpPr>
        <p:spPr>
          <a:xfrm rot="16200000" flipH="1">
            <a:off x="2466614" y="2017632"/>
            <a:ext cx="705904" cy="105556"/>
          </a:xfrm>
          <a:prstGeom prst="bentConnector2">
            <a:avLst/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AutoShape 47"/>
          <p:cNvSpPr>
            <a:spLocks noChangeArrowheads="1"/>
          </p:cNvSpPr>
          <p:nvPr/>
        </p:nvSpPr>
        <p:spPr bwMode="auto">
          <a:xfrm>
            <a:off x="2872344" y="2859435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ko-KR" altLang="en-US" sz="1000" dirty="0" smtClean="0"/>
              <a:t>정부간행물</a:t>
            </a:r>
            <a:endParaRPr lang="ko-KR" altLang="en-US" sz="1000" dirty="0"/>
          </a:p>
        </p:txBody>
      </p:sp>
      <p:sp>
        <p:nvSpPr>
          <p:cNvPr id="74" name="AutoShape 184"/>
          <p:cNvSpPr>
            <a:spLocks noChangeArrowheads="1"/>
          </p:cNvSpPr>
          <p:nvPr/>
        </p:nvSpPr>
        <p:spPr bwMode="auto">
          <a:xfrm>
            <a:off x="3953002" y="2827557"/>
            <a:ext cx="1094852" cy="492443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B6B6B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135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extrusionH="6350"/>
          </a:bodyPr>
          <a:lstStyle/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정부간행물등록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폐간신청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미송부간행물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문서보존포맷변환현황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cxnSp>
        <p:nvCxnSpPr>
          <p:cNvPr id="75" name="꺾인 연결선 74"/>
          <p:cNvCxnSpPr>
            <a:endCxn id="73" idx="1"/>
          </p:cNvCxnSpPr>
          <p:nvPr/>
        </p:nvCxnSpPr>
        <p:spPr>
          <a:xfrm rot="16200000" flipH="1">
            <a:off x="2423086" y="2661665"/>
            <a:ext cx="792960" cy="105556"/>
          </a:xfrm>
          <a:prstGeom prst="bentConnector2">
            <a:avLst/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AutoShape 47"/>
          <p:cNvSpPr>
            <a:spLocks noChangeArrowheads="1"/>
          </p:cNvSpPr>
          <p:nvPr/>
        </p:nvSpPr>
        <p:spPr bwMode="auto">
          <a:xfrm>
            <a:off x="2872344" y="3612034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ko-KR" altLang="en-US" sz="1000" dirty="0" smtClean="0"/>
              <a:t>행정박물</a:t>
            </a:r>
            <a:endParaRPr lang="ko-KR" altLang="en-US" sz="1000" dirty="0"/>
          </a:p>
        </p:txBody>
      </p:sp>
      <p:cxnSp>
        <p:nvCxnSpPr>
          <p:cNvPr id="80" name="꺾인 연결선 79"/>
          <p:cNvCxnSpPr>
            <a:endCxn id="76" idx="1"/>
          </p:cNvCxnSpPr>
          <p:nvPr/>
        </p:nvCxnSpPr>
        <p:spPr>
          <a:xfrm rot="16200000" flipH="1">
            <a:off x="2336231" y="3327408"/>
            <a:ext cx="966671" cy="105556"/>
          </a:xfrm>
          <a:prstGeom prst="bentConnector2">
            <a:avLst/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AutoShape 184"/>
          <p:cNvSpPr>
            <a:spLocks noChangeArrowheads="1"/>
          </p:cNvSpPr>
          <p:nvPr/>
        </p:nvSpPr>
        <p:spPr bwMode="auto">
          <a:xfrm>
            <a:off x="3953002" y="3717032"/>
            <a:ext cx="684483" cy="246221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B6B6B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135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extrusionH="6350"/>
          </a:bodyPr>
          <a:lstStyle/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기본목록등록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보존처리의뢰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98" name="AutoShape 47"/>
          <p:cNvSpPr>
            <a:spLocks noChangeArrowheads="1"/>
          </p:cNvSpPr>
          <p:nvPr/>
        </p:nvSpPr>
        <p:spPr bwMode="auto">
          <a:xfrm>
            <a:off x="2872344" y="4300676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ko-KR" altLang="en-US" sz="1000" dirty="0" smtClean="0"/>
              <a:t>구술기록</a:t>
            </a:r>
            <a:endParaRPr lang="ko-KR" altLang="en-US" sz="1000" dirty="0"/>
          </a:p>
        </p:txBody>
      </p:sp>
      <p:cxnSp>
        <p:nvCxnSpPr>
          <p:cNvPr id="99" name="꺾인 연결선 98"/>
          <p:cNvCxnSpPr>
            <a:endCxn id="98" idx="1"/>
          </p:cNvCxnSpPr>
          <p:nvPr/>
        </p:nvCxnSpPr>
        <p:spPr>
          <a:xfrm rot="16200000" flipH="1">
            <a:off x="2455980" y="4135800"/>
            <a:ext cx="727170" cy="105558"/>
          </a:xfrm>
          <a:prstGeom prst="bentConnector2">
            <a:avLst/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AutoShape 184"/>
          <p:cNvSpPr>
            <a:spLocks noChangeArrowheads="1"/>
          </p:cNvSpPr>
          <p:nvPr/>
        </p:nvSpPr>
        <p:spPr bwMode="auto">
          <a:xfrm>
            <a:off x="3953002" y="4499234"/>
            <a:ext cx="621965" cy="123111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B6B6B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135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extrusionH="6350"/>
          </a:bodyPr>
          <a:lstStyle/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기본목록등록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101" name="AutoShape 47"/>
          <p:cNvSpPr>
            <a:spLocks noChangeArrowheads="1"/>
          </p:cNvSpPr>
          <p:nvPr/>
        </p:nvSpPr>
        <p:spPr bwMode="auto">
          <a:xfrm>
            <a:off x="2872344" y="4991301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ko-KR" altLang="en-US" sz="1000" dirty="0" smtClean="0"/>
              <a:t>해외기록물</a:t>
            </a:r>
            <a:endParaRPr lang="ko-KR" altLang="en-US" sz="1000" dirty="0"/>
          </a:p>
        </p:txBody>
      </p:sp>
      <p:cxnSp>
        <p:nvCxnSpPr>
          <p:cNvPr id="102" name="꺾인 연결선 101"/>
          <p:cNvCxnSpPr>
            <a:endCxn id="101" idx="1"/>
          </p:cNvCxnSpPr>
          <p:nvPr/>
        </p:nvCxnSpPr>
        <p:spPr>
          <a:xfrm rot="16200000" flipH="1">
            <a:off x="2455980" y="4826425"/>
            <a:ext cx="727170" cy="105558"/>
          </a:xfrm>
          <a:prstGeom prst="bentConnector2">
            <a:avLst/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AutoShape 184"/>
          <p:cNvSpPr>
            <a:spLocks noChangeArrowheads="1"/>
          </p:cNvSpPr>
          <p:nvPr/>
        </p:nvSpPr>
        <p:spPr bwMode="auto">
          <a:xfrm>
            <a:off x="3953002" y="4999927"/>
            <a:ext cx="621965" cy="615553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B6B6B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135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extrusionH="6350"/>
          </a:bodyPr>
          <a:lstStyle/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일반문서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시청각기록물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박물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매체류등록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서고배치의뢰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cxnSp>
        <p:nvCxnSpPr>
          <p:cNvPr id="109" name="꺾인 연결선 108"/>
          <p:cNvCxnSpPr>
            <a:endCxn id="110" idx="1"/>
          </p:cNvCxnSpPr>
          <p:nvPr/>
        </p:nvCxnSpPr>
        <p:spPr>
          <a:xfrm>
            <a:off x="2766786" y="1402356"/>
            <a:ext cx="2395956" cy="336531"/>
          </a:xfrm>
          <a:prstGeom prst="bentConnector3">
            <a:avLst>
              <a:gd name="adj1" fmla="val 95298"/>
            </a:avLst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AutoShape 47"/>
          <p:cNvSpPr>
            <a:spLocks noChangeArrowheads="1"/>
          </p:cNvSpPr>
          <p:nvPr/>
        </p:nvSpPr>
        <p:spPr bwMode="auto">
          <a:xfrm>
            <a:off x="5162742" y="1487399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ko-KR" altLang="en-US" sz="1000" dirty="0" smtClean="0"/>
              <a:t>민간기록물</a:t>
            </a:r>
            <a:endParaRPr lang="ko-KR" altLang="en-US" sz="1000" dirty="0"/>
          </a:p>
        </p:txBody>
      </p:sp>
      <p:sp>
        <p:nvSpPr>
          <p:cNvPr id="111" name="AutoShape 184"/>
          <p:cNvSpPr>
            <a:spLocks noChangeArrowheads="1"/>
          </p:cNvSpPr>
          <p:nvPr/>
        </p:nvSpPr>
        <p:spPr bwMode="auto">
          <a:xfrm>
            <a:off x="6226148" y="1540039"/>
            <a:ext cx="621965" cy="369332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B6B6B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135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extrusionH="6350"/>
          </a:bodyPr>
          <a:lstStyle/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일반문서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시청각기록물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박물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118" name="AutoShape 47"/>
          <p:cNvSpPr>
            <a:spLocks noChangeArrowheads="1"/>
          </p:cNvSpPr>
          <p:nvPr/>
        </p:nvSpPr>
        <p:spPr bwMode="auto">
          <a:xfrm>
            <a:off x="5162741" y="2171874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ko-KR" altLang="en-US" sz="1000" dirty="0" smtClean="0"/>
              <a:t>일반도서</a:t>
            </a:r>
            <a:endParaRPr lang="ko-KR" altLang="en-US" sz="1000" dirty="0"/>
          </a:p>
        </p:txBody>
      </p:sp>
      <p:cxnSp>
        <p:nvCxnSpPr>
          <p:cNvPr id="120" name="꺾인 연결선 119"/>
          <p:cNvCxnSpPr>
            <a:endCxn id="118" idx="1"/>
          </p:cNvCxnSpPr>
          <p:nvPr/>
        </p:nvCxnSpPr>
        <p:spPr>
          <a:xfrm rot="16200000" flipH="1">
            <a:off x="4727447" y="1988068"/>
            <a:ext cx="756486" cy="114101"/>
          </a:xfrm>
          <a:prstGeom prst="bentConnector2">
            <a:avLst/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AutoShape 47"/>
          <p:cNvSpPr>
            <a:spLocks noChangeArrowheads="1"/>
          </p:cNvSpPr>
          <p:nvPr/>
        </p:nvSpPr>
        <p:spPr bwMode="auto">
          <a:xfrm>
            <a:off x="5162740" y="2859435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ko-KR" altLang="en-US" sz="1000" dirty="0" smtClean="0"/>
              <a:t>이중보존매체</a:t>
            </a:r>
            <a:endParaRPr lang="ko-KR" altLang="en-US" sz="1000" dirty="0"/>
          </a:p>
        </p:txBody>
      </p:sp>
      <p:sp>
        <p:nvSpPr>
          <p:cNvPr id="128" name="AutoShape 184"/>
          <p:cNvSpPr>
            <a:spLocks noChangeArrowheads="1"/>
          </p:cNvSpPr>
          <p:nvPr/>
        </p:nvSpPr>
        <p:spPr bwMode="auto">
          <a:xfrm>
            <a:off x="6226146" y="2855786"/>
            <a:ext cx="1202252" cy="492443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B6B6B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135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extrusionH="6350"/>
          </a:bodyPr>
          <a:lstStyle/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이중보존매체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서고배치의뢰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이중보존매체현황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이중보존매체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RFID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태그발행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cxnSp>
        <p:nvCxnSpPr>
          <p:cNvPr id="129" name="꺾인 연결선 128"/>
          <p:cNvCxnSpPr>
            <a:endCxn id="127" idx="1"/>
          </p:cNvCxnSpPr>
          <p:nvPr/>
        </p:nvCxnSpPr>
        <p:spPr>
          <a:xfrm rot="16200000" flipH="1">
            <a:off x="4689465" y="2637647"/>
            <a:ext cx="832449" cy="114101"/>
          </a:xfrm>
          <a:prstGeom prst="bentConnector2">
            <a:avLst/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AutoShape 47"/>
          <p:cNvSpPr>
            <a:spLocks noChangeArrowheads="1"/>
          </p:cNvSpPr>
          <p:nvPr/>
        </p:nvSpPr>
        <p:spPr bwMode="auto">
          <a:xfrm>
            <a:off x="5162742" y="3555196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en-US" altLang="ko-KR" sz="1000" dirty="0" smtClean="0"/>
              <a:t>RFID</a:t>
            </a:r>
            <a:r>
              <a:rPr lang="ko-KR" altLang="en-US" sz="1000" dirty="0" smtClean="0"/>
              <a:t>태그발행</a:t>
            </a:r>
            <a:endParaRPr lang="ko-KR" altLang="en-US" sz="1000" dirty="0"/>
          </a:p>
        </p:txBody>
      </p:sp>
      <p:cxnSp>
        <p:nvCxnSpPr>
          <p:cNvPr id="134" name="꺾인 연결선 133"/>
          <p:cNvCxnSpPr>
            <a:endCxn id="133" idx="1"/>
          </p:cNvCxnSpPr>
          <p:nvPr/>
        </p:nvCxnSpPr>
        <p:spPr>
          <a:xfrm rot="16200000" flipH="1">
            <a:off x="4734519" y="3378461"/>
            <a:ext cx="742340" cy="114106"/>
          </a:xfrm>
          <a:prstGeom prst="bentConnector2">
            <a:avLst/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AutoShape 184"/>
          <p:cNvSpPr>
            <a:spLocks noChangeArrowheads="1"/>
          </p:cNvSpPr>
          <p:nvPr/>
        </p:nvSpPr>
        <p:spPr bwMode="auto">
          <a:xfrm>
            <a:off x="6226148" y="3730947"/>
            <a:ext cx="1109278" cy="123111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B6B6B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135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extrusionH="6350"/>
          </a:bodyPr>
          <a:lstStyle/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등록기록물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RFID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태그발행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136" name="AutoShape 47"/>
          <p:cNvSpPr>
            <a:spLocks noChangeArrowheads="1"/>
          </p:cNvSpPr>
          <p:nvPr/>
        </p:nvSpPr>
        <p:spPr bwMode="auto">
          <a:xfrm>
            <a:off x="5162739" y="4275276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ko-KR" altLang="en-US" sz="1000" dirty="0" smtClean="0"/>
              <a:t>기록물정리의뢰</a:t>
            </a:r>
            <a:endParaRPr lang="ko-KR" altLang="en-US" sz="1000" dirty="0"/>
          </a:p>
        </p:txBody>
      </p:sp>
      <p:cxnSp>
        <p:nvCxnSpPr>
          <p:cNvPr id="137" name="꺾인 연결선 136"/>
          <p:cNvCxnSpPr>
            <a:endCxn id="136" idx="1"/>
          </p:cNvCxnSpPr>
          <p:nvPr/>
        </p:nvCxnSpPr>
        <p:spPr>
          <a:xfrm rot="16200000" flipH="1">
            <a:off x="4698514" y="4062539"/>
            <a:ext cx="814348" cy="114102"/>
          </a:xfrm>
          <a:prstGeom prst="bentConnector2">
            <a:avLst/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AutoShape 184"/>
          <p:cNvSpPr>
            <a:spLocks noChangeArrowheads="1"/>
          </p:cNvSpPr>
          <p:nvPr/>
        </p:nvSpPr>
        <p:spPr bwMode="auto">
          <a:xfrm>
            <a:off x="6226145" y="4451027"/>
            <a:ext cx="900888" cy="123111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B6B6B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135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extrusionH="6350"/>
          </a:bodyPr>
          <a:lstStyle/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기록물정리의뢰등록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cxnSp>
        <p:nvCxnSpPr>
          <p:cNvPr id="79" name="꺾인 연결선 78"/>
          <p:cNvCxnSpPr>
            <a:endCxn id="81" idx="1"/>
          </p:cNvCxnSpPr>
          <p:nvPr/>
        </p:nvCxnSpPr>
        <p:spPr>
          <a:xfrm rot="16200000" flipH="1">
            <a:off x="4747678" y="4827724"/>
            <a:ext cx="716024" cy="114103"/>
          </a:xfrm>
          <a:prstGeom prst="bentConnector2">
            <a:avLst/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AutoShape 47"/>
          <p:cNvSpPr>
            <a:spLocks noChangeArrowheads="1"/>
          </p:cNvSpPr>
          <p:nvPr/>
        </p:nvSpPr>
        <p:spPr bwMode="auto">
          <a:xfrm>
            <a:off x="5162742" y="4991300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ko-KR" altLang="en-US" sz="1000" dirty="0" smtClean="0"/>
              <a:t>기록물대량등록</a:t>
            </a:r>
            <a:endParaRPr lang="ko-KR" altLang="en-US" sz="1000" dirty="0"/>
          </a:p>
        </p:txBody>
      </p:sp>
      <p:grpSp>
        <p:nvGrpSpPr>
          <p:cNvPr id="196" name="그룹 195"/>
          <p:cNvGrpSpPr/>
          <p:nvPr/>
        </p:nvGrpSpPr>
        <p:grpSpPr>
          <a:xfrm>
            <a:off x="7319924" y="890657"/>
            <a:ext cx="2416084" cy="2741447"/>
            <a:chOff x="7329264" y="692696"/>
            <a:chExt cx="2416084" cy="2741447"/>
          </a:xfrm>
        </p:grpSpPr>
        <p:sp>
          <p:nvSpPr>
            <p:cNvPr id="148" name="모서리가 둥근 직사각형 147"/>
            <p:cNvSpPr/>
            <p:nvPr/>
          </p:nvSpPr>
          <p:spPr>
            <a:xfrm>
              <a:off x="7329264" y="692696"/>
              <a:ext cx="1266616" cy="352724"/>
            </a:xfrm>
            <a:prstGeom prst="roundRect">
              <a:avLst/>
            </a:prstGeom>
            <a:blipFill>
              <a:blip r:embed="rId4"/>
              <a:stretch>
                <a:fillRect/>
              </a:stretch>
            </a:blipFill>
            <a:ln w="12700">
              <a:solidFill>
                <a:schemeClr val="accent3">
                  <a:lumMod val="75000"/>
                </a:schemeClr>
              </a:solidFill>
            </a:ln>
            <a:effectLst>
              <a:outerShdw blurRad="38100" sx="102000" sy="102000" algn="ctr" rotWithShape="0">
                <a:prstClr val="black">
                  <a:alpha val="9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기획수</a:t>
              </a:r>
              <a:r>
                <a:rPr lang="ko-KR" altLang="en-US" sz="1200" b="1" dirty="0">
                  <a:solidFill>
                    <a:schemeClr val="bg1"/>
                  </a:solidFill>
                  <a:latin typeface="+mj-ea"/>
                  <a:ea typeface="+mj-ea"/>
                </a:rPr>
                <a:t>집</a:t>
              </a:r>
            </a:p>
          </p:txBody>
        </p:sp>
        <p:cxnSp>
          <p:nvCxnSpPr>
            <p:cNvPr id="149" name="꺾인 연결선 148"/>
            <p:cNvCxnSpPr>
              <a:endCxn id="150" idx="1"/>
            </p:cNvCxnSpPr>
            <p:nvPr/>
          </p:nvCxnSpPr>
          <p:spPr>
            <a:xfrm rot="16200000" flipH="1">
              <a:off x="7341897" y="1257396"/>
              <a:ext cx="529511" cy="105558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AutoShape 47"/>
            <p:cNvSpPr>
              <a:spLocks noChangeArrowheads="1"/>
            </p:cNvSpPr>
            <p:nvPr/>
          </p:nvSpPr>
          <p:spPr bwMode="auto">
            <a:xfrm>
              <a:off x="7659431" y="1323443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계획</a:t>
              </a:r>
              <a:endParaRPr lang="ko-KR" altLang="en-US" sz="1000" dirty="0"/>
            </a:p>
          </p:txBody>
        </p:sp>
        <p:sp>
          <p:nvSpPr>
            <p:cNvPr id="151" name="AutoShape 184"/>
            <p:cNvSpPr>
              <a:spLocks noChangeArrowheads="1"/>
            </p:cNvSpPr>
            <p:nvPr/>
          </p:nvSpPr>
          <p:spPr bwMode="auto">
            <a:xfrm>
              <a:off x="8751486" y="1261889"/>
              <a:ext cx="993862" cy="6155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기획수집분류체계관리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소재정보조사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주제별기록물선정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주제별기록물현황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계획수립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sp>
          <p:nvSpPr>
            <p:cNvPr id="152" name="AutoShape 47"/>
            <p:cNvSpPr>
              <a:spLocks noChangeArrowheads="1"/>
            </p:cNvSpPr>
            <p:nvPr/>
          </p:nvSpPr>
          <p:spPr bwMode="auto">
            <a:xfrm>
              <a:off x="7659431" y="2029438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수집</a:t>
              </a:r>
              <a:endParaRPr lang="ko-KR" altLang="en-US" sz="1000" dirty="0"/>
            </a:p>
          </p:txBody>
        </p:sp>
        <p:sp>
          <p:nvSpPr>
            <p:cNvPr id="153" name="AutoShape 184"/>
            <p:cNvSpPr>
              <a:spLocks noChangeArrowheads="1"/>
            </p:cNvSpPr>
            <p:nvPr/>
          </p:nvSpPr>
          <p:spPr bwMode="auto">
            <a:xfrm>
              <a:off x="8751486" y="2210743"/>
              <a:ext cx="621965" cy="1231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수집현황등록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cxnSp>
          <p:nvCxnSpPr>
            <p:cNvPr id="154" name="꺾인 연결선 153"/>
            <p:cNvCxnSpPr>
              <a:endCxn id="152" idx="1"/>
            </p:cNvCxnSpPr>
            <p:nvPr/>
          </p:nvCxnSpPr>
          <p:spPr>
            <a:xfrm rot="16200000" flipH="1">
              <a:off x="7201945" y="1823440"/>
              <a:ext cx="809416" cy="105556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AutoShape 47"/>
            <p:cNvSpPr>
              <a:spLocks noChangeArrowheads="1"/>
            </p:cNvSpPr>
            <p:nvPr/>
          </p:nvSpPr>
          <p:spPr bwMode="auto">
            <a:xfrm>
              <a:off x="7659431" y="2695479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국가지정</a:t>
              </a:r>
              <a:endParaRPr lang="en-US" altLang="ko-KR" sz="1000" dirty="0" smtClean="0"/>
            </a:p>
            <a:p>
              <a:pPr algn="ctr"/>
              <a:r>
                <a:rPr lang="ko-KR" altLang="en-US" sz="1000" dirty="0" smtClean="0"/>
                <a:t>기록물관리</a:t>
              </a:r>
              <a:endParaRPr lang="ko-KR" altLang="en-US" sz="1000" dirty="0"/>
            </a:p>
          </p:txBody>
        </p:sp>
        <p:sp>
          <p:nvSpPr>
            <p:cNvPr id="156" name="AutoShape 184"/>
            <p:cNvSpPr>
              <a:spLocks noChangeArrowheads="1"/>
            </p:cNvSpPr>
            <p:nvPr/>
          </p:nvSpPr>
          <p:spPr bwMode="auto">
            <a:xfrm>
              <a:off x="8751486" y="2695479"/>
              <a:ext cx="900888" cy="7386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지정등록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지정결과서 등록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사후관리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지정해제요청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지정해제관리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지정해제기록물현황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cxnSp>
          <p:nvCxnSpPr>
            <p:cNvPr id="157" name="꺾인 연결선 156"/>
            <p:cNvCxnSpPr>
              <a:endCxn id="155" idx="1"/>
            </p:cNvCxnSpPr>
            <p:nvPr/>
          </p:nvCxnSpPr>
          <p:spPr>
            <a:xfrm rot="16200000" flipH="1">
              <a:off x="7210173" y="2497709"/>
              <a:ext cx="792960" cy="105556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3793252" y="6501131"/>
            <a:ext cx="2311400" cy="365125"/>
          </a:xfrm>
        </p:spPr>
        <p:txBody>
          <a:bodyPr/>
          <a:lstStyle/>
          <a:p>
            <a:pPr algn="ctr"/>
            <a:r>
              <a:rPr lang="en-US" altLang="ko-KR" dirty="0" smtClean="0"/>
              <a:t>- </a:t>
            </a:r>
            <a:fld id="{ACDCCAE6-229A-460E-B5AE-D28D65F6FA6B}" type="slidenum">
              <a:rPr lang="ko-KR" altLang="en-US" smtClean="0"/>
              <a:t>1</a:t>
            </a:fld>
            <a:r>
              <a:rPr lang="ko-KR" altLang="en-US" dirty="0" smtClean="0"/>
              <a:t> </a:t>
            </a:r>
            <a:r>
              <a:rPr lang="en-US" altLang="ko-KR" dirty="0" smtClean="0"/>
              <a:t>-</a:t>
            </a:r>
            <a:endParaRPr lang="ko-KR" altLang="en-US" dirty="0"/>
          </a:p>
        </p:txBody>
      </p:sp>
      <p:grpSp>
        <p:nvGrpSpPr>
          <p:cNvPr id="10" name="그룹 9"/>
          <p:cNvGrpSpPr/>
          <p:nvPr/>
        </p:nvGrpSpPr>
        <p:grpSpPr>
          <a:xfrm>
            <a:off x="171049" y="890657"/>
            <a:ext cx="2776168" cy="5539973"/>
            <a:chOff x="171049" y="890657"/>
            <a:chExt cx="2776168" cy="5539973"/>
          </a:xfrm>
        </p:grpSpPr>
        <p:sp>
          <p:nvSpPr>
            <p:cNvPr id="6" name="모서리가 둥근 직사각형 5"/>
            <p:cNvSpPr/>
            <p:nvPr/>
          </p:nvSpPr>
          <p:spPr>
            <a:xfrm>
              <a:off x="171049" y="890657"/>
              <a:ext cx="1266616" cy="352724"/>
            </a:xfrm>
            <a:prstGeom prst="roundRect">
              <a:avLst/>
            </a:prstGeom>
            <a:blipFill>
              <a:blip r:embed="rId4"/>
              <a:stretch>
                <a:fillRect/>
              </a:stretch>
            </a:blipFill>
            <a:ln w="12700">
              <a:solidFill>
                <a:schemeClr val="accent3">
                  <a:lumMod val="75000"/>
                </a:schemeClr>
              </a:solidFill>
            </a:ln>
            <a:effectLst>
              <a:outerShdw blurRad="38100" sx="102000" sy="102000" algn="ctr" rotWithShape="0">
                <a:prstClr val="black">
                  <a:alpha val="9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인  수</a:t>
              </a:r>
              <a:endParaRPr lang="ko-KR" altLang="en-US" sz="12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cxnSp>
          <p:nvCxnSpPr>
            <p:cNvPr id="31" name="꺾인 연결선 30"/>
            <p:cNvCxnSpPr>
              <a:endCxn id="23" idx="1"/>
            </p:cNvCxnSpPr>
            <p:nvPr/>
          </p:nvCxnSpPr>
          <p:spPr>
            <a:xfrm rot="16200000" flipH="1">
              <a:off x="175054" y="1446728"/>
              <a:ext cx="512261" cy="105561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AutoShape 47"/>
            <p:cNvSpPr>
              <a:spLocks noChangeArrowheads="1"/>
            </p:cNvSpPr>
            <p:nvPr/>
          </p:nvSpPr>
          <p:spPr bwMode="auto">
            <a:xfrm>
              <a:off x="483965" y="1504152"/>
              <a:ext cx="1008918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생산현황관리</a:t>
              </a:r>
              <a:endParaRPr lang="ko-KR" altLang="en-US" sz="1000" dirty="0"/>
            </a:p>
          </p:txBody>
        </p:sp>
        <p:sp>
          <p:nvSpPr>
            <p:cNvPr id="30" name="AutoShape 184"/>
            <p:cNvSpPr>
              <a:spLocks noChangeArrowheads="1"/>
            </p:cNvSpPr>
            <p:nvPr/>
          </p:nvSpPr>
          <p:spPr bwMode="auto">
            <a:xfrm>
              <a:off x="1557734" y="1504152"/>
              <a:ext cx="621965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생산현황접수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생산현황검수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생산현황확정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생산현황검색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sp>
          <p:nvSpPr>
            <p:cNvPr id="33" name="AutoShape 47"/>
            <p:cNvSpPr>
              <a:spLocks noChangeArrowheads="1"/>
            </p:cNvSpPr>
            <p:nvPr/>
          </p:nvSpPr>
          <p:spPr bwMode="auto">
            <a:xfrm>
              <a:off x="483965" y="2140954"/>
              <a:ext cx="1008918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인수일정</a:t>
              </a:r>
              <a:r>
                <a:rPr lang="en-US" altLang="ko-KR" sz="1000" dirty="0" smtClean="0"/>
                <a:t>/</a:t>
              </a:r>
            </a:p>
            <a:p>
              <a:pPr algn="ctr"/>
              <a:r>
                <a:rPr lang="ko-KR" altLang="en-US" sz="1000" dirty="0" smtClean="0"/>
                <a:t>이관목록확</a:t>
              </a:r>
              <a:r>
                <a:rPr lang="ko-KR" altLang="en-US" sz="1000" dirty="0"/>
                <a:t>정</a:t>
              </a:r>
            </a:p>
          </p:txBody>
        </p:sp>
        <p:sp>
          <p:nvSpPr>
            <p:cNvPr id="35" name="AutoShape 184"/>
            <p:cNvSpPr>
              <a:spLocks noChangeArrowheads="1"/>
            </p:cNvSpPr>
            <p:nvPr/>
          </p:nvSpPr>
          <p:spPr bwMode="auto">
            <a:xfrm>
              <a:off x="1579530" y="2297777"/>
              <a:ext cx="1094852" cy="1231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이관검토요청결과통보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cxnSp>
          <p:nvCxnSpPr>
            <p:cNvPr id="36" name="꺾인 연결선 35"/>
            <p:cNvCxnSpPr>
              <a:endCxn id="33" idx="1"/>
            </p:cNvCxnSpPr>
            <p:nvPr/>
          </p:nvCxnSpPr>
          <p:spPr>
            <a:xfrm rot="16200000" flipH="1">
              <a:off x="78234" y="1986711"/>
              <a:ext cx="705904" cy="105558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AutoShape 47"/>
            <p:cNvSpPr>
              <a:spLocks noChangeArrowheads="1"/>
            </p:cNvSpPr>
            <p:nvPr/>
          </p:nvSpPr>
          <p:spPr bwMode="auto">
            <a:xfrm>
              <a:off x="488504" y="2764757"/>
              <a:ext cx="1008918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기록물인수</a:t>
              </a:r>
              <a:endParaRPr lang="ko-KR" altLang="en-US" sz="1000" dirty="0"/>
            </a:p>
          </p:txBody>
        </p:sp>
        <p:sp>
          <p:nvSpPr>
            <p:cNvPr id="40" name="AutoShape 184"/>
            <p:cNvSpPr>
              <a:spLocks noChangeArrowheads="1"/>
            </p:cNvSpPr>
            <p:nvPr/>
          </p:nvSpPr>
          <p:spPr bwMode="auto">
            <a:xfrm>
              <a:off x="1622822" y="2732172"/>
              <a:ext cx="1025922" cy="1600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이관기록물접수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육안검수 대상 확정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검수담당자 배정현황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이관기록물검수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전자기록물검수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N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차품질검사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기록물인수확정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기록물현황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인수기록물수정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RFID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태그발행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인수기록물정리의뢰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인수대장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인수현황모니터링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cxnSp>
          <p:nvCxnSpPr>
            <p:cNvPr id="41" name="꺾인 연결선 40"/>
            <p:cNvCxnSpPr/>
            <p:nvPr/>
          </p:nvCxnSpPr>
          <p:spPr>
            <a:xfrm rot="16200000" flipH="1">
              <a:off x="34706" y="2551939"/>
              <a:ext cx="792960" cy="105558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AutoShape 47"/>
            <p:cNvSpPr>
              <a:spLocks noChangeArrowheads="1"/>
            </p:cNvSpPr>
            <p:nvPr/>
          </p:nvSpPr>
          <p:spPr bwMode="auto">
            <a:xfrm>
              <a:off x="483965" y="4268914"/>
              <a:ext cx="1008918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수집목표량입력</a:t>
              </a:r>
              <a:endParaRPr lang="ko-KR" altLang="en-US" sz="1000" dirty="0"/>
            </a:p>
          </p:txBody>
        </p:sp>
        <p:sp>
          <p:nvSpPr>
            <p:cNvPr id="44" name="AutoShape 47"/>
            <p:cNvSpPr>
              <a:spLocks noChangeArrowheads="1"/>
            </p:cNvSpPr>
            <p:nvPr/>
          </p:nvSpPr>
          <p:spPr bwMode="auto">
            <a:xfrm>
              <a:off x="483965" y="4910399"/>
              <a:ext cx="1008918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기록관환경설정</a:t>
              </a:r>
              <a:endParaRPr lang="ko-KR" altLang="en-US" sz="1000" dirty="0"/>
            </a:p>
          </p:txBody>
        </p:sp>
        <p:cxnSp>
          <p:nvCxnSpPr>
            <p:cNvPr id="45" name="꺾인 연결선 44"/>
            <p:cNvCxnSpPr>
              <a:endCxn id="42" idx="1"/>
            </p:cNvCxnSpPr>
            <p:nvPr/>
          </p:nvCxnSpPr>
          <p:spPr>
            <a:xfrm rot="16200000" flipH="1">
              <a:off x="-392594" y="3643843"/>
              <a:ext cx="1647564" cy="105554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꺾인 연결선 45"/>
            <p:cNvCxnSpPr>
              <a:endCxn id="44" idx="1"/>
            </p:cNvCxnSpPr>
            <p:nvPr/>
          </p:nvCxnSpPr>
          <p:spPr>
            <a:xfrm rot="16200000" flipH="1">
              <a:off x="70606" y="4748528"/>
              <a:ext cx="721160" cy="105558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AutoShape 47"/>
            <p:cNvSpPr>
              <a:spLocks noChangeArrowheads="1"/>
            </p:cNvSpPr>
            <p:nvPr/>
          </p:nvSpPr>
          <p:spPr bwMode="auto">
            <a:xfrm>
              <a:off x="487698" y="5517726"/>
              <a:ext cx="1008918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육안검수현</a:t>
              </a:r>
              <a:r>
                <a:rPr lang="ko-KR" altLang="en-US" sz="1000" dirty="0"/>
                <a:t>황</a:t>
              </a:r>
            </a:p>
          </p:txBody>
        </p:sp>
        <p:cxnSp>
          <p:nvCxnSpPr>
            <p:cNvPr id="78" name="꺾인 연결선 77"/>
            <p:cNvCxnSpPr/>
            <p:nvPr/>
          </p:nvCxnSpPr>
          <p:spPr>
            <a:xfrm rot="16200000" flipH="1">
              <a:off x="96232" y="5382510"/>
              <a:ext cx="668883" cy="104524"/>
            </a:xfrm>
            <a:prstGeom prst="bentConnector3">
              <a:avLst>
                <a:gd name="adj1" fmla="val 101265"/>
              </a:avLst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AutoShape 184"/>
            <p:cNvSpPr>
              <a:spLocks noChangeArrowheads="1"/>
            </p:cNvSpPr>
            <p:nvPr/>
          </p:nvSpPr>
          <p:spPr bwMode="auto">
            <a:xfrm>
              <a:off x="1544589" y="5445745"/>
              <a:ext cx="1402628" cy="9848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생산기관별 오류유형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총괄실적진척도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월간작업현황 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주간작업현황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일간작업현황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검수일자별오검수유형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생산기관접수번호별검수현황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검수일자품질검사진행현황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</p:grpSp>
      <p:sp>
        <p:nvSpPr>
          <p:cNvPr id="86" name="AutoShape 184"/>
          <p:cNvSpPr>
            <a:spLocks noChangeArrowheads="1"/>
          </p:cNvSpPr>
          <p:nvPr/>
        </p:nvSpPr>
        <p:spPr bwMode="auto">
          <a:xfrm>
            <a:off x="6226145" y="5085184"/>
            <a:ext cx="787075" cy="246221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B6B6B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135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extrusionH="6350"/>
          </a:bodyPr>
          <a:lstStyle/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기록물임시등록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관리정보입력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4538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그룹 60"/>
          <p:cNvGrpSpPr/>
          <p:nvPr/>
        </p:nvGrpSpPr>
        <p:grpSpPr>
          <a:xfrm>
            <a:off x="47830" y="692696"/>
            <a:ext cx="9793088" cy="5760640"/>
            <a:chOff x="47830" y="692696"/>
            <a:chExt cx="9793088" cy="5760640"/>
          </a:xfrm>
        </p:grpSpPr>
        <p:sp>
          <p:nvSpPr>
            <p:cNvPr id="62" name="AutoShape 47"/>
            <p:cNvSpPr>
              <a:spLocks noChangeArrowheads="1"/>
            </p:cNvSpPr>
            <p:nvPr/>
          </p:nvSpPr>
          <p:spPr bwMode="auto">
            <a:xfrm>
              <a:off x="47830" y="692696"/>
              <a:ext cx="9793088" cy="5760640"/>
            </a:xfrm>
            <a:prstGeom prst="roundRect">
              <a:avLst>
                <a:gd name="adj" fmla="val 4387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wrap="none" lIns="0" tIns="0" rIns="0" bIns="0" anchor="ctr"/>
            <a:lstStyle/>
            <a:p>
              <a:r>
                <a:rPr lang="en-US" altLang="ko-KR" sz="1000" dirty="0" smtClean="0"/>
                <a:t> </a:t>
              </a:r>
              <a:endParaRPr lang="ko-KR" altLang="en-US" sz="1000" dirty="0"/>
            </a:p>
          </p:txBody>
        </p:sp>
        <p:pic>
          <p:nvPicPr>
            <p:cNvPr id="63" name="Picture 2" descr="C:\Users\WooJung\Desktop\h1_logo.gif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4523" y="6038443"/>
              <a:ext cx="1966608" cy="3081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" name="그룹 2"/>
          <p:cNvGrpSpPr/>
          <p:nvPr/>
        </p:nvGrpSpPr>
        <p:grpSpPr>
          <a:xfrm>
            <a:off x="2966761" y="890657"/>
            <a:ext cx="1338167" cy="4769510"/>
            <a:chOff x="2542177" y="890657"/>
            <a:chExt cx="1338167" cy="4769510"/>
          </a:xfrm>
        </p:grpSpPr>
        <p:sp>
          <p:nvSpPr>
            <p:cNvPr id="66" name="모서리가 둥근 직사각형 65"/>
            <p:cNvSpPr/>
            <p:nvPr/>
          </p:nvSpPr>
          <p:spPr>
            <a:xfrm>
              <a:off x="2542177" y="890657"/>
              <a:ext cx="1266616" cy="352724"/>
            </a:xfrm>
            <a:prstGeom prst="roundRect">
              <a:avLst/>
            </a:prstGeom>
            <a:blipFill>
              <a:blip r:embed="rId4"/>
              <a:stretch>
                <a:fillRect/>
              </a:stretch>
            </a:blipFill>
            <a:ln w="12700">
              <a:solidFill>
                <a:schemeClr val="accent3">
                  <a:lumMod val="75000"/>
                </a:schemeClr>
              </a:solidFill>
            </a:ln>
            <a:effectLst>
              <a:outerShdw blurRad="38100" sx="102000" sy="102000" algn="ctr" rotWithShape="0">
                <a:prstClr val="black">
                  <a:alpha val="9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기록물정</a:t>
              </a:r>
              <a:r>
                <a:rPr lang="ko-KR" altLang="en-US" sz="1200" b="1" dirty="0">
                  <a:solidFill>
                    <a:schemeClr val="bg1"/>
                  </a:solidFill>
                  <a:latin typeface="+mj-ea"/>
                  <a:ea typeface="+mj-ea"/>
                </a:rPr>
                <a:t>리</a:t>
              </a:r>
            </a:p>
          </p:txBody>
        </p:sp>
        <p:cxnSp>
          <p:nvCxnSpPr>
            <p:cNvPr id="67" name="꺾인 연결선 66"/>
            <p:cNvCxnSpPr>
              <a:endCxn id="68" idx="1"/>
            </p:cNvCxnSpPr>
            <p:nvPr/>
          </p:nvCxnSpPr>
          <p:spPr>
            <a:xfrm rot="16200000" flipH="1">
              <a:off x="2503053" y="1507113"/>
              <a:ext cx="633024" cy="105558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AutoShape 47"/>
            <p:cNvSpPr>
              <a:spLocks noChangeArrowheads="1"/>
            </p:cNvSpPr>
            <p:nvPr/>
          </p:nvSpPr>
          <p:spPr bwMode="auto">
            <a:xfrm>
              <a:off x="2872344" y="1624916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기록물정리인수</a:t>
              </a:r>
              <a:endParaRPr lang="ko-KR" altLang="en-US" sz="1000" dirty="0"/>
            </a:p>
          </p:txBody>
        </p:sp>
        <p:sp>
          <p:nvSpPr>
            <p:cNvPr id="70" name="AutoShape 47"/>
            <p:cNvSpPr>
              <a:spLocks noChangeArrowheads="1"/>
            </p:cNvSpPr>
            <p:nvPr/>
          </p:nvSpPr>
          <p:spPr bwMode="auto">
            <a:xfrm>
              <a:off x="2872344" y="2309391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표지</a:t>
              </a:r>
              <a:r>
                <a:rPr lang="en-US" altLang="ko-KR" sz="1000" dirty="0" smtClean="0"/>
                <a:t>/</a:t>
              </a:r>
            </a:p>
            <a:p>
              <a:pPr algn="ctr"/>
              <a:r>
                <a:rPr lang="ko-KR" altLang="en-US" sz="1000" dirty="0" smtClean="0"/>
                <a:t>색인목록출력</a:t>
              </a:r>
              <a:endParaRPr lang="ko-KR" altLang="en-US" sz="1000" dirty="0"/>
            </a:p>
          </p:txBody>
        </p:sp>
        <p:cxnSp>
          <p:nvCxnSpPr>
            <p:cNvPr id="72" name="꺾인 연결선 71"/>
            <p:cNvCxnSpPr>
              <a:endCxn id="70" idx="1"/>
            </p:cNvCxnSpPr>
            <p:nvPr/>
          </p:nvCxnSpPr>
          <p:spPr>
            <a:xfrm rot="16200000" flipH="1">
              <a:off x="2466614" y="2155149"/>
              <a:ext cx="705904" cy="105556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AutoShape 47"/>
            <p:cNvSpPr>
              <a:spLocks noChangeArrowheads="1"/>
            </p:cNvSpPr>
            <p:nvPr/>
          </p:nvSpPr>
          <p:spPr bwMode="auto">
            <a:xfrm>
              <a:off x="2872344" y="2996952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상자편성</a:t>
              </a:r>
              <a:endParaRPr lang="ko-KR" altLang="en-US" sz="1000" dirty="0"/>
            </a:p>
          </p:txBody>
        </p:sp>
        <p:cxnSp>
          <p:nvCxnSpPr>
            <p:cNvPr id="75" name="꺾인 연결선 74"/>
            <p:cNvCxnSpPr>
              <a:endCxn id="73" idx="1"/>
            </p:cNvCxnSpPr>
            <p:nvPr/>
          </p:nvCxnSpPr>
          <p:spPr>
            <a:xfrm rot="16200000" flipH="1">
              <a:off x="2423086" y="2799182"/>
              <a:ext cx="792960" cy="105556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AutoShape 47"/>
            <p:cNvSpPr>
              <a:spLocks noChangeArrowheads="1"/>
            </p:cNvSpPr>
            <p:nvPr/>
          </p:nvSpPr>
          <p:spPr bwMode="auto">
            <a:xfrm>
              <a:off x="2872344" y="3749551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상자라벨출력</a:t>
              </a:r>
              <a:endParaRPr lang="ko-KR" altLang="en-US" sz="1000" dirty="0"/>
            </a:p>
          </p:txBody>
        </p:sp>
        <p:cxnSp>
          <p:nvCxnSpPr>
            <p:cNvPr id="80" name="꺾인 연결선 79"/>
            <p:cNvCxnSpPr>
              <a:endCxn id="76" idx="1"/>
            </p:cNvCxnSpPr>
            <p:nvPr/>
          </p:nvCxnSpPr>
          <p:spPr>
            <a:xfrm rot="16200000" flipH="1">
              <a:off x="2402140" y="3530834"/>
              <a:ext cx="834851" cy="105558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AutoShape 47"/>
            <p:cNvSpPr>
              <a:spLocks noChangeArrowheads="1"/>
            </p:cNvSpPr>
            <p:nvPr/>
          </p:nvSpPr>
          <p:spPr bwMode="auto">
            <a:xfrm>
              <a:off x="2872344" y="4463281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정부간행물분류</a:t>
              </a:r>
              <a:endParaRPr lang="ko-KR" altLang="en-US" sz="1000" dirty="0"/>
            </a:p>
          </p:txBody>
        </p:sp>
        <p:cxnSp>
          <p:nvCxnSpPr>
            <p:cNvPr id="99" name="꺾인 연결선 98"/>
            <p:cNvCxnSpPr>
              <a:endCxn id="98" idx="1"/>
            </p:cNvCxnSpPr>
            <p:nvPr/>
          </p:nvCxnSpPr>
          <p:spPr>
            <a:xfrm rot="16200000" flipH="1">
              <a:off x="2455980" y="4298405"/>
              <a:ext cx="727170" cy="105558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AutoShape 47"/>
            <p:cNvSpPr>
              <a:spLocks noChangeArrowheads="1"/>
            </p:cNvSpPr>
            <p:nvPr/>
          </p:nvSpPr>
          <p:spPr bwMode="auto">
            <a:xfrm>
              <a:off x="2872344" y="5157192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소독의뢰</a:t>
              </a:r>
              <a:endParaRPr lang="ko-KR" altLang="en-US" sz="1000" dirty="0"/>
            </a:p>
          </p:txBody>
        </p:sp>
        <p:cxnSp>
          <p:nvCxnSpPr>
            <p:cNvPr id="102" name="꺾인 연결선 101"/>
            <p:cNvCxnSpPr>
              <a:endCxn id="101" idx="1"/>
            </p:cNvCxnSpPr>
            <p:nvPr/>
          </p:nvCxnSpPr>
          <p:spPr>
            <a:xfrm rot="16200000" flipH="1">
              <a:off x="2455980" y="4992316"/>
              <a:ext cx="727170" cy="105558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3793252" y="6501131"/>
            <a:ext cx="2311400" cy="365125"/>
          </a:xfrm>
        </p:spPr>
        <p:txBody>
          <a:bodyPr/>
          <a:lstStyle/>
          <a:p>
            <a:pPr algn="ctr"/>
            <a:r>
              <a:rPr lang="en-US" altLang="ko-KR" dirty="0" smtClean="0"/>
              <a:t>- </a:t>
            </a:r>
            <a:fld id="{D00CF5D5-E37B-49FA-B331-805CB85D8C4B}" type="slidenum">
              <a:rPr lang="en-US" altLang="ko-KR" smtClean="0"/>
              <a:t>2</a:t>
            </a:fld>
            <a:r>
              <a:rPr lang="ko-KR" altLang="en-US" dirty="0" smtClean="0"/>
              <a:t> </a:t>
            </a:r>
            <a:r>
              <a:rPr lang="en-US" altLang="ko-KR" dirty="0" smtClean="0"/>
              <a:t>-</a:t>
            </a:r>
            <a:endParaRPr lang="ko-KR" altLang="en-US" dirty="0"/>
          </a:p>
        </p:txBody>
      </p:sp>
      <p:grpSp>
        <p:nvGrpSpPr>
          <p:cNvPr id="2" name="그룹 1"/>
          <p:cNvGrpSpPr/>
          <p:nvPr/>
        </p:nvGrpSpPr>
        <p:grpSpPr>
          <a:xfrm>
            <a:off x="171049" y="890657"/>
            <a:ext cx="2469934" cy="4002822"/>
            <a:chOff x="171049" y="890657"/>
            <a:chExt cx="2469934" cy="4002822"/>
          </a:xfrm>
        </p:grpSpPr>
        <p:sp>
          <p:nvSpPr>
            <p:cNvPr id="6" name="모서리가 둥근 직사각형 5"/>
            <p:cNvSpPr/>
            <p:nvPr/>
          </p:nvSpPr>
          <p:spPr>
            <a:xfrm>
              <a:off x="171049" y="890657"/>
              <a:ext cx="1266616" cy="352724"/>
            </a:xfrm>
            <a:prstGeom prst="roundRect">
              <a:avLst/>
            </a:prstGeom>
            <a:blipFill>
              <a:blip r:embed="rId4"/>
              <a:stretch>
                <a:fillRect/>
              </a:stretch>
            </a:blipFill>
            <a:ln w="12700">
              <a:solidFill>
                <a:schemeClr val="accent3">
                  <a:lumMod val="75000"/>
                </a:schemeClr>
              </a:solidFill>
            </a:ln>
            <a:effectLst>
              <a:outerShdw blurRad="38100" sx="102000" sy="102000" algn="ctr" rotWithShape="0">
                <a:prstClr val="black">
                  <a:alpha val="9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기록관리기준</a:t>
              </a:r>
              <a:endParaRPr lang="ko-KR" altLang="en-US" sz="12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cxnSp>
          <p:nvCxnSpPr>
            <p:cNvPr id="31" name="꺾인 연결선 30"/>
            <p:cNvCxnSpPr>
              <a:endCxn id="23" idx="1"/>
            </p:cNvCxnSpPr>
            <p:nvPr/>
          </p:nvCxnSpPr>
          <p:spPr>
            <a:xfrm rot="16200000" flipH="1">
              <a:off x="131925" y="1507112"/>
              <a:ext cx="633024" cy="105560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AutoShape 47"/>
            <p:cNvSpPr>
              <a:spLocks noChangeArrowheads="1"/>
            </p:cNvSpPr>
            <p:nvPr/>
          </p:nvSpPr>
          <p:spPr bwMode="auto">
            <a:xfrm>
              <a:off x="501217" y="1624916"/>
              <a:ext cx="1008918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준칙관리</a:t>
              </a:r>
              <a:endParaRPr lang="ko-KR" altLang="en-US" sz="1000" dirty="0"/>
            </a:p>
          </p:txBody>
        </p:sp>
        <p:sp>
          <p:nvSpPr>
            <p:cNvPr id="30" name="AutoShape 184"/>
            <p:cNvSpPr>
              <a:spLocks noChangeArrowheads="1"/>
            </p:cNvSpPr>
            <p:nvPr/>
          </p:nvSpPr>
          <p:spPr bwMode="auto">
            <a:xfrm>
              <a:off x="1574986" y="1624917"/>
              <a:ext cx="900888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고유업무준칙정보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공통업무처리일정표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공통업무보존기간표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기록물관리준칙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sp>
          <p:nvSpPr>
            <p:cNvPr id="33" name="AutoShape 47"/>
            <p:cNvSpPr>
              <a:spLocks noChangeArrowheads="1"/>
            </p:cNvSpPr>
            <p:nvPr/>
          </p:nvSpPr>
          <p:spPr bwMode="auto">
            <a:xfrm>
              <a:off x="501217" y="2309391"/>
              <a:ext cx="1008918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단위과제</a:t>
              </a:r>
              <a:endParaRPr lang="en-US" altLang="ko-KR" sz="1000" dirty="0" smtClean="0"/>
            </a:p>
            <a:p>
              <a:pPr algn="ctr"/>
              <a:r>
                <a:rPr lang="ko-KR" altLang="en-US" sz="1000" dirty="0" smtClean="0"/>
                <a:t>보존기간관리</a:t>
              </a:r>
              <a:endParaRPr lang="ko-KR" altLang="en-US" sz="1000" dirty="0"/>
            </a:p>
          </p:txBody>
        </p:sp>
        <p:sp>
          <p:nvSpPr>
            <p:cNvPr id="35" name="AutoShape 184"/>
            <p:cNvSpPr>
              <a:spLocks noChangeArrowheads="1"/>
            </p:cNvSpPr>
            <p:nvPr/>
          </p:nvSpPr>
          <p:spPr bwMode="auto">
            <a:xfrm>
              <a:off x="1574986" y="2309391"/>
              <a:ext cx="900888" cy="6155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단위과제접수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단위과제조정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단위과제승인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/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통보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파일생성및다운로드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단위과제승인재통보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cxnSp>
          <p:nvCxnSpPr>
            <p:cNvPr id="36" name="꺾인 연결선 35"/>
            <p:cNvCxnSpPr>
              <a:endCxn id="33" idx="1"/>
            </p:cNvCxnSpPr>
            <p:nvPr/>
          </p:nvCxnSpPr>
          <p:spPr>
            <a:xfrm rot="16200000" flipH="1">
              <a:off x="95486" y="2155148"/>
              <a:ext cx="705904" cy="105558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AutoShape 47"/>
            <p:cNvSpPr>
              <a:spLocks noChangeArrowheads="1"/>
            </p:cNvSpPr>
            <p:nvPr/>
          </p:nvSpPr>
          <p:spPr bwMode="auto">
            <a:xfrm>
              <a:off x="501217" y="3010887"/>
              <a:ext cx="1008918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기록관리</a:t>
              </a:r>
              <a:endParaRPr lang="en-US" altLang="ko-KR" sz="1000" dirty="0" smtClean="0"/>
            </a:p>
            <a:p>
              <a:pPr algn="ctr"/>
              <a:r>
                <a:rPr lang="ko-KR" altLang="en-US" sz="1000" dirty="0" smtClean="0"/>
                <a:t>기준표검</a:t>
              </a:r>
              <a:r>
                <a:rPr lang="ko-KR" altLang="en-US" sz="1000" dirty="0"/>
                <a:t>색</a:t>
              </a:r>
            </a:p>
          </p:txBody>
        </p:sp>
        <p:cxnSp>
          <p:nvCxnSpPr>
            <p:cNvPr id="41" name="꺾인 연결선 40"/>
            <p:cNvCxnSpPr>
              <a:endCxn id="39" idx="1"/>
            </p:cNvCxnSpPr>
            <p:nvPr/>
          </p:nvCxnSpPr>
          <p:spPr>
            <a:xfrm rot="16200000" flipH="1">
              <a:off x="51958" y="2813116"/>
              <a:ext cx="792960" cy="105558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AutoShape 47"/>
            <p:cNvSpPr>
              <a:spLocks noChangeArrowheads="1"/>
            </p:cNvSpPr>
            <p:nvPr/>
          </p:nvSpPr>
          <p:spPr bwMode="auto">
            <a:xfrm>
              <a:off x="501217" y="4390504"/>
              <a:ext cx="1008918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공문서</a:t>
              </a:r>
              <a:endParaRPr lang="en-US" altLang="ko-KR" sz="1000" dirty="0" smtClean="0"/>
            </a:p>
            <a:p>
              <a:pPr algn="ctr"/>
              <a:r>
                <a:rPr lang="ko-KR" altLang="en-US" sz="1000" dirty="0" err="1" smtClean="0"/>
                <a:t>보존기간</a:t>
              </a:r>
              <a:r>
                <a:rPr lang="ko-KR" altLang="en-US" sz="1000" dirty="0" err="1"/>
                <a:t>표</a:t>
              </a:r>
              <a:endParaRPr lang="ko-KR" altLang="en-US" sz="1000" dirty="0"/>
            </a:p>
          </p:txBody>
        </p:sp>
        <p:cxnSp>
          <p:nvCxnSpPr>
            <p:cNvPr id="45" name="꺾인 연결선 44"/>
            <p:cNvCxnSpPr>
              <a:endCxn id="42" idx="1"/>
            </p:cNvCxnSpPr>
            <p:nvPr/>
          </p:nvCxnSpPr>
          <p:spPr>
            <a:xfrm rot="16200000" flipH="1">
              <a:off x="-375342" y="3765433"/>
              <a:ext cx="1647564" cy="105554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AutoShape 47"/>
            <p:cNvSpPr>
              <a:spLocks noChangeArrowheads="1"/>
            </p:cNvSpPr>
            <p:nvPr/>
          </p:nvSpPr>
          <p:spPr bwMode="auto">
            <a:xfrm>
              <a:off x="501217" y="3707660"/>
              <a:ext cx="1008918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기록물</a:t>
              </a:r>
              <a:endParaRPr lang="en-US" altLang="ko-KR" sz="1000" dirty="0" smtClean="0"/>
            </a:p>
            <a:p>
              <a:pPr algn="ctr"/>
              <a:r>
                <a:rPr lang="ko-KR" altLang="en-US" sz="1000" dirty="0" smtClean="0"/>
                <a:t>분류기준표</a:t>
              </a:r>
              <a:endParaRPr lang="ko-KR" altLang="en-US" sz="1000" dirty="0"/>
            </a:p>
          </p:txBody>
        </p:sp>
        <p:cxnSp>
          <p:nvCxnSpPr>
            <p:cNvPr id="78" name="꺾인 연결선 77"/>
            <p:cNvCxnSpPr>
              <a:endCxn id="77" idx="1"/>
            </p:cNvCxnSpPr>
            <p:nvPr/>
          </p:nvCxnSpPr>
          <p:spPr>
            <a:xfrm rot="16200000" flipH="1">
              <a:off x="51958" y="3509889"/>
              <a:ext cx="792960" cy="105558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AutoShape 184"/>
            <p:cNvSpPr>
              <a:spLocks noChangeArrowheads="1"/>
            </p:cNvSpPr>
            <p:nvPr/>
          </p:nvSpPr>
          <p:spPr bwMode="auto">
            <a:xfrm>
              <a:off x="1574986" y="4518881"/>
              <a:ext cx="1065997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공문서보존기간표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통합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)</a:t>
              </a: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공문서보존기간표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연별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)</a:t>
              </a:r>
            </a:p>
          </p:txBody>
        </p:sp>
      </p:grpSp>
      <p:grpSp>
        <p:nvGrpSpPr>
          <p:cNvPr id="16" name="그룹 15"/>
          <p:cNvGrpSpPr/>
          <p:nvPr/>
        </p:nvGrpSpPr>
        <p:grpSpPr>
          <a:xfrm>
            <a:off x="5016069" y="890657"/>
            <a:ext cx="4617451" cy="4088163"/>
            <a:chOff x="4951697" y="890657"/>
            <a:chExt cx="4617451" cy="4088163"/>
          </a:xfrm>
        </p:grpSpPr>
        <p:sp>
          <p:nvSpPr>
            <p:cNvPr id="174" name="모서리가 둥근 직사각형 173"/>
            <p:cNvSpPr/>
            <p:nvPr/>
          </p:nvSpPr>
          <p:spPr>
            <a:xfrm>
              <a:off x="4951697" y="890657"/>
              <a:ext cx="1266616" cy="352724"/>
            </a:xfrm>
            <a:prstGeom prst="roundRect">
              <a:avLst/>
            </a:prstGeom>
            <a:blipFill>
              <a:blip r:embed="rId4"/>
              <a:stretch>
                <a:fillRect/>
              </a:stretch>
            </a:blipFill>
            <a:ln w="12700">
              <a:solidFill>
                <a:schemeClr val="accent3">
                  <a:lumMod val="75000"/>
                </a:schemeClr>
              </a:solidFill>
            </a:ln>
            <a:effectLst>
              <a:outerShdw blurRad="38100" sx="102000" sy="102000" algn="ctr" rotWithShape="0">
                <a:prstClr val="black">
                  <a:alpha val="9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서 고</a:t>
              </a:r>
              <a:endParaRPr lang="ko-KR" altLang="en-US" sz="12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cxnSp>
          <p:nvCxnSpPr>
            <p:cNvPr id="175" name="꺾인 연결선 174"/>
            <p:cNvCxnSpPr>
              <a:endCxn id="176" idx="1"/>
            </p:cNvCxnSpPr>
            <p:nvPr/>
          </p:nvCxnSpPr>
          <p:spPr>
            <a:xfrm rot="16200000" flipH="1">
              <a:off x="4912573" y="1507113"/>
              <a:ext cx="633024" cy="105558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AutoShape 47"/>
            <p:cNvSpPr>
              <a:spLocks noChangeArrowheads="1"/>
            </p:cNvSpPr>
            <p:nvPr/>
          </p:nvSpPr>
          <p:spPr bwMode="auto">
            <a:xfrm>
              <a:off x="5281864" y="1624916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서고배치</a:t>
              </a:r>
              <a:endParaRPr lang="ko-KR" altLang="en-US" sz="1000" dirty="0"/>
            </a:p>
          </p:txBody>
        </p:sp>
        <p:sp>
          <p:nvSpPr>
            <p:cNvPr id="177" name="AutoShape 184"/>
            <p:cNvSpPr>
              <a:spLocks noChangeArrowheads="1"/>
            </p:cNvSpPr>
            <p:nvPr/>
          </p:nvSpPr>
          <p:spPr bwMode="auto">
            <a:xfrm>
              <a:off x="6345270" y="1624916"/>
              <a:ext cx="737381" cy="9848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서고배치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서고재배치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서고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/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서가정보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RFID</a:t>
              </a:r>
              <a:r>
                <a:rPr lang="ko-KR" altLang="en-US" sz="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태그재발행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서고배치확인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서고배치현황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기록물정보관리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시뮬레이션관리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sp>
          <p:nvSpPr>
            <p:cNvPr id="181" name="AutoShape 47"/>
            <p:cNvSpPr>
              <a:spLocks noChangeArrowheads="1"/>
            </p:cNvSpPr>
            <p:nvPr/>
          </p:nvSpPr>
          <p:spPr bwMode="auto">
            <a:xfrm>
              <a:off x="5281864" y="2746336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err="1"/>
                <a:t>반출ㆍ반입</a:t>
              </a:r>
              <a:endParaRPr lang="ko-KR" altLang="en-US" sz="1000" dirty="0"/>
            </a:p>
          </p:txBody>
        </p:sp>
        <p:sp>
          <p:nvSpPr>
            <p:cNvPr id="182" name="AutoShape 184"/>
            <p:cNvSpPr>
              <a:spLocks noChangeArrowheads="1"/>
            </p:cNvSpPr>
            <p:nvPr/>
          </p:nvSpPr>
          <p:spPr bwMode="auto">
            <a:xfrm>
              <a:off x="6345270" y="2734798"/>
              <a:ext cx="787075" cy="8617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반출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긴급반출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반입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미반입현황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반출ㆍ입현황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무단반출입제외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인계인수이력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cxnSp>
          <p:nvCxnSpPr>
            <p:cNvPr id="183" name="꺾인 연결선 182"/>
            <p:cNvCxnSpPr>
              <a:endCxn id="181" idx="1"/>
            </p:cNvCxnSpPr>
            <p:nvPr/>
          </p:nvCxnSpPr>
          <p:spPr>
            <a:xfrm rot="16200000" flipH="1">
              <a:off x="4632370" y="2348330"/>
              <a:ext cx="1193432" cy="105556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AutoShape 47"/>
            <p:cNvSpPr>
              <a:spLocks noChangeArrowheads="1"/>
            </p:cNvSpPr>
            <p:nvPr/>
          </p:nvSpPr>
          <p:spPr bwMode="auto">
            <a:xfrm>
              <a:off x="5281864" y="3778869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정수점검</a:t>
              </a:r>
              <a:endParaRPr lang="ko-KR" altLang="en-US" sz="1000" dirty="0"/>
            </a:p>
          </p:txBody>
        </p:sp>
        <p:cxnSp>
          <p:nvCxnSpPr>
            <p:cNvPr id="188" name="꺾인 연결선 187"/>
            <p:cNvCxnSpPr>
              <a:endCxn id="187" idx="1"/>
            </p:cNvCxnSpPr>
            <p:nvPr/>
          </p:nvCxnSpPr>
          <p:spPr>
            <a:xfrm rot="16200000" flipH="1">
              <a:off x="4569220" y="3317713"/>
              <a:ext cx="1319730" cy="105558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AutoShape 184"/>
            <p:cNvSpPr>
              <a:spLocks noChangeArrowheads="1"/>
            </p:cNvSpPr>
            <p:nvPr/>
          </p:nvSpPr>
          <p:spPr bwMode="auto">
            <a:xfrm>
              <a:off x="6345270" y="3907246"/>
              <a:ext cx="807913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정수점검스케줄링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정수점검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sp>
          <p:nvSpPr>
            <p:cNvPr id="190" name="AutoShape 47"/>
            <p:cNvSpPr>
              <a:spLocks noChangeArrowheads="1"/>
            </p:cNvSpPr>
            <p:nvPr/>
          </p:nvSpPr>
          <p:spPr bwMode="auto">
            <a:xfrm>
              <a:off x="5281864" y="4475845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서고점검</a:t>
              </a:r>
              <a:endParaRPr lang="ko-KR" altLang="en-US" sz="1000" dirty="0"/>
            </a:p>
          </p:txBody>
        </p:sp>
        <p:cxnSp>
          <p:nvCxnSpPr>
            <p:cNvPr id="191" name="꺾인 연결선 190"/>
            <p:cNvCxnSpPr>
              <a:endCxn id="190" idx="1"/>
            </p:cNvCxnSpPr>
            <p:nvPr/>
          </p:nvCxnSpPr>
          <p:spPr>
            <a:xfrm rot="16200000" flipH="1">
              <a:off x="4865500" y="4310969"/>
              <a:ext cx="727170" cy="105558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AutoShape 184"/>
            <p:cNvSpPr>
              <a:spLocks noChangeArrowheads="1"/>
            </p:cNvSpPr>
            <p:nvPr/>
          </p:nvSpPr>
          <p:spPr bwMode="auto">
            <a:xfrm>
              <a:off x="6345270" y="4604222"/>
              <a:ext cx="807913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서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고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점검스케줄링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서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고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점검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cxnSp>
          <p:nvCxnSpPr>
            <p:cNvPr id="193" name="꺾인 연결선 192"/>
            <p:cNvCxnSpPr>
              <a:endCxn id="194" idx="1"/>
            </p:cNvCxnSpPr>
            <p:nvPr/>
          </p:nvCxnSpPr>
          <p:spPr>
            <a:xfrm>
              <a:off x="5176306" y="1401857"/>
              <a:ext cx="2335574" cy="474547"/>
            </a:xfrm>
            <a:prstGeom prst="bentConnector3">
              <a:avLst>
                <a:gd name="adj1" fmla="val 95005"/>
              </a:avLst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AutoShape 47"/>
            <p:cNvSpPr>
              <a:spLocks noChangeArrowheads="1"/>
            </p:cNvSpPr>
            <p:nvPr/>
          </p:nvSpPr>
          <p:spPr bwMode="auto">
            <a:xfrm>
              <a:off x="7511880" y="1624916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이송</a:t>
              </a:r>
              <a:endParaRPr lang="ko-KR" altLang="en-US" sz="1000" dirty="0"/>
            </a:p>
          </p:txBody>
        </p:sp>
        <p:sp>
          <p:nvSpPr>
            <p:cNvPr id="197" name="AutoShape 184"/>
            <p:cNvSpPr>
              <a:spLocks noChangeArrowheads="1"/>
            </p:cNvSpPr>
            <p:nvPr/>
          </p:nvSpPr>
          <p:spPr bwMode="auto">
            <a:xfrm>
              <a:off x="8575286" y="1630182"/>
              <a:ext cx="621965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이송스케줄링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이송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입고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서고배치의뢰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sp>
          <p:nvSpPr>
            <p:cNvPr id="198" name="AutoShape 47"/>
            <p:cNvSpPr>
              <a:spLocks noChangeArrowheads="1"/>
            </p:cNvSpPr>
            <p:nvPr/>
          </p:nvSpPr>
          <p:spPr bwMode="auto">
            <a:xfrm>
              <a:off x="7511879" y="2337261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en-US" altLang="ko-KR" sz="1000" dirty="0" smtClean="0"/>
                <a:t>RFID</a:t>
              </a:r>
              <a:r>
                <a:rPr lang="ko-KR" altLang="en-US" sz="1000" dirty="0" smtClean="0"/>
                <a:t>관리</a:t>
              </a:r>
              <a:endParaRPr lang="ko-KR" altLang="en-US" sz="1000" dirty="0"/>
            </a:p>
          </p:txBody>
        </p:sp>
        <p:cxnSp>
          <p:nvCxnSpPr>
            <p:cNvPr id="199" name="꺾인 연결선 198"/>
            <p:cNvCxnSpPr>
              <a:endCxn id="198" idx="1"/>
            </p:cNvCxnSpPr>
            <p:nvPr/>
          </p:nvCxnSpPr>
          <p:spPr>
            <a:xfrm rot="16200000" flipH="1">
              <a:off x="7082866" y="2159736"/>
              <a:ext cx="743924" cy="114102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AutoShape 47"/>
            <p:cNvSpPr>
              <a:spLocks noChangeArrowheads="1"/>
            </p:cNvSpPr>
            <p:nvPr/>
          </p:nvSpPr>
          <p:spPr bwMode="auto">
            <a:xfrm>
              <a:off x="7511880" y="3070041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기록물</a:t>
              </a:r>
              <a:endParaRPr lang="en-US" altLang="ko-KR" sz="1000" dirty="0" smtClean="0"/>
            </a:p>
            <a:p>
              <a:pPr algn="ctr"/>
              <a:r>
                <a:rPr lang="ko-KR" altLang="en-US" sz="1000" dirty="0" err="1" smtClean="0"/>
                <a:t>위치별현</a:t>
              </a:r>
              <a:r>
                <a:rPr lang="ko-KR" altLang="en-US" sz="1000" dirty="0" err="1"/>
                <a:t>황</a:t>
              </a:r>
              <a:endParaRPr lang="ko-KR" altLang="en-US" sz="1000" dirty="0"/>
            </a:p>
          </p:txBody>
        </p:sp>
        <p:cxnSp>
          <p:nvCxnSpPr>
            <p:cNvPr id="204" name="꺾인 연결선 203"/>
            <p:cNvCxnSpPr>
              <a:endCxn id="203" idx="1"/>
            </p:cNvCxnSpPr>
            <p:nvPr/>
          </p:nvCxnSpPr>
          <p:spPr>
            <a:xfrm rot="16200000" flipH="1">
              <a:off x="7040511" y="2850160"/>
              <a:ext cx="828632" cy="114106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AutoShape 47"/>
            <p:cNvSpPr>
              <a:spLocks noChangeArrowheads="1"/>
            </p:cNvSpPr>
            <p:nvPr/>
          </p:nvSpPr>
          <p:spPr bwMode="auto">
            <a:xfrm>
              <a:off x="7511877" y="3790121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서고현황</a:t>
              </a:r>
              <a:endParaRPr lang="ko-KR" altLang="en-US" sz="1000" dirty="0"/>
            </a:p>
          </p:txBody>
        </p:sp>
        <p:cxnSp>
          <p:nvCxnSpPr>
            <p:cNvPr id="207" name="꺾인 연결선 206"/>
            <p:cNvCxnSpPr>
              <a:endCxn id="206" idx="1"/>
            </p:cNvCxnSpPr>
            <p:nvPr/>
          </p:nvCxnSpPr>
          <p:spPr>
            <a:xfrm rot="16200000" flipH="1">
              <a:off x="7040510" y="3570242"/>
              <a:ext cx="828632" cy="114102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AutoShape 184"/>
            <p:cNvSpPr>
              <a:spLocks noChangeArrowheads="1"/>
            </p:cNvSpPr>
            <p:nvPr/>
          </p:nvSpPr>
          <p:spPr bwMode="auto">
            <a:xfrm>
              <a:off x="8575286" y="2342528"/>
              <a:ext cx="993862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고정형리더기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태그발행등록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반출입이력조회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고정형리더기현황조회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</p:grpSp>
      <p:sp>
        <p:nvSpPr>
          <p:cNvPr id="81" name="TextBox 80"/>
          <p:cNvSpPr txBox="1"/>
          <p:nvPr/>
        </p:nvSpPr>
        <p:spPr>
          <a:xfrm>
            <a:off x="56727" y="138118"/>
            <a:ext cx="5184433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 extrusionH="6350"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□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중앙영구기록관리시스템 메뉴구성도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기록물 관리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]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83" name="AutoShape 47"/>
          <p:cNvSpPr>
            <a:spLocks noChangeArrowheads="1"/>
          </p:cNvSpPr>
          <p:nvPr/>
        </p:nvSpPr>
        <p:spPr bwMode="auto">
          <a:xfrm>
            <a:off x="7578836" y="4510201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ko-KR" altLang="en-US" sz="1000" dirty="0" smtClean="0"/>
              <a:t>관리전환검색</a:t>
            </a:r>
            <a:endParaRPr lang="ko-KR" altLang="en-US" sz="1000" dirty="0"/>
          </a:p>
        </p:txBody>
      </p:sp>
      <p:cxnSp>
        <p:nvCxnSpPr>
          <p:cNvPr id="84" name="꺾인 연결선 83"/>
          <p:cNvCxnSpPr>
            <a:endCxn id="83" idx="1"/>
          </p:cNvCxnSpPr>
          <p:nvPr/>
        </p:nvCxnSpPr>
        <p:spPr>
          <a:xfrm rot="16200000" flipH="1">
            <a:off x="7107469" y="4290322"/>
            <a:ext cx="828632" cy="114102"/>
          </a:xfrm>
          <a:prstGeom prst="bentConnector2">
            <a:avLst/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6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그룹 49"/>
          <p:cNvGrpSpPr/>
          <p:nvPr/>
        </p:nvGrpSpPr>
        <p:grpSpPr>
          <a:xfrm>
            <a:off x="47830" y="692696"/>
            <a:ext cx="9793088" cy="5760640"/>
            <a:chOff x="47830" y="692696"/>
            <a:chExt cx="9793088" cy="5760640"/>
          </a:xfrm>
        </p:grpSpPr>
        <p:sp>
          <p:nvSpPr>
            <p:cNvPr id="51" name="AutoShape 47"/>
            <p:cNvSpPr>
              <a:spLocks noChangeArrowheads="1"/>
            </p:cNvSpPr>
            <p:nvPr/>
          </p:nvSpPr>
          <p:spPr bwMode="auto">
            <a:xfrm>
              <a:off x="47830" y="692696"/>
              <a:ext cx="9793088" cy="5760640"/>
            </a:xfrm>
            <a:prstGeom prst="roundRect">
              <a:avLst>
                <a:gd name="adj" fmla="val 4387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wrap="none" lIns="0" tIns="0" rIns="0" bIns="0" anchor="ctr"/>
            <a:lstStyle/>
            <a:p>
              <a:r>
                <a:rPr lang="en-US" altLang="ko-KR" sz="1000" dirty="0" smtClean="0"/>
                <a:t> </a:t>
              </a:r>
              <a:endParaRPr lang="ko-KR" altLang="en-US" sz="1000" dirty="0"/>
            </a:p>
          </p:txBody>
        </p:sp>
        <p:pic>
          <p:nvPicPr>
            <p:cNvPr id="52" name="Picture 2" descr="C:\Users\WooJung\Desktop\h1_logo.gif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4523" y="6038443"/>
              <a:ext cx="1966608" cy="3081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3793252" y="6501131"/>
            <a:ext cx="2311400" cy="365125"/>
          </a:xfrm>
        </p:spPr>
        <p:txBody>
          <a:bodyPr/>
          <a:lstStyle/>
          <a:p>
            <a:pPr algn="ctr"/>
            <a:r>
              <a:rPr lang="en-US" altLang="ko-KR" dirty="0" smtClean="0"/>
              <a:t>- </a:t>
            </a:r>
            <a:fld id="{D00CF5D5-E37B-49FA-B331-805CB85D8C4B}" type="slidenum">
              <a:rPr lang="en-US" altLang="ko-KR" smtClean="0"/>
              <a:t>3</a:t>
            </a:fld>
            <a:r>
              <a:rPr lang="ko-KR" altLang="en-US" dirty="0" smtClean="0"/>
              <a:t> </a:t>
            </a:r>
            <a:r>
              <a:rPr lang="en-US" altLang="ko-KR" dirty="0" smtClean="0"/>
              <a:t>-</a:t>
            </a:r>
            <a:endParaRPr lang="ko-KR" altLang="en-US" dirty="0"/>
          </a:p>
        </p:txBody>
      </p:sp>
      <p:grpSp>
        <p:nvGrpSpPr>
          <p:cNvPr id="123" name="그룹 122"/>
          <p:cNvGrpSpPr/>
          <p:nvPr/>
        </p:nvGrpSpPr>
        <p:grpSpPr>
          <a:xfrm>
            <a:off x="5939577" y="890657"/>
            <a:ext cx="2397799" cy="2102123"/>
            <a:chOff x="171049" y="890657"/>
            <a:chExt cx="2397799" cy="2102123"/>
          </a:xfrm>
        </p:grpSpPr>
        <p:sp>
          <p:nvSpPr>
            <p:cNvPr id="124" name="모서리가 둥근 직사각형 123"/>
            <p:cNvSpPr/>
            <p:nvPr/>
          </p:nvSpPr>
          <p:spPr>
            <a:xfrm>
              <a:off x="171049" y="890657"/>
              <a:ext cx="1266616" cy="352724"/>
            </a:xfrm>
            <a:prstGeom prst="roundRect">
              <a:avLst/>
            </a:prstGeom>
            <a:blipFill>
              <a:blip r:embed="rId4"/>
              <a:stretch>
                <a:fillRect/>
              </a:stretch>
            </a:blipFill>
            <a:ln w="12700">
              <a:solidFill>
                <a:schemeClr val="accent3">
                  <a:lumMod val="75000"/>
                </a:schemeClr>
              </a:solidFill>
            </a:ln>
            <a:effectLst>
              <a:outerShdw blurRad="38100" sx="102000" sy="102000" algn="ctr" rotWithShape="0">
                <a:prstClr val="black">
                  <a:alpha val="9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보존포맷</a:t>
              </a:r>
              <a:endParaRPr lang="ko-KR" altLang="en-US" sz="12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cxnSp>
          <p:nvCxnSpPr>
            <p:cNvPr id="125" name="꺾인 연결선 124"/>
            <p:cNvCxnSpPr>
              <a:endCxn id="126" idx="1"/>
            </p:cNvCxnSpPr>
            <p:nvPr/>
          </p:nvCxnSpPr>
          <p:spPr>
            <a:xfrm rot="16200000" flipH="1">
              <a:off x="131925" y="1507112"/>
              <a:ext cx="633024" cy="105560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AutoShape 47"/>
            <p:cNvSpPr>
              <a:spLocks noChangeArrowheads="1"/>
            </p:cNvSpPr>
            <p:nvPr/>
          </p:nvSpPr>
          <p:spPr bwMode="auto">
            <a:xfrm>
              <a:off x="501217" y="1624916"/>
              <a:ext cx="1008918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보존포맷</a:t>
              </a:r>
              <a:endParaRPr lang="en-US" altLang="ko-KR" sz="1000" dirty="0" smtClean="0"/>
            </a:p>
            <a:p>
              <a:pPr algn="ctr"/>
              <a:r>
                <a:rPr lang="ko-KR" altLang="en-US" sz="1000" dirty="0" smtClean="0"/>
                <a:t>변환작</a:t>
              </a:r>
              <a:r>
                <a:rPr lang="ko-KR" altLang="en-US" sz="1000" dirty="0"/>
                <a:t>업</a:t>
              </a:r>
            </a:p>
          </p:txBody>
        </p:sp>
        <p:sp>
          <p:nvSpPr>
            <p:cNvPr id="127" name="AutoShape 184"/>
            <p:cNvSpPr>
              <a:spLocks noChangeArrowheads="1"/>
            </p:cNvSpPr>
            <p:nvPr/>
          </p:nvSpPr>
          <p:spPr bwMode="auto">
            <a:xfrm>
              <a:off x="1574986" y="1563363"/>
              <a:ext cx="889667" cy="6155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보존포맷변환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스토리지저장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보존포맷변환관리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재변환대상선정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재변환이력관리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sp>
          <p:nvSpPr>
            <p:cNvPr id="128" name="AutoShape 47"/>
            <p:cNvSpPr>
              <a:spLocks noChangeArrowheads="1"/>
            </p:cNvSpPr>
            <p:nvPr/>
          </p:nvSpPr>
          <p:spPr bwMode="auto">
            <a:xfrm>
              <a:off x="501217" y="2438781"/>
              <a:ext cx="1008918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보존매체</a:t>
              </a:r>
              <a:endParaRPr lang="en-US" altLang="ko-KR" sz="1000" dirty="0" smtClean="0"/>
            </a:p>
            <a:p>
              <a:pPr algn="ctr"/>
              <a:r>
                <a:rPr lang="ko-KR" altLang="en-US" sz="1000" dirty="0" smtClean="0"/>
                <a:t>수록관</a:t>
              </a:r>
              <a:r>
                <a:rPr lang="ko-KR" altLang="en-US" sz="1000" dirty="0"/>
                <a:t>리</a:t>
              </a:r>
            </a:p>
          </p:txBody>
        </p:sp>
        <p:sp>
          <p:nvSpPr>
            <p:cNvPr id="129" name="AutoShape 184"/>
            <p:cNvSpPr>
              <a:spLocks noChangeArrowheads="1"/>
            </p:cNvSpPr>
            <p:nvPr/>
          </p:nvSpPr>
          <p:spPr bwMode="auto">
            <a:xfrm>
              <a:off x="1574986" y="2500337"/>
              <a:ext cx="993862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보존매체수록스케줄링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보존매체수록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RFID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태그발행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서고배치의뢰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cxnSp>
          <p:nvCxnSpPr>
            <p:cNvPr id="130" name="꺾인 연결선 129"/>
            <p:cNvCxnSpPr>
              <a:endCxn id="128" idx="1"/>
            </p:cNvCxnSpPr>
            <p:nvPr/>
          </p:nvCxnSpPr>
          <p:spPr>
            <a:xfrm rot="16200000" flipH="1">
              <a:off x="6839" y="2195891"/>
              <a:ext cx="883196" cy="105560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/>
          <p:cNvSpPr txBox="1"/>
          <p:nvPr/>
        </p:nvSpPr>
        <p:spPr>
          <a:xfrm>
            <a:off x="56727" y="138118"/>
            <a:ext cx="5184433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 extrusionH="6350"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□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중앙영구기록관리시스템 메뉴구성도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기록물 관리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]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167148" y="890657"/>
            <a:ext cx="5499239" cy="4743756"/>
            <a:chOff x="167148" y="890657"/>
            <a:chExt cx="5499239" cy="4743756"/>
          </a:xfrm>
        </p:grpSpPr>
        <p:sp>
          <p:nvSpPr>
            <p:cNvPr id="174" name="모서리가 둥근 직사각형 173"/>
            <p:cNvSpPr/>
            <p:nvPr/>
          </p:nvSpPr>
          <p:spPr>
            <a:xfrm>
              <a:off x="167148" y="890657"/>
              <a:ext cx="1266616" cy="352724"/>
            </a:xfrm>
            <a:prstGeom prst="roundRect">
              <a:avLst/>
            </a:prstGeom>
            <a:blipFill>
              <a:blip r:embed="rId4"/>
              <a:stretch>
                <a:fillRect/>
              </a:stretch>
            </a:blipFill>
            <a:ln w="12700">
              <a:solidFill>
                <a:schemeClr val="accent3">
                  <a:lumMod val="75000"/>
                </a:schemeClr>
              </a:solidFill>
            </a:ln>
            <a:effectLst>
              <a:outerShdw blurRad="38100" sx="102000" sy="102000" algn="ctr" rotWithShape="0">
                <a:prstClr val="black">
                  <a:alpha val="9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solidFill>
                    <a:schemeClr val="bg1"/>
                  </a:solidFill>
                  <a:latin typeface="+mj-ea"/>
                  <a:ea typeface="+mj-ea"/>
                </a:rPr>
                <a:t>보 </a:t>
              </a:r>
              <a:r>
                <a:rPr lang="ko-KR" altLang="en-US" sz="12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존</a:t>
              </a:r>
              <a:endParaRPr lang="ko-KR" altLang="en-US" sz="12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cxnSp>
          <p:nvCxnSpPr>
            <p:cNvPr id="175" name="꺾인 연결선 174"/>
            <p:cNvCxnSpPr>
              <a:endCxn id="176" idx="1"/>
            </p:cNvCxnSpPr>
            <p:nvPr/>
          </p:nvCxnSpPr>
          <p:spPr>
            <a:xfrm rot="16200000" flipH="1">
              <a:off x="128024" y="1507113"/>
              <a:ext cx="633024" cy="105558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AutoShape 47"/>
            <p:cNvSpPr>
              <a:spLocks noChangeArrowheads="1"/>
            </p:cNvSpPr>
            <p:nvPr/>
          </p:nvSpPr>
          <p:spPr bwMode="auto">
            <a:xfrm>
              <a:off x="497315" y="1624916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소독</a:t>
              </a:r>
              <a:endParaRPr lang="ko-KR" altLang="en-US" sz="1000" dirty="0"/>
            </a:p>
          </p:txBody>
        </p:sp>
        <p:sp>
          <p:nvSpPr>
            <p:cNvPr id="177" name="AutoShape 184"/>
            <p:cNvSpPr>
              <a:spLocks noChangeArrowheads="1"/>
            </p:cNvSpPr>
            <p:nvPr/>
          </p:nvSpPr>
          <p:spPr bwMode="auto">
            <a:xfrm>
              <a:off x="1560721" y="1753293"/>
              <a:ext cx="684483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소독스케줄링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소독처리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sp>
          <p:nvSpPr>
            <p:cNvPr id="181" name="AutoShape 47"/>
            <p:cNvSpPr>
              <a:spLocks noChangeArrowheads="1"/>
            </p:cNvSpPr>
            <p:nvPr/>
          </p:nvSpPr>
          <p:spPr bwMode="auto">
            <a:xfrm>
              <a:off x="497315" y="2321004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상태검사</a:t>
              </a:r>
              <a:r>
                <a:rPr lang="en-US" altLang="ko-KR" sz="1000" dirty="0" smtClean="0"/>
                <a:t>(</a:t>
              </a:r>
              <a:r>
                <a:rPr lang="ko-KR" altLang="en-US" sz="1000" dirty="0" smtClean="0"/>
                <a:t>점검</a:t>
              </a:r>
              <a:r>
                <a:rPr lang="en-US" altLang="ko-KR" sz="1000" dirty="0" smtClean="0"/>
                <a:t>)</a:t>
              </a:r>
              <a:endParaRPr lang="ko-KR" altLang="en-US" sz="1000" dirty="0"/>
            </a:p>
          </p:txBody>
        </p:sp>
        <p:sp>
          <p:nvSpPr>
            <p:cNvPr id="182" name="AutoShape 184"/>
            <p:cNvSpPr>
              <a:spLocks noChangeArrowheads="1"/>
            </p:cNvSpPr>
            <p:nvPr/>
          </p:nvSpPr>
          <p:spPr bwMode="auto">
            <a:xfrm>
              <a:off x="1560721" y="2321004"/>
              <a:ext cx="1171796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상태검사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점검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)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스케줄링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상태검사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점검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)</a:t>
              </a: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상태검사검색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상태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/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정수점검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전자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)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cxnSp>
          <p:nvCxnSpPr>
            <p:cNvPr id="183" name="꺾인 연결선 182"/>
            <p:cNvCxnSpPr>
              <a:endCxn id="181" idx="1"/>
            </p:cNvCxnSpPr>
            <p:nvPr/>
          </p:nvCxnSpPr>
          <p:spPr>
            <a:xfrm rot="16200000" flipH="1">
              <a:off x="-152179" y="1922998"/>
              <a:ext cx="1193432" cy="105556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꺾인 연결선 192"/>
            <p:cNvCxnSpPr>
              <a:endCxn id="91" idx="1"/>
            </p:cNvCxnSpPr>
            <p:nvPr/>
          </p:nvCxnSpPr>
          <p:spPr>
            <a:xfrm>
              <a:off x="391756" y="1379060"/>
              <a:ext cx="2570693" cy="480092"/>
            </a:xfrm>
            <a:prstGeom prst="bentConnector3">
              <a:avLst>
                <a:gd name="adj1" fmla="val 95637"/>
              </a:avLst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꺾인 연결선 198"/>
            <p:cNvCxnSpPr>
              <a:endCxn id="93" idx="1"/>
            </p:cNvCxnSpPr>
            <p:nvPr/>
          </p:nvCxnSpPr>
          <p:spPr>
            <a:xfrm rot="16200000" flipH="1">
              <a:off x="2531001" y="2807946"/>
              <a:ext cx="746497" cy="116399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꺾인 연결선 203"/>
            <p:cNvCxnSpPr>
              <a:endCxn id="95" idx="1"/>
            </p:cNvCxnSpPr>
            <p:nvPr/>
          </p:nvCxnSpPr>
          <p:spPr>
            <a:xfrm rot="16200000" flipH="1">
              <a:off x="2503266" y="3502581"/>
              <a:ext cx="801964" cy="116402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꺾인 연결선 206"/>
            <p:cNvCxnSpPr>
              <a:endCxn id="97" idx="1"/>
            </p:cNvCxnSpPr>
            <p:nvPr/>
          </p:nvCxnSpPr>
          <p:spPr>
            <a:xfrm rot="16200000" flipH="1">
              <a:off x="2506597" y="4219330"/>
              <a:ext cx="795303" cy="116401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AutoShape 47"/>
            <p:cNvSpPr>
              <a:spLocks noChangeArrowheads="1"/>
            </p:cNvSpPr>
            <p:nvPr/>
          </p:nvSpPr>
          <p:spPr bwMode="auto">
            <a:xfrm>
              <a:off x="497315" y="3043373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제본</a:t>
              </a:r>
              <a:endParaRPr lang="ko-KR" altLang="en-US" sz="1000" dirty="0"/>
            </a:p>
          </p:txBody>
        </p:sp>
        <p:sp>
          <p:nvSpPr>
            <p:cNvPr id="81" name="AutoShape 184"/>
            <p:cNvSpPr>
              <a:spLocks noChangeArrowheads="1"/>
            </p:cNvSpPr>
            <p:nvPr/>
          </p:nvSpPr>
          <p:spPr bwMode="auto">
            <a:xfrm>
              <a:off x="1565211" y="3171749"/>
              <a:ext cx="621965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제본스케줄링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제본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cxnSp>
          <p:nvCxnSpPr>
            <p:cNvPr id="83" name="꺾인 연결선 82"/>
            <p:cNvCxnSpPr>
              <a:endCxn id="65" idx="1"/>
            </p:cNvCxnSpPr>
            <p:nvPr/>
          </p:nvCxnSpPr>
          <p:spPr>
            <a:xfrm rot="16200000" flipH="1">
              <a:off x="-31629" y="2765916"/>
              <a:ext cx="952333" cy="105556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AutoShape 47"/>
            <p:cNvSpPr>
              <a:spLocks noChangeArrowheads="1"/>
            </p:cNvSpPr>
            <p:nvPr/>
          </p:nvSpPr>
          <p:spPr bwMode="auto">
            <a:xfrm>
              <a:off x="497315" y="3756794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err="1" smtClean="0"/>
                <a:t>탈</a:t>
              </a:r>
              <a:r>
                <a:rPr lang="ko-KR" altLang="en-US" sz="1000" dirty="0" err="1"/>
                <a:t>산</a:t>
              </a:r>
              <a:endParaRPr lang="ko-KR" altLang="en-US" sz="1000" dirty="0"/>
            </a:p>
          </p:txBody>
        </p:sp>
        <p:sp>
          <p:nvSpPr>
            <p:cNvPr id="85" name="AutoShape 184"/>
            <p:cNvSpPr>
              <a:spLocks noChangeArrowheads="1"/>
            </p:cNvSpPr>
            <p:nvPr/>
          </p:nvSpPr>
          <p:spPr bwMode="auto">
            <a:xfrm>
              <a:off x="1569443" y="3785087"/>
              <a:ext cx="684483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탈산스케줄링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탈산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탈산결과조회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/>
              </a:r>
              <a:b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</a:b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cxnSp>
          <p:nvCxnSpPr>
            <p:cNvPr id="87" name="꺾인 연결선 86"/>
            <p:cNvCxnSpPr>
              <a:endCxn id="84" idx="1"/>
            </p:cNvCxnSpPr>
            <p:nvPr/>
          </p:nvCxnSpPr>
          <p:spPr>
            <a:xfrm rot="16200000" flipH="1">
              <a:off x="-31629" y="3479337"/>
              <a:ext cx="952333" cy="105556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AutoShape 47"/>
            <p:cNvSpPr>
              <a:spLocks noChangeArrowheads="1"/>
            </p:cNvSpPr>
            <p:nvPr/>
          </p:nvSpPr>
          <p:spPr bwMode="auto">
            <a:xfrm>
              <a:off x="497315" y="4464536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복원</a:t>
              </a:r>
              <a:endParaRPr lang="ko-KR" altLang="en-US" sz="1000" dirty="0"/>
            </a:p>
          </p:txBody>
        </p:sp>
        <p:sp>
          <p:nvSpPr>
            <p:cNvPr id="89" name="AutoShape 184"/>
            <p:cNvSpPr>
              <a:spLocks noChangeArrowheads="1"/>
            </p:cNvSpPr>
            <p:nvPr/>
          </p:nvSpPr>
          <p:spPr bwMode="auto">
            <a:xfrm>
              <a:off x="1565211" y="4500494"/>
              <a:ext cx="684483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복원스케줄링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복원의뢰접수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복원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복원결과조회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cxnSp>
          <p:nvCxnSpPr>
            <p:cNvPr id="90" name="꺾인 연결선 89"/>
            <p:cNvCxnSpPr>
              <a:endCxn id="88" idx="1"/>
            </p:cNvCxnSpPr>
            <p:nvPr/>
          </p:nvCxnSpPr>
          <p:spPr>
            <a:xfrm rot="16200000" flipH="1">
              <a:off x="-31629" y="4187079"/>
              <a:ext cx="952333" cy="105556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AutoShape 47"/>
            <p:cNvSpPr>
              <a:spLocks noChangeArrowheads="1"/>
            </p:cNvSpPr>
            <p:nvPr/>
          </p:nvSpPr>
          <p:spPr bwMode="auto">
            <a:xfrm>
              <a:off x="2962449" y="1607664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디지털복원</a:t>
              </a:r>
              <a:endParaRPr lang="en-US" altLang="ko-KR" sz="1000" dirty="0" smtClean="0"/>
            </a:p>
            <a:p>
              <a:pPr algn="ctr"/>
              <a:r>
                <a:rPr lang="en-US" altLang="ko-KR" sz="1000" dirty="0" smtClean="0"/>
                <a:t>(</a:t>
              </a:r>
              <a:r>
                <a:rPr lang="ko-KR" altLang="en-US" sz="1000" dirty="0" smtClean="0"/>
                <a:t>시청각</a:t>
              </a:r>
              <a:r>
                <a:rPr lang="en-US" altLang="ko-KR" sz="1000" dirty="0" smtClean="0"/>
                <a:t>)</a:t>
              </a:r>
              <a:endParaRPr lang="ko-KR" altLang="en-US" sz="1000" dirty="0"/>
            </a:p>
          </p:txBody>
        </p:sp>
        <p:sp>
          <p:nvSpPr>
            <p:cNvPr id="92" name="AutoShape 184"/>
            <p:cNvSpPr>
              <a:spLocks noChangeArrowheads="1"/>
            </p:cNvSpPr>
            <p:nvPr/>
          </p:nvSpPr>
          <p:spPr bwMode="auto">
            <a:xfrm>
              <a:off x="4025855" y="1674486"/>
              <a:ext cx="137698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디지털복원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시청각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)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스케줄링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디지털복원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시청각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)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디지털복원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시청각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)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결과조회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sp>
          <p:nvSpPr>
            <p:cNvPr id="93" name="AutoShape 47"/>
            <p:cNvSpPr>
              <a:spLocks noChangeArrowheads="1"/>
            </p:cNvSpPr>
            <p:nvPr/>
          </p:nvSpPr>
          <p:spPr bwMode="auto">
            <a:xfrm>
              <a:off x="2962449" y="2987907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보존처리</a:t>
              </a:r>
              <a:endParaRPr lang="en-US" altLang="ko-KR" sz="1000" dirty="0"/>
            </a:p>
            <a:p>
              <a:pPr algn="ctr"/>
              <a:r>
                <a:rPr lang="en-US" altLang="ko-KR" sz="1000" dirty="0" smtClean="0"/>
                <a:t>(</a:t>
              </a:r>
              <a:r>
                <a:rPr lang="ko-KR" altLang="en-US" sz="1000" dirty="0" smtClean="0"/>
                <a:t>시청각</a:t>
              </a:r>
              <a:r>
                <a:rPr lang="en-US" altLang="ko-KR" sz="1000" dirty="0" smtClean="0"/>
                <a:t>)</a:t>
              </a:r>
              <a:endParaRPr lang="ko-KR" altLang="en-US" sz="1000" dirty="0"/>
            </a:p>
          </p:txBody>
        </p:sp>
        <p:sp>
          <p:nvSpPr>
            <p:cNvPr id="94" name="AutoShape 184"/>
            <p:cNvSpPr>
              <a:spLocks noChangeArrowheads="1"/>
            </p:cNvSpPr>
            <p:nvPr/>
          </p:nvSpPr>
          <p:spPr bwMode="auto">
            <a:xfrm>
              <a:off x="4025855" y="3116284"/>
              <a:ext cx="1134926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보존처리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시청각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)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스케줄링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보존처리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시청각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)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sp>
          <p:nvSpPr>
            <p:cNvPr id="95" name="AutoShape 47"/>
            <p:cNvSpPr>
              <a:spLocks noChangeArrowheads="1"/>
            </p:cNvSpPr>
            <p:nvPr/>
          </p:nvSpPr>
          <p:spPr bwMode="auto">
            <a:xfrm>
              <a:off x="2962449" y="3710276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보존처리</a:t>
              </a:r>
              <a:endParaRPr lang="en-US" altLang="ko-KR" sz="1000" dirty="0"/>
            </a:p>
            <a:p>
              <a:pPr algn="ctr"/>
              <a:r>
                <a:rPr lang="en-US" altLang="ko-KR" sz="1000" dirty="0" smtClean="0"/>
                <a:t>(</a:t>
              </a:r>
              <a:r>
                <a:rPr lang="ko-KR" altLang="en-US" sz="1000" dirty="0" err="1" smtClean="0"/>
                <a:t>박물류</a:t>
              </a:r>
              <a:r>
                <a:rPr lang="en-US" altLang="ko-KR" sz="1000" dirty="0" smtClean="0"/>
                <a:t>)</a:t>
              </a:r>
              <a:endParaRPr lang="ko-KR" altLang="en-US" sz="1000" dirty="0"/>
            </a:p>
          </p:txBody>
        </p:sp>
        <p:sp>
          <p:nvSpPr>
            <p:cNvPr id="96" name="AutoShape 184"/>
            <p:cNvSpPr>
              <a:spLocks noChangeArrowheads="1"/>
            </p:cNvSpPr>
            <p:nvPr/>
          </p:nvSpPr>
          <p:spPr bwMode="auto">
            <a:xfrm>
              <a:off x="4025855" y="3698291"/>
              <a:ext cx="1274388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보존처리접수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보존처리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(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박물류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)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스케쥴</a:t>
              </a:r>
              <a:r>
                <a:rPr lang="ko-KR" altLang="en-US" sz="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링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보존처리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(</a:t>
              </a:r>
              <a:r>
                <a:rPr lang="ko-KR" altLang="en-US" sz="8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박물류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)</a:t>
              </a: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보존처리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(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박물류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)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검색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sp>
          <p:nvSpPr>
            <p:cNvPr id="97" name="AutoShape 47"/>
            <p:cNvSpPr>
              <a:spLocks noChangeArrowheads="1"/>
            </p:cNvSpPr>
            <p:nvPr/>
          </p:nvSpPr>
          <p:spPr bwMode="auto">
            <a:xfrm>
              <a:off x="2962449" y="4423695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종이기록물</a:t>
              </a:r>
              <a:endParaRPr lang="en-US" altLang="ko-KR" sz="1000" dirty="0" smtClean="0"/>
            </a:p>
            <a:p>
              <a:pPr algn="ctr"/>
              <a:r>
                <a:rPr lang="ko-KR" altLang="en-US" sz="1000" dirty="0" smtClean="0"/>
                <a:t>복</a:t>
              </a:r>
              <a:r>
                <a:rPr lang="ko-KR" altLang="en-US" sz="1000" dirty="0"/>
                <a:t>제</a:t>
              </a:r>
            </a:p>
          </p:txBody>
        </p:sp>
        <p:sp>
          <p:nvSpPr>
            <p:cNvPr id="104" name="AutoShape 184"/>
            <p:cNvSpPr>
              <a:spLocks noChangeArrowheads="1"/>
            </p:cNvSpPr>
            <p:nvPr/>
          </p:nvSpPr>
          <p:spPr bwMode="auto">
            <a:xfrm>
              <a:off x="4025855" y="4428962"/>
              <a:ext cx="807913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복제스케줄링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외부복제의뢰접수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복제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복제검색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sp>
          <p:nvSpPr>
            <p:cNvPr id="105" name="AutoShape 47"/>
            <p:cNvSpPr>
              <a:spLocks noChangeArrowheads="1"/>
            </p:cNvSpPr>
            <p:nvPr/>
          </p:nvSpPr>
          <p:spPr bwMode="auto">
            <a:xfrm>
              <a:off x="2962449" y="5131438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매체이전</a:t>
              </a:r>
              <a:endParaRPr lang="en-US" altLang="ko-KR" sz="1000" dirty="0" smtClean="0"/>
            </a:p>
            <a:p>
              <a:pPr algn="ctr"/>
              <a:r>
                <a:rPr lang="en-US" altLang="ko-KR" sz="1000" dirty="0" smtClean="0"/>
                <a:t>(</a:t>
              </a:r>
              <a:r>
                <a:rPr lang="ko-KR" altLang="en-US" sz="1000" dirty="0" smtClean="0"/>
                <a:t>시청각</a:t>
              </a:r>
              <a:r>
                <a:rPr lang="en-US" altLang="ko-KR" sz="1000" dirty="0" smtClean="0"/>
                <a:t>)</a:t>
              </a:r>
              <a:endParaRPr lang="ko-KR" altLang="en-US" sz="1000" dirty="0"/>
            </a:p>
          </p:txBody>
        </p:sp>
        <p:sp>
          <p:nvSpPr>
            <p:cNvPr id="106" name="AutoShape 184"/>
            <p:cNvSpPr>
              <a:spLocks noChangeArrowheads="1"/>
            </p:cNvSpPr>
            <p:nvPr/>
          </p:nvSpPr>
          <p:spPr bwMode="auto">
            <a:xfrm>
              <a:off x="4025855" y="5198261"/>
              <a:ext cx="80791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매체이전스케줄링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매체이전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매체관리번호부여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cxnSp>
          <p:nvCxnSpPr>
            <p:cNvPr id="107" name="꺾인 연결선 106"/>
            <p:cNvCxnSpPr>
              <a:endCxn id="105" idx="1"/>
            </p:cNvCxnSpPr>
            <p:nvPr/>
          </p:nvCxnSpPr>
          <p:spPr>
            <a:xfrm rot="16200000" flipH="1">
              <a:off x="2508568" y="4929045"/>
              <a:ext cx="791360" cy="116401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꺾인 연결선 47"/>
            <p:cNvCxnSpPr>
              <a:endCxn id="49" idx="1"/>
            </p:cNvCxnSpPr>
            <p:nvPr/>
          </p:nvCxnSpPr>
          <p:spPr>
            <a:xfrm rot="16200000" flipH="1">
              <a:off x="2531002" y="2122123"/>
              <a:ext cx="746497" cy="116399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AutoShape 47"/>
            <p:cNvSpPr>
              <a:spLocks noChangeArrowheads="1"/>
            </p:cNvSpPr>
            <p:nvPr/>
          </p:nvSpPr>
          <p:spPr bwMode="auto">
            <a:xfrm>
              <a:off x="2962450" y="2302084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디지털복원</a:t>
              </a:r>
              <a:endParaRPr lang="en-US" altLang="ko-KR" sz="1000" dirty="0"/>
            </a:p>
            <a:p>
              <a:pPr algn="ctr"/>
              <a:r>
                <a:rPr lang="en-US" altLang="ko-KR" sz="1000" dirty="0" smtClean="0"/>
                <a:t>(</a:t>
              </a:r>
              <a:r>
                <a:rPr lang="ko-KR" altLang="en-US" sz="1000" dirty="0" smtClean="0"/>
                <a:t>종이기록물</a:t>
              </a:r>
              <a:r>
                <a:rPr lang="en-US" altLang="ko-KR" sz="1000" dirty="0" smtClean="0"/>
                <a:t>)</a:t>
              </a:r>
              <a:endParaRPr lang="ko-KR" altLang="en-US" sz="1000" dirty="0"/>
            </a:p>
          </p:txBody>
        </p:sp>
        <p:sp>
          <p:nvSpPr>
            <p:cNvPr id="53" name="AutoShape 184"/>
            <p:cNvSpPr>
              <a:spLocks noChangeArrowheads="1"/>
            </p:cNvSpPr>
            <p:nvPr/>
          </p:nvSpPr>
          <p:spPr bwMode="auto">
            <a:xfrm>
              <a:off x="4016896" y="2348880"/>
              <a:ext cx="164949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디지털복원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종이기록물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)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스케줄링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디지털복원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종이기록물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)</a:t>
              </a: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디지털복원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종이기록물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)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결과조회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3114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그룹 64"/>
          <p:cNvGrpSpPr/>
          <p:nvPr/>
        </p:nvGrpSpPr>
        <p:grpSpPr>
          <a:xfrm>
            <a:off x="47830" y="692696"/>
            <a:ext cx="9793088" cy="5760640"/>
            <a:chOff x="47830" y="692696"/>
            <a:chExt cx="9793088" cy="5760640"/>
          </a:xfrm>
        </p:grpSpPr>
        <p:sp>
          <p:nvSpPr>
            <p:cNvPr id="71" name="AutoShape 47"/>
            <p:cNvSpPr>
              <a:spLocks noChangeArrowheads="1"/>
            </p:cNvSpPr>
            <p:nvPr/>
          </p:nvSpPr>
          <p:spPr bwMode="auto">
            <a:xfrm>
              <a:off x="47830" y="692696"/>
              <a:ext cx="9793088" cy="5760640"/>
            </a:xfrm>
            <a:prstGeom prst="roundRect">
              <a:avLst>
                <a:gd name="adj" fmla="val 4387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wrap="none" lIns="0" tIns="0" rIns="0" bIns="0" anchor="ctr"/>
            <a:lstStyle/>
            <a:p>
              <a:r>
                <a:rPr lang="en-US" altLang="ko-KR" sz="1000" dirty="0" smtClean="0"/>
                <a:t> </a:t>
              </a:r>
              <a:endParaRPr lang="ko-KR" altLang="en-US" sz="1000" dirty="0"/>
            </a:p>
          </p:txBody>
        </p:sp>
        <p:pic>
          <p:nvPicPr>
            <p:cNvPr id="72" name="Picture 2" descr="C:\Users\WooJung\Desktop\h1_logo.gif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4523" y="6038443"/>
              <a:ext cx="1966608" cy="3081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3793252" y="6501131"/>
            <a:ext cx="2311400" cy="365125"/>
          </a:xfrm>
        </p:spPr>
        <p:txBody>
          <a:bodyPr/>
          <a:lstStyle/>
          <a:p>
            <a:pPr algn="ctr"/>
            <a:r>
              <a:rPr lang="en-US" altLang="ko-KR" dirty="0" smtClean="0"/>
              <a:t>- </a:t>
            </a:r>
            <a:fld id="{D00CF5D5-E37B-49FA-B331-805CB85D8C4B}" type="slidenum">
              <a:rPr lang="en-US" altLang="ko-KR" smtClean="0"/>
              <a:t>4</a:t>
            </a:fld>
            <a:r>
              <a:rPr lang="ko-KR" altLang="en-US" dirty="0" smtClean="0"/>
              <a:t> </a:t>
            </a:r>
            <a:r>
              <a:rPr lang="en-US" altLang="ko-KR" dirty="0" smtClean="0"/>
              <a:t>-</a:t>
            </a:r>
            <a:endParaRPr lang="ko-KR" alt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56727" y="138118"/>
            <a:ext cx="5184433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 extrusionH="6350"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□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중앙영구기록관리시스템 메뉴구성도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기록물 관리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]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167148" y="890657"/>
            <a:ext cx="4781649" cy="4945774"/>
            <a:chOff x="167148" y="890657"/>
            <a:chExt cx="4781649" cy="4945774"/>
          </a:xfrm>
        </p:grpSpPr>
        <p:sp>
          <p:nvSpPr>
            <p:cNvPr id="174" name="모서리가 둥근 직사각형 173"/>
            <p:cNvSpPr/>
            <p:nvPr/>
          </p:nvSpPr>
          <p:spPr>
            <a:xfrm>
              <a:off x="167148" y="890657"/>
              <a:ext cx="1266616" cy="352724"/>
            </a:xfrm>
            <a:prstGeom prst="roundRect">
              <a:avLst/>
            </a:prstGeom>
            <a:blipFill>
              <a:blip r:embed="rId4"/>
              <a:stretch>
                <a:fillRect/>
              </a:stretch>
            </a:blipFill>
            <a:ln w="12700">
              <a:solidFill>
                <a:schemeClr val="accent3">
                  <a:lumMod val="75000"/>
                </a:schemeClr>
              </a:solidFill>
            </a:ln>
            <a:effectLst>
              <a:outerShdw blurRad="38100" sx="102000" sy="102000" algn="ctr" rotWithShape="0">
                <a:prstClr val="black">
                  <a:alpha val="9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매체수</a:t>
              </a:r>
              <a:r>
                <a:rPr lang="ko-KR" altLang="en-US" sz="1200" b="1" dirty="0">
                  <a:solidFill>
                    <a:schemeClr val="bg1"/>
                  </a:solidFill>
                  <a:latin typeface="+mj-ea"/>
                  <a:ea typeface="+mj-ea"/>
                </a:rPr>
                <a:t>록</a:t>
              </a:r>
            </a:p>
          </p:txBody>
        </p:sp>
        <p:cxnSp>
          <p:nvCxnSpPr>
            <p:cNvPr id="175" name="꺾인 연결선 174"/>
            <p:cNvCxnSpPr>
              <a:endCxn id="176" idx="1"/>
            </p:cNvCxnSpPr>
            <p:nvPr/>
          </p:nvCxnSpPr>
          <p:spPr>
            <a:xfrm rot="16200000" flipH="1">
              <a:off x="76268" y="1532990"/>
              <a:ext cx="684779" cy="105559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AutoShape 47"/>
            <p:cNvSpPr>
              <a:spLocks noChangeArrowheads="1"/>
            </p:cNvSpPr>
            <p:nvPr/>
          </p:nvSpPr>
          <p:spPr bwMode="auto">
            <a:xfrm>
              <a:off x="471437" y="1676672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보존매체</a:t>
              </a:r>
              <a:endParaRPr lang="en-US" altLang="ko-KR" sz="1000" dirty="0" smtClean="0"/>
            </a:p>
            <a:p>
              <a:pPr algn="ctr"/>
              <a:r>
                <a:rPr lang="ko-KR" altLang="en-US" sz="1000" dirty="0" smtClean="0"/>
                <a:t>수록조</a:t>
              </a:r>
              <a:r>
                <a:rPr lang="ko-KR" altLang="en-US" sz="1000" dirty="0"/>
                <a:t>정</a:t>
              </a:r>
            </a:p>
          </p:txBody>
        </p:sp>
        <p:sp>
          <p:nvSpPr>
            <p:cNvPr id="177" name="AutoShape 184"/>
            <p:cNvSpPr>
              <a:spLocks noChangeArrowheads="1"/>
            </p:cNvSpPr>
            <p:nvPr/>
          </p:nvSpPr>
          <p:spPr bwMode="auto">
            <a:xfrm>
              <a:off x="1534843" y="1805049"/>
              <a:ext cx="993862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보존매체수록대상선정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보존매체지정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sp>
          <p:nvSpPr>
            <p:cNvPr id="181" name="AutoShape 47"/>
            <p:cNvSpPr>
              <a:spLocks noChangeArrowheads="1"/>
            </p:cNvSpPr>
            <p:nvPr/>
          </p:nvSpPr>
          <p:spPr bwMode="auto">
            <a:xfrm>
              <a:off x="471437" y="2372760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en-US" altLang="ko-KR" sz="1000" dirty="0" smtClean="0"/>
                <a:t>M/F</a:t>
              </a:r>
              <a:r>
                <a:rPr lang="ko-KR" altLang="en-US" sz="1000" dirty="0" smtClean="0"/>
                <a:t>촬영</a:t>
              </a:r>
              <a:endParaRPr lang="ko-KR" altLang="en-US" sz="1000" dirty="0"/>
            </a:p>
          </p:txBody>
        </p:sp>
        <p:sp>
          <p:nvSpPr>
            <p:cNvPr id="182" name="AutoShape 184"/>
            <p:cNvSpPr>
              <a:spLocks noChangeArrowheads="1"/>
            </p:cNvSpPr>
            <p:nvPr/>
          </p:nvSpPr>
          <p:spPr bwMode="auto">
            <a:xfrm>
              <a:off x="1534843" y="2372760"/>
              <a:ext cx="1000274" cy="11079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M/F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촬영스케줄링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M/F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촬영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M/F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배치의뢰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M/F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복제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M/FRFID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태그발행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복제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M/FRFID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태그발행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M/F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촬영계획서조회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M/F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복제인수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M/F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촬영기록물조회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cxnSp>
          <p:nvCxnSpPr>
            <p:cNvPr id="183" name="꺾인 연결선 182"/>
            <p:cNvCxnSpPr>
              <a:endCxn id="181" idx="1"/>
            </p:cNvCxnSpPr>
            <p:nvPr/>
          </p:nvCxnSpPr>
          <p:spPr>
            <a:xfrm rot="16200000" flipH="1">
              <a:off x="-178057" y="1974754"/>
              <a:ext cx="1193432" cy="105556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꺾인 연결선 192"/>
            <p:cNvCxnSpPr>
              <a:endCxn id="91" idx="1"/>
            </p:cNvCxnSpPr>
            <p:nvPr/>
          </p:nvCxnSpPr>
          <p:spPr>
            <a:xfrm>
              <a:off x="365877" y="1451068"/>
              <a:ext cx="2432678" cy="477092"/>
            </a:xfrm>
            <a:prstGeom prst="bentConnector3">
              <a:avLst>
                <a:gd name="adj1" fmla="val 95390"/>
              </a:avLst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꺾인 연결선 203"/>
            <p:cNvCxnSpPr/>
            <p:nvPr/>
          </p:nvCxnSpPr>
          <p:spPr>
            <a:xfrm rot="16200000" flipH="1">
              <a:off x="2249572" y="2242393"/>
              <a:ext cx="991091" cy="116401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꺾인 연결선 206"/>
            <p:cNvCxnSpPr/>
            <p:nvPr/>
          </p:nvCxnSpPr>
          <p:spPr>
            <a:xfrm rot="16200000" flipH="1">
              <a:off x="2347466" y="3066717"/>
              <a:ext cx="795303" cy="116401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AutoShape 47"/>
            <p:cNvSpPr>
              <a:spLocks noChangeArrowheads="1"/>
            </p:cNvSpPr>
            <p:nvPr/>
          </p:nvSpPr>
          <p:spPr bwMode="auto">
            <a:xfrm>
              <a:off x="471437" y="3605538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스캐닝</a:t>
              </a:r>
              <a:endParaRPr lang="ko-KR" altLang="en-US" sz="1000" dirty="0"/>
            </a:p>
          </p:txBody>
        </p:sp>
        <p:sp>
          <p:nvSpPr>
            <p:cNvPr id="85" name="AutoShape 184"/>
            <p:cNvSpPr>
              <a:spLocks noChangeArrowheads="1"/>
            </p:cNvSpPr>
            <p:nvPr/>
          </p:nvSpPr>
          <p:spPr bwMode="auto">
            <a:xfrm>
              <a:off x="1539333" y="3605538"/>
              <a:ext cx="1338508" cy="8617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스캐닝스케줄링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스캐닝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스캐닝검사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보존매체수록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RFID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태그발행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스캐닝인수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복제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M/F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대출의뢰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재스캐닝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cxnSp>
          <p:nvCxnSpPr>
            <p:cNvPr id="87" name="꺾인 연결선 86"/>
            <p:cNvCxnSpPr>
              <a:endCxn id="84" idx="1"/>
            </p:cNvCxnSpPr>
            <p:nvPr/>
          </p:nvCxnSpPr>
          <p:spPr>
            <a:xfrm rot="16200000" flipH="1">
              <a:off x="-237528" y="3148061"/>
              <a:ext cx="1312374" cy="105556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AutoShape 47"/>
            <p:cNvSpPr>
              <a:spLocks noChangeArrowheads="1"/>
            </p:cNvSpPr>
            <p:nvPr/>
          </p:nvSpPr>
          <p:spPr bwMode="auto">
            <a:xfrm>
              <a:off x="471437" y="4560876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err="1" smtClean="0"/>
                <a:t>디지털화작업</a:t>
              </a:r>
              <a:endParaRPr lang="ko-KR" altLang="en-US" sz="1000" dirty="0"/>
            </a:p>
          </p:txBody>
        </p:sp>
        <p:sp>
          <p:nvSpPr>
            <p:cNvPr id="89" name="AutoShape 184"/>
            <p:cNvSpPr>
              <a:spLocks noChangeArrowheads="1"/>
            </p:cNvSpPr>
            <p:nvPr/>
          </p:nvSpPr>
          <p:spPr bwMode="auto">
            <a:xfrm>
              <a:off x="1539333" y="4627697"/>
              <a:ext cx="101630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디지털화스케줄링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디지털화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디지털화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RFID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태그발행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cxnSp>
          <p:nvCxnSpPr>
            <p:cNvPr id="90" name="꺾인 연결선 89"/>
            <p:cNvCxnSpPr>
              <a:endCxn id="88" idx="1"/>
            </p:cNvCxnSpPr>
            <p:nvPr/>
          </p:nvCxnSpPr>
          <p:spPr>
            <a:xfrm rot="16200000" flipH="1">
              <a:off x="-83249" y="4257678"/>
              <a:ext cx="1003816" cy="105556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AutoShape 47"/>
            <p:cNvSpPr>
              <a:spLocks noChangeArrowheads="1"/>
            </p:cNvSpPr>
            <p:nvPr/>
          </p:nvSpPr>
          <p:spPr bwMode="auto">
            <a:xfrm>
              <a:off x="2798555" y="1676672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보존매체관리</a:t>
              </a:r>
              <a:endParaRPr lang="ko-KR" altLang="en-US" sz="1000" dirty="0"/>
            </a:p>
          </p:txBody>
        </p:sp>
        <p:sp>
          <p:nvSpPr>
            <p:cNvPr id="92" name="AutoShape 184"/>
            <p:cNvSpPr>
              <a:spLocks noChangeArrowheads="1"/>
            </p:cNvSpPr>
            <p:nvPr/>
          </p:nvSpPr>
          <p:spPr bwMode="auto">
            <a:xfrm>
              <a:off x="3861961" y="1675605"/>
              <a:ext cx="1086836" cy="7386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보존매체정보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보존매체수록계획서작성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보존매체수록계획서현황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OD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복제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서고배치의뢰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OD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반출의뢰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sp>
          <p:nvSpPr>
            <p:cNvPr id="95" name="AutoShape 47"/>
            <p:cNvSpPr>
              <a:spLocks noChangeArrowheads="1"/>
            </p:cNvSpPr>
            <p:nvPr/>
          </p:nvSpPr>
          <p:spPr bwMode="auto">
            <a:xfrm>
              <a:off x="2798555" y="2544652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보존매체</a:t>
              </a:r>
              <a:endParaRPr lang="en-US" altLang="ko-KR" sz="1000" dirty="0" smtClean="0"/>
            </a:p>
            <a:p>
              <a:pPr algn="ctr"/>
              <a:r>
                <a:rPr lang="ko-KR" altLang="en-US" sz="1000" dirty="0" smtClean="0"/>
                <a:t>수록관</a:t>
              </a:r>
              <a:r>
                <a:rPr lang="ko-KR" altLang="en-US" sz="1000" dirty="0"/>
                <a:t>리</a:t>
              </a:r>
            </a:p>
          </p:txBody>
        </p:sp>
        <p:sp>
          <p:nvSpPr>
            <p:cNvPr id="96" name="AutoShape 184"/>
            <p:cNvSpPr>
              <a:spLocks noChangeArrowheads="1"/>
            </p:cNvSpPr>
            <p:nvPr/>
          </p:nvSpPr>
          <p:spPr bwMode="auto">
            <a:xfrm>
              <a:off x="3861961" y="2544652"/>
              <a:ext cx="993862" cy="6155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보존매체수록스케줄링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보존매체수록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RFID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태그발행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서고배치의뢰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보존매체수록결과조회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sp>
          <p:nvSpPr>
            <p:cNvPr id="97" name="AutoShape 47"/>
            <p:cNvSpPr>
              <a:spLocks noChangeArrowheads="1"/>
            </p:cNvSpPr>
            <p:nvPr/>
          </p:nvSpPr>
          <p:spPr bwMode="auto">
            <a:xfrm>
              <a:off x="2798555" y="3271082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매체수록</a:t>
              </a:r>
              <a:endParaRPr lang="en-US" altLang="ko-KR" sz="1000" dirty="0" smtClean="0"/>
            </a:p>
            <a:p>
              <a:pPr algn="ctr"/>
              <a:r>
                <a:rPr lang="ko-KR" altLang="en-US" sz="1000" dirty="0" smtClean="0"/>
                <a:t>결과조</a:t>
              </a:r>
              <a:r>
                <a:rPr lang="ko-KR" altLang="en-US" sz="1000" dirty="0"/>
                <a:t>회</a:t>
              </a:r>
            </a:p>
          </p:txBody>
        </p:sp>
        <p:sp>
          <p:nvSpPr>
            <p:cNvPr id="102" name="AutoShape 47"/>
            <p:cNvSpPr>
              <a:spLocks noChangeArrowheads="1"/>
            </p:cNvSpPr>
            <p:nvPr/>
          </p:nvSpPr>
          <p:spPr bwMode="auto">
            <a:xfrm>
              <a:off x="466658" y="5333456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err="1" smtClean="0"/>
                <a:t>디지털화작업</a:t>
              </a:r>
              <a:endParaRPr lang="en-US" altLang="ko-KR" sz="1000" dirty="0" smtClean="0"/>
            </a:p>
            <a:p>
              <a:pPr algn="ctr"/>
              <a:r>
                <a:rPr lang="en-US" altLang="ko-KR" sz="1000" dirty="0" smtClean="0"/>
                <a:t>(MAM)</a:t>
              </a:r>
              <a:endParaRPr lang="ko-KR" altLang="en-US" sz="1000" dirty="0"/>
            </a:p>
          </p:txBody>
        </p:sp>
        <p:sp>
          <p:nvSpPr>
            <p:cNvPr id="103" name="AutoShape 184"/>
            <p:cNvSpPr>
              <a:spLocks noChangeArrowheads="1"/>
            </p:cNvSpPr>
            <p:nvPr/>
          </p:nvSpPr>
          <p:spPr bwMode="auto">
            <a:xfrm>
              <a:off x="1534554" y="5461832"/>
              <a:ext cx="889667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디지털화스케줄링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디지털화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cxnSp>
          <p:nvCxnSpPr>
            <p:cNvPr id="104" name="꺾인 연결선 103"/>
            <p:cNvCxnSpPr/>
            <p:nvPr/>
          </p:nvCxnSpPr>
          <p:spPr>
            <a:xfrm rot="16200000" flipH="1">
              <a:off x="-83265" y="5030258"/>
              <a:ext cx="1003816" cy="105556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그룹 11"/>
          <p:cNvGrpSpPr/>
          <p:nvPr/>
        </p:nvGrpSpPr>
        <p:grpSpPr>
          <a:xfrm>
            <a:off x="4953000" y="890657"/>
            <a:ext cx="4769357" cy="4498816"/>
            <a:chOff x="4953000" y="890657"/>
            <a:chExt cx="4769357" cy="4498816"/>
          </a:xfrm>
        </p:grpSpPr>
        <p:sp>
          <p:nvSpPr>
            <p:cNvPr id="50" name="모서리가 둥근 직사각형 49"/>
            <p:cNvSpPr/>
            <p:nvPr/>
          </p:nvSpPr>
          <p:spPr>
            <a:xfrm>
              <a:off x="4953000" y="890657"/>
              <a:ext cx="1266616" cy="352724"/>
            </a:xfrm>
            <a:prstGeom prst="roundRect">
              <a:avLst/>
            </a:prstGeom>
            <a:blipFill>
              <a:blip r:embed="rId4"/>
              <a:stretch>
                <a:fillRect/>
              </a:stretch>
            </a:blipFill>
            <a:ln w="12700">
              <a:solidFill>
                <a:schemeClr val="accent3">
                  <a:lumMod val="75000"/>
                </a:schemeClr>
              </a:solidFill>
            </a:ln>
            <a:effectLst>
              <a:outerShdw blurRad="38100" sx="102000" sy="102000" algn="ctr" rotWithShape="0">
                <a:prstClr val="black">
                  <a:alpha val="9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err="1" smtClean="0">
                  <a:solidFill>
                    <a:schemeClr val="bg1"/>
                  </a:solidFill>
                  <a:latin typeface="+mj-ea"/>
                  <a:ea typeface="+mj-ea"/>
                </a:rPr>
                <a:t>기술ㆍ재분류</a:t>
              </a:r>
              <a:endParaRPr lang="ko-KR" altLang="en-US" sz="12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cxnSp>
          <p:nvCxnSpPr>
            <p:cNvPr id="51" name="꺾인 연결선 50"/>
            <p:cNvCxnSpPr>
              <a:endCxn id="52" idx="1"/>
            </p:cNvCxnSpPr>
            <p:nvPr/>
          </p:nvCxnSpPr>
          <p:spPr>
            <a:xfrm rot="16200000" flipH="1">
              <a:off x="4913876" y="1507113"/>
              <a:ext cx="633024" cy="105558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AutoShape 47"/>
            <p:cNvSpPr>
              <a:spLocks noChangeArrowheads="1"/>
            </p:cNvSpPr>
            <p:nvPr/>
          </p:nvSpPr>
          <p:spPr bwMode="auto">
            <a:xfrm>
              <a:off x="5283167" y="1624916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기술분류</a:t>
              </a:r>
              <a:endParaRPr lang="ko-KR" altLang="en-US" sz="1000" dirty="0"/>
            </a:p>
          </p:txBody>
        </p:sp>
        <p:sp>
          <p:nvSpPr>
            <p:cNvPr id="53" name="AutoShape 184"/>
            <p:cNvSpPr>
              <a:spLocks noChangeArrowheads="1"/>
            </p:cNvSpPr>
            <p:nvPr/>
          </p:nvSpPr>
          <p:spPr bwMode="auto">
            <a:xfrm>
              <a:off x="6346573" y="1622450"/>
              <a:ext cx="714939" cy="6155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군ㆍ컬렉션관리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기록물분류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군계열이력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기록물분류이력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기술통계관리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sp>
          <p:nvSpPr>
            <p:cNvPr id="54" name="AutoShape 47"/>
            <p:cNvSpPr>
              <a:spLocks noChangeArrowheads="1"/>
            </p:cNvSpPr>
            <p:nvPr/>
          </p:nvSpPr>
          <p:spPr bwMode="auto">
            <a:xfrm>
              <a:off x="5283167" y="2393012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기술</a:t>
              </a:r>
              <a:endParaRPr lang="ko-KR" altLang="en-US" sz="1000" dirty="0"/>
            </a:p>
          </p:txBody>
        </p:sp>
        <p:sp>
          <p:nvSpPr>
            <p:cNvPr id="55" name="AutoShape 184"/>
            <p:cNvSpPr>
              <a:spLocks noChangeArrowheads="1"/>
            </p:cNvSpPr>
            <p:nvPr/>
          </p:nvSpPr>
          <p:spPr bwMode="auto">
            <a:xfrm>
              <a:off x="6346573" y="2331457"/>
              <a:ext cx="1133324" cy="11079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기술스케줄링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내용요약등록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반출의뢰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집합기술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기능어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/</a:t>
              </a: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키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워드등록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기능어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/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키워드등록현황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매체수록판단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매체수록결과조회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기술서서비스관리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cxnSp>
          <p:nvCxnSpPr>
            <p:cNvPr id="56" name="꺾인 연결선 55"/>
            <p:cNvCxnSpPr>
              <a:endCxn id="54" idx="1"/>
            </p:cNvCxnSpPr>
            <p:nvPr/>
          </p:nvCxnSpPr>
          <p:spPr>
            <a:xfrm rot="16200000" flipH="1">
              <a:off x="4633673" y="1995006"/>
              <a:ext cx="1193432" cy="105556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꺾인 연결선 56"/>
            <p:cNvCxnSpPr/>
            <p:nvPr/>
          </p:nvCxnSpPr>
          <p:spPr>
            <a:xfrm>
              <a:off x="5177611" y="1401857"/>
              <a:ext cx="2346414" cy="474547"/>
            </a:xfrm>
            <a:prstGeom prst="bentConnector3">
              <a:avLst>
                <a:gd name="adj1" fmla="val 95220"/>
              </a:avLst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꺾인 연결선 57"/>
            <p:cNvCxnSpPr/>
            <p:nvPr/>
          </p:nvCxnSpPr>
          <p:spPr>
            <a:xfrm rot="16200000" flipH="1">
              <a:off x="6975041" y="2013438"/>
              <a:ext cx="991092" cy="116401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AutoShape 47"/>
            <p:cNvSpPr>
              <a:spLocks noChangeArrowheads="1"/>
            </p:cNvSpPr>
            <p:nvPr/>
          </p:nvSpPr>
          <p:spPr bwMode="auto">
            <a:xfrm>
              <a:off x="5283167" y="3553782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서비스제목관리</a:t>
              </a:r>
              <a:endParaRPr lang="ko-KR" altLang="en-US" sz="1000" dirty="0"/>
            </a:p>
          </p:txBody>
        </p:sp>
        <p:cxnSp>
          <p:nvCxnSpPr>
            <p:cNvPr id="62" name="꺾인 연결선 61"/>
            <p:cNvCxnSpPr>
              <a:endCxn id="60" idx="1"/>
            </p:cNvCxnSpPr>
            <p:nvPr/>
          </p:nvCxnSpPr>
          <p:spPr>
            <a:xfrm rot="16200000" flipH="1">
              <a:off x="4574202" y="3096305"/>
              <a:ext cx="1312374" cy="105556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AutoShape 47"/>
            <p:cNvSpPr>
              <a:spLocks noChangeArrowheads="1"/>
            </p:cNvSpPr>
            <p:nvPr/>
          </p:nvSpPr>
          <p:spPr bwMode="auto">
            <a:xfrm>
              <a:off x="5283167" y="4281477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err="1" smtClean="0"/>
                <a:t>공개재분류</a:t>
              </a:r>
              <a:endParaRPr lang="ko-KR" altLang="en-US" sz="1000" dirty="0"/>
            </a:p>
          </p:txBody>
        </p:sp>
        <p:sp>
          <p:nvSpPr>
            <p:cNvPr id="64" name="AutoShape 184"/>
            <p:cNvSpPr>
              <a:spLocks noChangeArrowheads="1"/>
            </p:cNvSpPr>
            <p:nvPr/>
          </p:nvSpPr>
          <p:spPr bwMode="auto">
            <a:xfrm>
              <a:off x="6351063" y="4158367"/>
              <a:ext cx="1354538" cy="12311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공개재분류스케줄링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최초재분류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(30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년미경과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)</a:t>
              </a: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최초재분류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(30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년경과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)</a:t>
              </a: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5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년주기재분류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(30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년미경과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)</a:t>
              </a: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5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년주기재분류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(30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년경과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)</a:t>
              </a: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기록물공개분류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공개재분류기준서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기록물반출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공개재분류현황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공개재분류대상조회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cxnSp>
          <p:nvCxnSpPr>
            <p:cNvPr id="66" name="꺾인 연결선 65"/>
            <p:cNvCxnSpPr>
              <a:endCxn id="63" idx="1"/>
            </p:cNvCxnSpPr>
            <p:nvPr/>
          </p:nvCxnSpPr>
          <p:spPr>
            <a:xfrm rot="16200000" flipH="1">
              <a:off x="4728481" y="3978279"/>
              <a:ext cx="1003816" cy="105556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AutoShape 47"/>
            <p:cNvSpPr>
              <a:spLocks noChangeArrowheads="1"/>
            </p:cNvSpPr>
            <p:nvPr/>
          </p:nvSpPr>
          <p:spPr bwMode="auto">
            <a:xfrm>
              <a:off x="7524025" y="1624916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홈페이지</a:t>
              </a:r>
              <a:endParaRPr lang="en-US" altLang="ko-KR" sz="1000" dirty="0" smtClean="0"/>
            </a:p>
            <a:p>
              <a:pPr algn="ctr"/>
              <a:r>
                <a:rPr lang="ko-KR" altLang="en-US" sz="1000" dirty="0" smtClean="0"/>
                <a:t>서비스관리</a:t>
              </a:r>
              <a:endParaRPr lang="ko-KR" altLang="en-US" sz="1000" dirty="0"/>
            </a:p>
          </p:txBody>
        </p:sp>
        <p:sp>
          <p:nvSpPr>
            <p:cNvPr id="68" name="AutoShape 184"/>
            <p:cNvSpPr>
              <a:spLocks noChangeArrowheads="1"/>
            </p:cNvSpPr>
            <p:nvPr/>
          </p:nvSpPr>
          <p:spPr bwMode="auto">
            <a:xfrm>
              <a:off x="8587431" y="2385718"/>
              <a:ext cx="108683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보존기간재분류스케줄링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보존기간재분류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보존기간재분류현황</a:t>
              </a:r>
              <a:endPara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sp>
          <p:nvSpPr>
            <p:cNvPr id="69" name="AutoShape 47"/>
            <p:cNvSpPr>
              <a:spLocks noChangeArrowheads="1"/>
            </p:cNvSpPr>
            <p:nvPr/>
          </p:nvSpPr>
          <p:spPr bwMode="auto">
            <a:xfrm>
              <a:off x="7524025" y="2315697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폐기처리</a:t>
              </a:r>
              <a:endParaRPr lang="en-US" altLang="ko-KR" sz="1000" dirty="0" smtClean="0"/>
            </a:p>
            <a:p>
              <a:pPr algn="ctr"/>
              <a:r>
                <a:rPr lang="en-US" altLang="ko-KR" sz="1000" dirty="0" smtClean="0"/>
                <a:t>(</a:t>
              </a:r>
              <a:r>
                <a:rPr lang="ko-KR" altLang="en-US" sz="1000" dirty="0" smtClean="0"/>
                <a:t>전자</a:t>
              </a:r>
              <a:r>
                <a:rPr lang="en-US" altLang="ko-KR" sz="1000" dirty="0" smtClean="0"/>
                <a:t>)</a:t>
              </a:r>
              <a:endParaRPr lang="ko-KR" altLang="en-US" sz="1000" dirty="0"/>
            </a:p>
          </p:txBody>
        </p:sp>
        <p:sp>
          <p:nvSpPr>
            <p:cNvPr id="70" name="AutoShape 184"/>
            <p:cNvSpPr>
              <a:spLocks noChangeArrowheads="1"/>
            </p:cNvSpPr>
            <p:nvPr/>
          </p:nvSpPr>
          <p:spPr bwMode="auto">
            <a:xfrm>
              <a:off x="8587431" y="3140968"/>
              <a:ext cx="1041952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폐기처리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전자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)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스케줄링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폐기처리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전자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)</a:t>
              </a:r>
            </a:p>
          </p:txBody>
        </p:sp>
        <p:cxnSp>
          <p:nvCxnSpPr>
            <p:cNvPr id="73" name="꺾인 연결선 72"/>
            <p:cNvCxnSpPr/>
            <p:nvPr/>
          </p:nvCxnSpPr>
          <p:spPr>
            <a:xfrm rot="16200000" flipH="1">
              <a:off x="6975041" y="2723914"/>
              <a:ext cx="991092" cy="116401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AutoShape 47"/>
            <p:cNvSpPr>
              <a:spLocks noChangeArrowheads="1"/>
            </p:cNvSpPr>
            <p:nvPr/>
          </p:nvSpPr>
          <p:spPr bwMode="auto">
            <a:xfrm>
              <a:off x="7524025" y="3026173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/>
                <a:t>폐기처리</a:t>
              </a:r>
              <a:endParaRPr lang="en-US" altLang="ko-KR" sz="1000" dirty="0"/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전자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75" name="AutoShape 184"/>
            <p:cNvSpPr>
              <a:spLocks noChangeArrowheads="1"/>
            </p:cNvSpPr>
            <p:nvPr/>
          </p:nvSpPr>
          <p:spPr bwMode="auto">
            <a:xfrm>
              <a:off x="8587431" y="3869674"/>
              <a:ext cx="1134926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폐기처리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(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비전자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)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스케줄링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폐기처리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(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비전자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)</a:t>
              </a:r>
            </a:p>
          </p:txBody>
        </p:sp>
        <p:cxnSp>
          <p:nvCxnSpPr>
            <p:cNvPr id="105" name="꺾인 연결선 104"/>
            <p:cNvCxnSpPr/>
            <p:nvPr/>
          </p:nvCxnSpPr>
          <p:spPr>
            <a:xfrm rot="16200000" flipH="1">
              <a:off x="6974401" y="3434298"/>
              <a:ext cx="991092" cy="116401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AutoShape 47"/>
            <p:cNvSpPr>
              <a:spLocks noChangeArrowheads="1"/>
            </p:cNvSpPr>
            <p:nvPr/>
          </p:nvSpPr>
          <p:spPr bwMode="auto">
            <a:xfrm>
              <a:off x="7528148" y="3736557"/>
              <a:ext cx="1008000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폐기처리</a:t>
              </a:r>
              <a:endParaRPr lang="en-US" altLang="ko-KR" sz="1000" dirty="0" smtClean="0"/>
            </a:p>
            <a:p>
              <a:pPr algn="ctr"/>
              <a:r>
                <a:rPr lang="en-US" altLang="ko-KR" sz="1000" dirty="0" smtClean="0"/>
                <a:t>(</a:t>
              </a:r>
              <a:r>
                <a:rPr lang="ko-KR" altLang="en-US" sz="1000" dirty="0" err="1" smtClean="0"/>
                <a:t>비전자</a:t>
              </a:r>
              <a:r>
                <a:rPr lang="en-US" altLang="ko-KR" sz="1000" dirty="0" smtClean="0"/>
                <a:t>)</a:t>
              </a:r>
              <a:endParaRPr lang="ko-KR" altLang="en-US" sz="1000" dirty="0"/>
            </a:p>
          </p:txBody>
        </p:sp>
        <p:sp>
          <p:nvSpPr>
            <p:cNvPr id="110" name="AutoShape 184"/>
            <p:cNvSpPr>
              <a:spLocks noChangeArrowheads="1"/>
            </p:cNvSpPr>
            <p:nvPr/>
          </p:nvSpPr>
          <p:spPr bwMode="auto">
            <a:xfrm>
              <a:off x="8599086" y="1753737"/>
              <a:ext cx="992259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홈페이지서비스관리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홈페이지서비스이력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2762134" y="5776320"/>
            <a:ext cx="477727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 smtClean="0">
                <a:solidFill>
                  <a:schemeClr val="accent6">
                    <a:lumMod val="75000"/>
                  </a:schemeClr>
                </a:solidFill>
              </a:rPr>
              <a:t>※ </a:t>
            </a:r>
            <a:r>
              <a:rPr lang="en-US" altLang="ko-KR" sz="1000" b="1" dirty="0" smtClean="0">
                <a:solidFill>
                  <a:schemeClr val="accent6">
                    <a:lumMod val="75000"/>
                  </a:schemeClr>
                </a:solidFill>
              </a:rPr>
              <a:t>M/F </a:t>
            </a:r>
            <a:r>
              <a:rPr lang="ko-KR" altLang="en-US" sz="1000" b="1" dirty="0" smtClean="0">
                <a:solidFill>
                  <a:schemeClr val="accent6">
                    <a:lumMod val="75000"/>
                  </a:schemeClr>
                </a:solidFill>
              </a:rPr>
              <a:t>촬영</a:t>
            </a:r>
            <a:r>
              <a:rPr lang="en-US" altLang="ko-KR" sz="1000" b="1" dirty="0" smtClean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ko-KR" altLang="en-US" sz="1000" b="1" dirty="0" smtClean="0">
                <a:solidFill>
                  <a:schemeClr val="accent6">
                    <a:lumMod val="75000"/>
                  </a:schemeClr>
                </a:solidFill>
              </a:rPr>
              <a:t>스캐닝 </a:t>
            </a:r>
            <a:r>
              <a:rPr lang="ko-KR" altLang="en-US" sz="1000" dirty="0" smtClean="0">
                <a:solidFill>
                  <a:schemeClr val="accent6">
                    <a:lumMod val="75000"/>
                  </a:schemeClr>
                </a:solidFill>
              </a:rPr>
              <a:t>업무 시 기록물의 페이지 변경 및 </a:t>
            </a:r>
            <a:r>
              <a:rPr lang="ko-KR" altLang="en-US" sz="1000" dirty="0" err="1" smtClean="0">
                <a:solidFill>
                  <a:schemeClr val="accent6">
                    <a:lumMod val="75000"/>
                  </a:schemeClr>
                </a:solidFill>
              </a:rPr>
              <a:t>순번재정렬을</a:t>
            </a:r>
            <a:r>
              <a:rPr lang="ko-KR" altLang="en-US" sz="1000" dirty="0" smtClean="0">
                <a:solidFill>
                  <a:schemeClr val="accent6">
                    <a:lumMod val="75000"/>
                  </a:schemeClr>
                </a:solidFill>
              </a:rPr>
              <a:t> 위한 </a:t>
            </a:r>
            <a:endParaRPr lang="en-US" altLang="ko-KR" sz="100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ko-KR" sz="1000" dirty="0" smtClean="0">
                <a:solidFill>
                  <a:schemeClr val="accent6">
                    <a:lumMod val="75000"/>
                  </a:schemeClr>
                </a:solidFill>
              </a:rPr>
              <a:t>  </a:t>
            </a:r>
            <a:r>
              <a:rPr lang="ko-KR" altLang="en-US" sz="1000" dirty="0" smtClean="0">
                <a:solidFill>
                  <a:schemeClr val="accent6">
                    <a:lumMod val="75000"/>
                  </a:schemeClr>
                </a:solidFill>
              </a:rPr>
              <a:t>기능이 필요할 경우 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</a:rPr>
              <a:t>”</a:t>
            </a: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</a:rPr>
              <a:t>등록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ko-KR" altLang="en-US" sz="1000" b="1" dirty="0" err="1">
                <a:solidFill>
                  <a:schemeClr val="accent6">
                    <a:lumMod val="75000"/>
                  </a:schemeClr>
                </a:solidFill>
              </a:rPr>
              <a:t>매체수록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</a:rPr>
              <a:t>-</a:t>
            </a:r>
            <a:r>
              <a:rPr lang="ko-KR" altLang="en-US" sz="1000" b="1" dirty="0" err="1">
                <a:solidFill>
                  <a:schemeClr val="accent6">
                    <a:lumMod val="75000"/>
                  </a:schemeClr>
                </a:solidFill>
              </a:rPr>
              <a:t>건번호재부여</a:t>
            </a:r>
            <a:r>
              <a:rPr lang="en-US" altLang="ko-KR" sz="1000" b="1" dirty="0">
                <a:solidFill>
                  <a:schemeClr val="accent6">
                    <a:lumMod val="75000"/>
                  </a:schemeClr>
                </a:solidFill>
              </a:rPr>
              <a:t>) ”</a:t>
            </a:r>
            <a:r>
              <a:rPr lang="ko-KR" altLang="en-US" sz="1000" dirty="0" smtClean="0">
                <a:solidFill>
                  <a:schemeClr val="accent6">
                    <a:lumMod val="75000"/>
                  </a:schemeClr>
                </a:solidFill>
              </a:rPr>
              <a:t> 권한 신청이 필요합니다</a:t>
            </a:r>
            <a:r>
              <a:rPr lang="en-US" altLang="ko-KR" sz="1000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  <a:endParaRPr lang="ko-KR" alt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210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그룹 109"/>
          <p:cNvGrpSpPr/>
          <p:nvPr/>
        </p:nvGrpSpPr>
        <p:grpSpPr>
          <a:xfrm>
            <a:off x="122081" y="744862"/>
            <a:ext cx="9793088" cy="5760640"/>
            <a:chOff x="47830" y="692696"/>
            <a:chExt cx="9793088" cy="5760640"/>
          </a:xfrm>
        </p:grpSpPr>
        <p:sp>
          <p:nvSpPr>
            <p:cNvPr id="114" name="AutoShape 47"/>
            <p:cNvSpPr>
              <a:spLocks noChangeArrowheads="1"/>
            </p:cNvSpPr>
            <p:nvPr/>
          </p:nvSpPr>
          <p:spPr bwMode="auto">
            <a:xfrm>
              <a:off x="47830" y="692696"/>
              <a:ext cx="9793088" cy="5760640"/>
            </a:xfrm>
            <a:prstGeom prst="roundRect">
              <a:avLst>
                <a:gd name="adj" fmla="val 4387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wrap="none" lIns="0" tIns="0" rIns="0" bIns="0" anchor="ctr"/>
            <a:lstStyle/>
            <a:p>
              <a:r>
                <a:rPr lang="en-US" altLang="ko-KR" sz="1000" dirty="0" smtClean="0"/>
                <a:t> </a:t>
              </a:r>
              <a:endParaRPr lang="ko-KR" altLang="en-US" sz="1000" dirty="0"/>
            </a:p>
          </p:txBody>
        </p:sp>
        <p:pic>
          <p:nvPicPr>
            <p:cNvPr id="116" name="Picture 2" descr="C:\Users\WooJung\Desktop\h1_logo.gif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4523" y="6038443"/>
              <a:ext cx="1966608" cy="3081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3793252" y="6501131"/>
            <a:ext cx="2311400" cy="365125"/>
          </a:xfrm>
        </p:spPr>
        <p:txBody>
          <a:bodyPr/>
          <a:lstStyle/>
          <a:p>
            <a:pPr algn="ctr"/>
            <a:r>
              <a:rPr lang="en-US" altLang="ko-KR" dirty="0" smtClean="0"/>
              <a:t>- </a:t>
            </a:r>
            <a:fld id="{D00CF5D5-E37B-49FA-B331-805CB85D8C4B}" type="slidenum">
              <a:rPr lang="en-US" altLang="ko-KR" smtClean="0"/>
              <a:t>5</a:t>
            </a:fld>
            <a:r>
              <a:rPr lang="ko-KR" altLang="en-US" dirty="0" smtClean="0"/>
              <a:t> </a:t>
            </a:r>
            <a:r>
              <a:rPr lang="en-US" altLang="ko-KR" dirty="0" smtClean="0"/>
              <a:t>-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3524000" y="5733256"/>
            <a:ext cx="438132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 smtClean="0">
                <a:solidFill>
                  <a:schemeClr val="accent6">
                    <a:lumMod val="75000"/>
                  </a:schemeClr>
                </a:solidFill>
              </a:rPr>
              <a:t>※ </a:t>
            </a:r>
            <a:r>
              <a:rPr lang="ko-KR" altLang="en-US" sz="1000" b="1" dirty="0" smtClean="0">
                <a:solidFill>
                  <a:schemeClr val="accent6">
                    <a:lumMod val="75000"/>
                  </a:schemeClr>
                </a:solidFill>
              </a:rPr>
              <a:t>사용자 기본권한</a:t>
            </a:r>
            <a:r>
              <a:rPr lang="ko-KR" altLang="en-US" sz="1000" dirty="0">
                <a:solidFill>
                  <a:schemeClr val="accent6">
                    <a:lumMod val="75000"/>
                  </a:schemeClr>
                </a:solidFill>
              </a:rPr>
              <a:t>내</a:t>
            </a:r>
            <a:r>
              <a:rPr lang="en-US" altLang="ko-KR" sz="1000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ko-KR" altLang="en-US" sz="1000" b="1" dirty="0" smtClean="0">
                <a:solidFill>
                  <a:schemeClr val="accent6">
                    <a:lumMod val="75000"/>
                  </a:schemeClr>
                </a:solidFill>
              </a:rPr>
              <a:t>검색</a:t>
            </a:r>
            <a:r>
              <a:rPr lang="en-US" altLang="ko-KR" sz="1000" dirty="0" smtClean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ko-KR" altLang="en-US" sz="1000" b="1" dirty="0" smtClean="0">
                <a:solidFill>
                  <a:schemeClr val="accent6">
                    <a:lumMod val="75000"/>
                  </a:schemeClr>
                </a:solidFill>
              </a:rPr>
              <a:t>통계</a:t>
            </a:r>
            <a:r>
              <a:rPr lang="ko-KR" altLang="en-US" sz="1000" dirty="0" smtClean="0">
                <a:solidFill>
                  <a:schemeClr val="accent6">
                    <a:lumMod val="75000"/>
                  </a:schemeClr>
                </a:solidFill>
              </a:rPr>
              <a:t> 전체 권한 포함되어 있습니다</a:t>
            </a:r>
            <a:r>
              <a:rPr lang="en-US" altLang="ko-KR" sz="1000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000" dirty="0" smtClean="0">
                <a:solidFill>
                  <a:schemeClr val="accent6">
                    <a:lumMod val="75000"/>
                  </a:schemeClr>
                </a:solidFill>
              </a:rPr>
              <a:t>※ </a:t>
            </a:r>
            <a:r>
              <a:rPr lang="ko-KR" altLang="en-US" sz="1000" b="1" dirty="0" err="1" smtClean="0">
                <a:solidFill>
                  <a:schemeClr val="accent6">
                    <a:lumMod val="75000"/>
                  </a:schemeClr>
                </a:solidFill>
              </a:rPr>
              <a:t>원문다운로드</a:t>
            </a:r>
            <a:r>
              <a:rPr lang="ko-KR" altLang="en-US" sz="1000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ko-KR" altLang="en-US" sz="1000" dirty="0" smtClean="0">
                <a:solidFill>
                  <a:schemeClr val="accent6">
                    <a:lumMod val="75000"/>
                  </a:schemeClr>
                </a:solidFill>
              </a:rPr>
              <a:t>기능은 별도 권한 신청 및 사용자 </a:t>
            </a:r>
            <a:r>
              <a:rPr lang="en-US" altLang="ko-KR" sz="1000" dirty="0" smtClean="0">
                <a:solidFill>
                  <a:schemeClr val="accent6">
                    <a:lumMod val="75000"/>
                  </a:schemeClr>
                </a:solidFill>
              </a:rPr>
              <a:t>IP </a:t>
            </a:r>
            <a:r>
              <a:rPr lang="ko-KR" altLang="en-US" sz="1000" dirty="0" smtClean="0">
                <a:solidFill>
                  <a:schemeClr val="accent6">
                    <a:lumMod val="75000"/>
                  </a:schemeClr>
                </a:solidFill>
              </a:rPr>
              <a:t>등록이 필요합니다</a:t>
            </a:r>
            <a:r>
              <a:rPr lang="en-US" altLang="ko-KR" sz="1000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  <a:endParaRPr lang="ko-KR" altLang="en-US" sz="1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6727" y="138118"/>
            <a:ext cx="5184433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 extrusionH="6350"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□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중앙영구기록관리시스템 메뉴구성도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기록물 관리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]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163745" y="958709"/>
            <a:ext cx="2780917" cy="3349935"/>
            <a:chOff x="171049" y="890657"/>
            <a:chExt cx="2780917" cy="3349935"/>
          </a:xfrm>
        </p:grpSpPr>
        <p:sp>
          <p:nvSpPr>
            <p:cNvPr id="61" name="모서리가 둥근 직사각형 60"/>
            <p:cNvSpPr/>
            <p:nvPr/>
          </p:nvSpPr>
          <p:spPr>
            <a:xfrm>
              <a:off x="171049" y="890657"/>
              <a:ext cx="1266616" cy="352724"/>
            </a:xfrm>
            <a:prstGeom prst="roundRect">
              <a:avLst/>
            </a:prstGeom>
            <a:blipFill>
              <a:blip r:embed="rId4"/>
              <a:stretch>
                <a:fillRect/>
              </a:stretch>
            </a:blipFill>
            <a:ln w="12700">
              <a:solidFill>
                <a:schemeClr val="accent3">
                  <a:lumMod val="75000"/>
                </a:schemeClr>
              </a:solidFill>
            </a:ln>
            <a:effectLst>
              <a:outerShdw blurRad="38100" sx="102000" sy="102000" algn="ctr" rotWithShape="0">
                <a:prstClr val="black">
                  <a:alpha val="9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열람활용</a:t>
              </a:r>
              <a:endParaRPr lang="ko-KR" altLang="en-US" sz="12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cxnSp>
          <p:nvCxnSpPr>
            <p:cNvPr id="65" name="꺾인 연결선 64"/>
            <p:cNvCxnSpPr>
              <a:endCxn id="71" idx="1"/>
            </p:cNvCxnSpPr>
            <p:nvPr/>
          </p:nvCxnSpPr>
          <p:spPr>
            <a:xfrm rot="16200000" flipH="1">
              <a:off x="131925" y="1507112"/>
              <a:ext cx="633024" cy="105560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AutoShape 47"/>
            <p:cNvSpPr>
              <a:spLocks noChangeArrowheads="1"/>
            </p:cNvSpPr>
            <p:nvPr/>
          </p:nvSpPr>
          <p:spPr bwMode="auto">
            <a:xfrm>
              <a:off x="501217" y="1624916"/>
              <a:ext cx="1008918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열람대장관리</a:t>
              </a:r>
              <a:endParaRPr lang="ko-KR" altLang="en-US" sz="1000" dirty="0"/>
            </a:p>
          </p:txBody>
        </p:sp>
        <p:sp>
          <p:nvSpPr>
            <p:cNvPr id="72" name="AutoShape 184"/>
            <p:cNvSpPr>
              <a:spLocks noChangeArrowheads="1"/>
            </p:cNvSpPr>
            <p:nvPr/>
          </p:nvSpPr>
          <p:spPr bwMode="auto">
            <a:xfrm>
              <a:off x="1574986" y="1568628"/>
              <a:ext cx="1376980" cy="6155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정보공개처리대장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정보공개청구서접수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기록물반입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정보공개청구서접수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통계용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)</a:t>
              </a: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정보공개처리대장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통계용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)</a:t>
              </a:r>
            </a:p>
          </p:txBody>
        </p:sp>
        <p:sp>
          <p:nvSpPr>
            <p:cNvPr id="76" name="AutoShape 47"/>
            <p:cNvSpPr>
              <a:spLocks noChangeArrowheads="1"/>
            </p:cNvSpPr>
            <p:nvPr/>
          </p:nvSpPr>
          <p:spPr bwMode="auto">
            <a:xfrm>
              <a:off x="501217" y="2322100"/>
              <a:ext cx="1008918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복제</a:t>
              </a:r>
              <a:r>
                <a:rPr lang="en-US" altLang="ko-KR" sz="1000" dirty="0" smtClean="0"/>
                <a:t>M/F</a:t>
              </a:r>
              <a:r>
                <a:rPr lang="ko-KR" altLang="en-US" sz="1000" dirty="0" smtClean="0"/>
                <a:t>관리</a:t>
              </a:r>
              <a:endParaRPr lang="en-US" altLang="ko-KR" sz="1000" dirty="0" smtClean="0"/>
            </a:p>
          </p:txBody>
        </p:sp>
        <p:sp>
          <p:nvSpPr>
            <p:cNvPr id="77" name="AutoShape 184"/>
            <p:cNvSpPr>
              <a:spLocks noChangeArrowheads="1"/>
            </p:cNvSpPr>
            <p:nvPr/>
          </p:nvSpPr>
          <p:spPr bwMode="auto">
            <a:xfrm>
              <a:off x="1574986" y="2383655"/>
              <a:ext cx="674865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복제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M/F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인수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복제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M/F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배치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복제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M/F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점검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복제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M/F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대출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cxnSp>
          <p:nvCxnSpPr>
            <p:cNvPr id="78" name="꺾인 연결선 77"/>
            <p:cNvCxnSpPr>
              <a:endCxn id="76" idx="1"/>
            </p:cNvCxnSpPr>
            <p:nvPr/>
          </p:nvCxnSpPr>
          <p:spPr>
            <a:xfrm rot="16200000" flipH="1">
              <a:off x="95486" y="2167857"/>
              <a:ext cx="705904" cy="105558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꺾인 연결선 80"/>
            <p:cNvCxnSpPr>
              <a:endCxn id="94" idx="1"/>
            </p:cNvCxnSpPr>
            <p:nvPr/>
          </p:nvCxnSpPr>
          <p:spPr>
            <a:xfrm rot="16200000" flipH="1">
              <a:off x="31509" y="2813916"/>
              <a:ext cx="833858" cy="105558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AutoShape 47"/>
            <p:cNvSpPr>
              <a:spLocks noChangeArrowheads="1"/>
            </p:cNvSpPr>
            <p:nvPr/>
          </p:nvSpPr>
          <p:spPr bwMode="auto">
            <a:xfrm>
              <a:off x="501217" y="3032136"/>
              <a:ext cx="1008918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자료실관리</a:t>
              </a:r>
              <a:endParaRPr lang="en-US" altLang="ko-KR" sz="1000" dirty="0" smtClean="0"/>
            </a:p>
          </p:txBody>
        </p:sp>
        <p:sp>
          <p:nvSpPr>
            <p:cNvPr id="98" name="AutoShape 184"/>
            <p:cNvSpPr>
              <a:spLocks noChangeArrowheads="1"/>
            </p:cNvSpPr>
            <p:nvPr/>
          </p:nvSpPr>
          <p:spPr bwMode="auto">
            <a:xfrm>
              <a:off x="1568624" y="3088546"/>
              <a:ext cx="52899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자료실인수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자료실배치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자료실점검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  <p:cxnSp>
          <p:nvCxnSpPr>
            <p:cNvPr id="73" name="꺾인 연결선 72"/>
            <p:cNvCxnSpPr/>
            <p:nvPr/>
          </p:nvCxnSpPr>
          <p:spPr>
            <a:xfrm rot="16200000" flipH="1">
              <a:off x="35683" y="3515223"/>
              <a:ext cx="833857" cy="113905"/>
            </a:xfrm>
            <a:prstGeom prst="bentConnector3">
              <a:avLst>
                <a:gd name="adj1" fmla="val 100260"/>
              </a:avLst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AutoShape 47"/>
            <p:cNvSpPr>
              <a:spLocks noChangeArrowheads="1"/>
            </p:cNvSpPr>
            <p:nvPr/>
          </p:nvSpPr>
          <p:spPr bwMode="auto">
            <a:xfrm>
              <a:off x="504802" y="3737617"/>
              <a:ext cx="1008918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err="1" smtClean="0"/>
                <a:t>콘텐츠기획</a:t>
              </a:r>
              <a:endParaRPr lang="en-US" altLang="ko-KR" sz="1000" dirty="0" smtClean="0"/>
            </a:p>
          </p:txBody>
        </p:sp>
        <p:sp>
          <p:nvSpPr>
            <p:cNvPr id="75" name="AutoShape 184"/>
            <p:cNvSpPr>
              <a:spLocks noChangeArrowheads="1"/>
            </p:cNvSpPr>
            <p:nvPr/>
          </p:nvSpPr>
          <p:spPr bwMode="auto">
            <a:xfrm>
              <a:off x="1572209" y="3855582"/>
              <a:ext cx="1025922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콘텐츠기획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스케줄링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기록물반출</a:t>
              </a:r>
              <a:endPara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endParaRPr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4739750" y="958709"/>
            <a:ext cx="3741642" cy="4219725"/>
            <a:chOff x="4739750" y="958709"/>
            <a:chExt cx="3741642" cy="4219725"/>
          </a:xfrm>
        </p:grpSpPr>
        <p:sp>
          <p:nvSpPr>
            <p:cNvPr id="111" name="모서리가 둥근 직사각형 110"/>
            <p:cNvSpPr/>
            <p:nvPr/>
          </p:nvSpPr>
          <p:spPr>
            <a:xfrm>
              <a:off x="4739750" y="958709"/>
              <a:ext cx="1266616" cy="352724"/>
            </a:xfrm>
            <a:prstGeom prst="roundRect">
              <a:avLst/>
            </a:prstGeom>
            <a:blipFill>
              <a:blip r:embed="rId4"/>
              <a:stretch>
                <a:fillRect/>
              </a:stretch>
            </a:blipFill>
            <a:ln w="12700">
              <a:solidFill>
                <a:schemeClr val="accent3">
                  <a:lumMod val="75000"/>
                </a:schemeClr>
              </a:solidFill>
            </a:ln>
            <a:effectLst>
              <a:outerShdw blurRad="38100" sx="102000" sy="102000" algn="ctr" rotWithShape="0">
                <a:prstClr val="black">
                  <a:alpha val="9000"/>
                </a:prstClr>
              </a:outerShdw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 smtClean="0">
                  <a:solidFill>
                    <a:schemeClr val="bg1"/>
                  </a:solidFill>
                  <a:latin typeface="+mj-ea"/>
                  <a:ea typeface="+mj-ea"/>
                </a:rPr>
                <a:t>검 색</a:t>
              </a:r>
              <a:endParaRPr lang="ko-KR" altLang="en-US" sz="12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cxnSp>
          <p:nvCxnSpPr>
            <p:cNvPr id="112" name="꺾인 연결선 111"/>
            <p:cNvCxnSpPr>
              <a:endCxn id="113" idx="1"/>
            </p:cNvCxnSpPr>
            <p:nvPr/>
          </p:nvCxnSpPr>
          <p:spPr>
            <a:xfrm rot="16200000" flipH="1">
              <a:off x="4702114" y="1530551"/>
              <a:ext cx="633024" cy="114102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AutoShape 47"/>
            <p:cNvSpPr>
              <a:spLocks noChangeArrowheads="1"/>
            </p:cNvSpPr>
            <p:nvPr/>
          </p:nvSpPr>
          <p:spPr bwMode="auto">
            <a:xfrm>
              <a:off x="5075677" y="1652626"/>
              <a:ext cx="1008918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err="1" smtClean="0"/>
                <a:t>기록물철</a:t>
              </a:r>
              <a:endParaRPr lang="en-US" altLang="ko-KR" sz="1000" dirty="0" smtClean="0"/>
            </a:p>
            <a:p>
              <a:pPr algn="ctr"/>
              <a:r>
                <a:rPr lang="ko-KR" altLang="en-US" sz="1000" dirty="0" smtClean="0"/>
                <a:t>상세검색</a:t>
              </a:r>
              <a:endParaRPr lang="ko-KR" altLang="en-US" sz="1000" dirty="0"/>
            </a:p>
          </p:txBody>
        </p:sp>
        <p:sp>
          <p:nvSpPr>
            <p:cNvPr id="115" name="AutoShape 47"/>
            <p:cNvSpPr>
              <a:spLocks noChangeArrowheads="1"/>
            </p:cNvSpPr>
            <p:nvPr/>
          </p:nvSpPr>
          <p:spPr bwMode="auto">
            <a:xfrm>
              <a:off x="5073758" y="2405803"/>
              <a:ext cx="1008918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기록물건</a:t>
              </a:r>
              <a:endParaRPr lang="en-US" altLang="ko-KR" sz="1000" dirty="0" smtClean="0"/>
            </a:p>
            <a:p>
              <a:pPr algn="ctr"/>
              <a:r>
                <a:rPr lang="ko-KR" altLang="en-US" sz="1000" dirty="0" smtClean="0"/>
                <a:t>상세검색</a:t>
              </a:r>
              <a:endParaRPr lang="en-US" altLang="ko-KR" sz="1000" dirty="0" smtClean="0"/>
            </a:p>
          </p:txBody>
        </p:sp>
        <p:cxnSp>
          <p:nvCxnSpPr>
            <p:cNvPr id="117" name="꺾인 연결선 116"/>
            <p:cNvCxnSpPr>
              <a:endCxn id="115" idx="1"/>
            </p:cNvCxnSpPr>
            <p:nvPr/>
          </p:nvCxnSpPr>
          <p:spPr>
            <a:xfrm rot="16200000" flipH="1">
              <a:off x="4638891" y="2222423"/>
              <a:ext cx="760341" cy="109394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AutoShape 47"/>
            <p:cNvSpPr>
              <a:spLocks noChangeArrowheads="1"/>
            </p:cNvSpPr>
            <p:nvPr/>
          </p:nvSpPr>
          <p:spPr bwMode="auto">
            <a:xfrm>
              <a:off x="5073758" y="3166143"/>
              <a:ext cx="1008918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err="1" smtClean="0"/>
                <a:t>신통합검</a:t>
              </a:r>
              <a:r>
                <a:rPr lang="ko-KR" altLang="en-US" sz="1000" dirty="0" err="1"/>
                <a:t>색</a:t>
              </a:r>
              <a:endParaRPr lang="en-US" altLang="ko-KR" sz="1000" dirty="0" smtClean="0"/>
            </a:p>
          </p:txBody>
        </p:sp>
        <p:cxnSp>
          <p:nvCxnSpPr>
            <p:cNvPr id="126" name="꺾인 연결선 125"/>
            <p:cNvCxnSpPr>
              <a:endCxn id="125" idx="1"/>
            </p:cNvCxnSpPr>
            <p:nvPr/>
          </p:nvCxnSpPr>
          <p:spPr>
            <a:xfrm rot="16200000" flipH="1">
              <a:off x="4566041" y="2909914"/>
              <a:ext cx="906040" cy="109394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AutoShape 184"/>
            <p:cNvSpPr>
              <a:spLocks noChangeArrowheads="1"/>
            </p:cNvSpPr>
            <p:nvPr/>
          </p:nvSpPr>
          <p:spPr bwMode="auto">
            <a:xfrm>
              <a:off x="6185096" y="4037606"/>
              <a:ext cx="836768" cy="246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6350">
                  <a:solidFill>
                    <a:srgbClr val="B6B6B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  <a:scene3d>
                <a:camera prst="orthographicFront"/>
                <a:lightRig rig="threePt" dir="t"/>
              </a:scene3d>
              <a:sp3d extrusionH="6350"/>
            </a:bodyPr>
            <a:lstStyle/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MF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색인대장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보존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)</a:t>
              </a:r>
            </a:p>
            <a:p>
              <a:pPr latinLnBrk="0">
                <a:spcBef>
                  <a:spcPct val="0"/>
                </a:spcBef>
                <a:buFont typeface="Arial" pitchFamily="34" charset="0"/>
                <a:buChar char="•"/>
              </a:pP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 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MF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색인대장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(</a:t>
              </a:r>
              <a:r>
                <a:rPr lang="ko-KR" altLang="en-US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열람</a:t>
              </a:r>
              <a:r>
                <a:rPr lang="en-US" altLang="ko-KR" sz="8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산돌고딕 L" pitchFamily="18" charset="-127"/>
                  <a:ea typeface="산돌고딕 L" pitchFamily="18" charset="-127"/>
                </a:rPr>
                <a:t>)</a:t>
              </a:r>
            </a:p>
          </p:txBody>
        </p:sp>
        <p:sp>
          <p:nvSpPr>
            <p:cNvPr id="128" name="AutoShape 47"/>
            <p:cNvSpPr>
              <a:spLocks noChangeArrowheads="1"/>
            </p:cNvSpPr>
            <p:nvPr/>
          </p:nvSpPr>
          <p:spPr bwMode="auto">
            <a:xfrm>
              <a:off x="7472474" y="1645463"/>
              <a:ext cx="1008918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일제강제</a:t>
              </a:r>
              <a:endParaRPr lang="en-US" altLang="ko-KR" sz="1000" dirty="0" smtClean="0"/>
            </a:p>
            <a:p>
              <a:pPr algn="ctr"/>
              <a:r>
                <a:rPr lang="ko-KR" altLang="en-US" sz="1000" dirty="0" smtClean="0"/>
                <a:t>연행자</a:t>
              </a:r>
              <a:endParaRPr lang="en-US" altLang="ko-KR" sz="1000" dirty="0" smtClean="0"/>
            </a:p>
          </p:txBody>
        </p:sp>
        <p:sp>
          <p:nvSpPr>
            <p:cNvPr id="130" name="AutoShape 47"/>
            <p:cNvSpPr>
              <a:spLocks noChangeArrowheads="1"/>
            </p:cNvSpPr>
            <p:nvPr/>
          </p:nvSpPr>
          <p:spPr bwMode="auto">
            <a:xfrm>
              <a:off x="7472474" y="2405803"/>
              <a:ext cx="1008918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지적</a:t>
              </a:r>
              <a:r>
                <a:rPr lang="en-US" altLang="ko-KR" sz="1000" dirty="0" smtClean="0"/>
                <a:t>_</a:t>
              </a:r>
              <a:r>
                <a:rPr lang="ko-KR" altLang="en-US" sz="1000" dirty="0" smtClean="0"/>
                <a:t>임야원도</a:t>
              </a:r>
              <a:endParaRPr lang="en-US" altLang="ko-KR" sz="1000" dirty="0" smtClean="0"/>
            </a:p>
          </p:txBody>
        </p:sp>
        <p:cxnSp>
          <p:nvCxnSpPr>
            <p:cNvPr id="131" name="꺾인 연결선 130"/>
            <p:cNvCxnSpPr/>
            <p:nvPr/>
          </p:nvCxnSpPr>
          <p:spPr>
            <a:xfrm rot="16200000" flipH="1">
              <a:off x="7012649" y="2202227"/>
              <a:ext cx="760338" cy="149787"/>
            </a:xfrm>
            <a:prstGeom prst="bentConnector3">
              <a:avLst>
                <a:gd name="adj1" fmla="val 102114"/>
              </a:avLst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AutoShape 47"/>
            <p:cNvSpPr>
              <a:spLocks noChangeArrowheads="1"/>
            </p:cNvSpPr>
            <p:nvPr/>
          </p:nvSpPr>
          <p:spPr bwMode="auto">
            <a:xfrm>
              <a:off x="7472474" y="3166143"/>
              <a:ext cx="1008918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기술분류검색</a:t>
              </a:r>
              <a:endParaRPr lang="en-US" altLang="ko-KR" sz="1000" dirty="0" smtClean="0"/>
            </a:p>
          </p:txBody>
        </p:sp>
        <p:cxnSp>
          <p:nvCxnSpPr>
            <p:cNvPr id="200" name="꺾인 연결선 199"/>
            <p:cNvCxnSpPr/>
            <p:nvPr/>
          </p:nvCxnSpPr>
          <p:spPr>
            <a:xfrm rot="16200000" flipH="1">
              <a:off x="7004538" y="2945911"/>
              <a:ext cx="785105" cy="158334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AutoShape 47"/>
            <p:cNvSpPr>
              <a:spLocks noChangeArrowheads="1"/>
            </p:cNvSpPr>
            <p:nvPr/>
          </p:nvSpPr>
          <p:spPr bwMode="auto">
            <a:xfrm>
              <a:off x="7472474" y="3909232"/>
              <a:ext cx="1008918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통합검색</a:t>
              </a:r>
              <a:endParaRPr lang="en-US" altLang="ko-KR" sz="1000" dirty="0" smtClean="0"/>
            </a:p>
          </p:txBody>
        </p:sp>
        <p:cxnSp>
          <p:nvCxnSpPr>
            <p:cNvPr id="202" name="꺾인 연결선 201"/>
            <p:cNvCxnSpPr/>
            <p:nvPr/>
          </p:nvCxnSpPr>
          <p:spPr>
            <a:xfrm rot="16200000" flipH="1">
              <a:off x="6970183" y="3663192"/>
              <a:ext cx="845268" cy="149787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AutoShape 47"/>
            <p:cNvSpPr>
              <a:spLocks noChangeArrowheads="1"/>
            </p:cNvSpPr>
            <p:nvPr/>
          </p:nvSpPr>
          <p:spPr bwMode="auto">
            <a:xfrm>
              <a:off x="5075677" y="3909230"/>
              <a:ext cx="1008918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en-US" altLang="ko-KR" sz="1000" dirty="0" smtClean="0"/>
                <a:t>MF</a:t>
              </a:r>
              <a:r>
                <a:rPr lang="ko-KR" altLang="en-US" sz="1000" dirty="0" smtClean="0"/>
                <a:t>색인대장</a:t>
              </a:r>
              <a:endParaRPr lang="en-US" altLang="ko-KR" sz="1000" dirty="0" smtClean="0"/>
            </a:p>
          </p:txBody>
        </p:sp>
        <p:cxnSp>
          <p:nvCxnSpPr>
            <p:cNvPr id="84" name="꺾인 연결선 83"/>
            <p:cNvCxnSpPr>
              <a:endCxn id="83" idx="1"/>
            </p:cNvCxnSpPr>
            <p:nvPr/>
          </p:nvCxnSpPr>
          <p:spPr>
            <a:xfrm rot="16200000" flipH="1">
              <a:off x="4565606" y="3650647"/>
              <a:ext cx="906040" cy="114102"/>
            </a:xfrm>
            <a:prstGeom prst="bentConnector2">
              <a:avLst/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AutoShape 47"/>
            <p:cNvSpPr>
              <a:spLocks noChangeArrowheads="1"/>
            </p:cNvSpPr>
            <p:nvPr/>
          </p:nvSpPr>
          <p:spPr bwMode="auto">
            <a:xfrm>
              <a:off x="7472248" y="4675459"/>
              <a:ext cx="1008918" cy="502975"/>
            </a:xfrm>
            <a:prstGeom prst="roundRect">
              <a:avLst>
                <a:gd name="adj" fmla="val 9750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/>
            <a:extLst/>
          </p:spPr>
          <p:txBody>
            <a:bodyPr wrap="none" lIns="72000" tIns="72000" rIns="72000" bIns="72000" anchor="ctr"/>
            <a:lstStyle/>
            <a:p>
              <a:pPr algn="ctr"/>
              <a:r>
                <a:rPr lang="ko-KR" altLang="en-US" sz="1000" dirty="0" smtClean="0"/>
                <a:t>원문다운로드</a:t>
              </a:r>
              <a:endParaRPr lang="en-US" altLang="ko-KR" sz="1000" dirty="0" smtClean="0"/>
            </a:p>
          </p:txBody>
        </p:sp>
        <p:cxnSp>
          <p:nvCxnSpPr>
            <p:cNvPr id="99" name="꺾인 연결선 98"/>
            <p:cNvCxnSpPr/>
            <p:nvPr/>
          </p:nvCxnSpPr>
          <p:spPr>
            <a:xfrm rot="16200000" flipH="1">
              <a:off x="7009591" y="4469053"/>
              <a:ext cx="766227" cy="149559"/>
            </a:xfrm>
            <a:prstGeom prst="bentConnector3">
              <a:avLst>
                <a:gd name="adj1" fmla="val 101713"/>
              </a:avLst>
            </a:prstGeom>
            <a:ln>
              <a:solidFill>
                <a:srgbClr val="77933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" name="꺾인 연결선 58"/>
          <p:cNvCxnSpPr>
            <a:endCxn id="128" idx="1"/>
          </p:cNvCxnSpPr>
          <p:nvPr/>
        </p:nvCxnSpPr>
        <p:spPr>
          <a:xfrm>
            <a:off x="4964362" y="1484784"/>
            <a:ext cx="2508112" cy="412167"/>
          </a:xfrm>
          <a:prstGeom prst="bentConnector3">
            <a:avLst>
              <a:gd name="adj1" fmla="val 50000"/>
            </a:avLst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AutoShape 184"/>
          <p:cNvSpPr>
            <a:spLocks noChangeArrowheads="1"/>
          </p:cNvSpPr>
          <p:nvPr/>
        </p:nvSpPr>
        <p:spPr bwMode="auto">
          <a:xfrm>
            <a:off x="8625408" y="4803835"/>
            <a:ext cx="918521" cy="246221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B6B6B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135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extrusionH="6350"/>
          </a:bodyPr>
          <a:lstStyle/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다운로드스케줄링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원문다운로드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0194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38642" y="764704"/>
            <a:ext cx="9793088" cy="5760640"/>
            <a:chOff x="90960" y="692696"/>
            <a:chExt cx="9793088" cy="5760640"/>
          </a:xfrm>
        </p:grpSpPr>
        <p:sp>
          <p:nvSpPr>
            <p:cNvPr id="5" name="AutoShape 47"/>
            <p:cNvSpPr>
              <a:spLocks noChangeArrowheads="1"/>
            </p:cNvSpPr>
            <p:nvPr/>
          </p:nvSpPr>
          <p:spPr bwMode="auto">
            <a:xfrm>
              <a:off x="90960" y="692696"/>
              <a:ext cx="9793088" cy="5760640"/>
            </a:xfrm>
            <a:prstGeom prst="roundRect">
              <a:avLst>
                <a:gd name="adj" fmla="val 4387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wrap="none" lIns="0" tIns="0" rIns="0" bIns="0" anchor="ctr"/>
            <a:lstStyle/>
            <a:p>
              <a:r>
                <a:rPr lang="en-US" altLang="ko-KR" sz="1000" dirty="0" smtClean="0"/>
                <a:t> </a:t>
              </a:r>
              <a:endParaRPr lang="ko-KR" altLang="en-US" sz="1000" dirty="0"/>
            </a:p>
          </p:txBody>
        </p:sp>
        <p:pic>
          <p:nvPicPr>
            <p:cNvPr id="6" name="Picture 2" descr="C:\Users\WooJung\Desktop\h1_logo.gif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11775" y="6021191"/>
              <a:ext cx="1966608" cy="3081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모서리가 둥근 직사각형 6"/>
          <p:cNvSpPr/>
          <p:nvPr/>
        </p:nvSpPr>
        <p:spPr>
          <a:xfrm>
            <a:off x="102767" y="891871"/>
            <a:ext cx="1266616" cy="35272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 w="12700">
            <a:solidFill>
              <a:schemeClr val="accent3">
                <a:lumMod val="75000"/>
              </a:schemeClr>
            </a:solidFill>
          </a:ln>
          <a:effectLst>
            <a:outerShdw blurRad="38100" sx="102000" sy="102000" algn="ctr" rotWithShape="0">
              <a:prstClr val="black">
                <a:alpha val="9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bg1"/>
                </a:solidFill>
                <a:latin typeface="+mj-ea"/>
                <a:ea typeface="+mj-ea"/>
              </a:rPr>
              <a:t>통계</a:t>
            </a:r>
            <a:endParaRPr lang="ko-KR" altLang="en-US" sz="12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11" name="꺾인 연결선 10"/>
          <p:cNvCxnSpPr/>
          <p:nvPr/>
        </p:nvCxnSpPr>
        <p:spPr>
          <a:xfrm rot="16200000" flipH="1">
            <a:off x="81988" y="1448799"/>
            <a:ext cx="563684" cy="108851"/>
          </a:xfrm>
          <a:prstGeom prst="bentConnector3">
            <a:avLst>
              <a:gd name="adj1" fmla="val 100017"/>
            </a:avLst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utoShape 47"/>
          <p:cNvSpPr>
            <a:spLocks noChangeArrowheads="1"/>
          </p:cNvSpPr>
          <p:nvPr/>
        </p:nvSpPr>
        <p:spPr bwMode="auto">
          <a:xfrm>
            <a:off x="421552" y="1556792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ko-KR" altLang="en-US" sz="1000" dirty="0" smtClean="0"/>
              <a:t>주요통계</a:t>
            </a:r>
            <a:endParaRPr lang="ko-KR" altLang="en-US" sz="1000" dirty="0"/>
          </a:p>
        </p:txBody>
      </p:sp>
      <p:sp>
        <p:nvSpPr>
          <p:cNvPr id="14" name="AutoShape 184"/>
          <p:cNvSpPr>
            <a:spLocks noChangeArrowheads="1"/>
          </p:cNvSpPr>
          <p:nvPr/>
        </p:nvSpPr>
        <p:spPr bwMode="auto">
          <a:xfrm>
            <a:off x="1480552" y="1424443"/>
            <a:ext cx="1402628" cy="1600438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B6B6B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135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extrusionH="6350"/>
          </a:bodyPr>
          <a:lstStyle/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기록물수집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기관유형별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기록물수집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연간이관현황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해외기록물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유형별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해외기록물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나라별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해외기록물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연도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별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RFID-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연도별태그부착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RFID-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유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형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별태그부착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기록물소장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연도별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기록물소장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서고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CAMS-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유형별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CAMS-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형태별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CAMS-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생산기관별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전자기록물육안검수오류현황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21" name="AutoShape 47"/>
          <p:cNvSpPr>
            <a:spLocks noChangeArrowheads="1"/>
          </p:cNvSpPr>
          <p:nvPr/>
        </p:nvSpPr>
        <p:spPr bwMode="auto">
          <a:xfrm>
            <a:off x="421552" y="3172998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ko-KR" altLang="en-US" sz="1000" dirty="0" smtClean="0"/>
              <a:t>기획수집업무</a:t>
            </a:r>
            <a:endParaRPr lang="ko-KR" altLang="en-US" sz="1000" dirty="0"/>
          </a:p>
        </p:txBody>
      </p:sp>
      <p:sp>
        <p:nvSpPr>
          <p:cNvPr id="22" name="AutoShape 184"/>
          <p:cNvSpPr>
            <a:spLocks noChangeArrowheads="1"/>
          </p:cNvSpPr>
          <p:nvPr/>
        </p:nvSpPr>
        <p:spPr bwMode="auto">
          <a:xfrm>
            <a:off x="1488041" y="3121240"/>
            <a:ext cx="1734449" cy="861774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B6B6B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135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extrusionH="6350"/>
          </a:bodyPr>
          <a:lstStyle/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해외기록물수집현황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나라별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/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유형별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)</a:t>
            </a: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연도별수집현황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일반기록물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)</a:t>
            </a: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시청각류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시청각기록물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시청각류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행정박물류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간행물통계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마이크로필름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해외기록물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)</a:t>
            </a: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분기별기록물수집현황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cxnSp>
        <p:nvCxnSpPr>
          <p:cNvPr id="23" name="꺾인 연결선 22"/>
          <p:cNvCxnSpPr/>
          <p:nvPr/>
        </p:nvCxnSpPr>
        <p:spPr>
          <a:xfrm rot="16200000" flipH="1">
            <a:off x="-462614" y="2543615"/>
            <a:ext cx="1656184" cy="105556"/>
          </a:xfrm>
          <a:prstGeom prst="bentConnector3">
            <a:avLst>
              <a:gd name="adj1" fmla="val 100150"/>
            </a:avLst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AutoShape 47"/>
          <p:cNvSpPr>
            <a:spLocks noChangeArrowheads="1"/>
          </p:cNvSpPr>
          <p:nvPr/>
        </p:nvSpPr>
        <p:spPr bwMode="auto">
          <a:xfrm>
            <a:off x="428635" y="4360206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ko-KR" altLang="en-US" sz="1000" dirty="0" smtClean="0"/>
              <a:t>비정형통계</a:t>
            </a:r>
            <a:endParaRPr lang="ko-KR" altLang="en-US" sz="1000" dirty="0"/>
          </a:p>
        </p:txBody>
      </p:sp>
      <p:cxnSp>
        <p:nvCxnSpPr>
          <p:cNvPr id="32" name="꺾인 연결선 31"/>
          <p:cNvCxnSpPr/>
          <p:nvPr/>
        </p:nvCxnSpPr>
        <p:spPr>
          <a:xfrm rot="16200000" flipH="1">
            <a:off x="-290708" y="3908840"/>
            <a:ext cx="1312374" cy="105556"/>
          </a:xfrm>
          <a:prstGeom prst="bentConnector2">
            <a:avLst/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AutoShape 184"/>
          <p:cNvSpPr>
            <a:spLocks noChangeArrowheads="1"/>
          </p:cNvSpPr>
          <p:nvPr/>
        </p:nvSpPr>
        <p:spPr bwMode="auto">
          <a:xfrm>
            <a:off x="1488041" y="4309183"/>
            <a:ext cx="1197444" cy="1107996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B6B6B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135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extrusionH="6350"/>
          </a:bodyPr>
          <a:lstStyle/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CAMS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수집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/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보유통계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행정박물 수집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/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보유통계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시청각 수집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/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보유통계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정부간행물 통계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해외기록 수집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/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보유통계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민간기록 수집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/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보유통계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정부간행물발간등록번호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매체수록평가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RFID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태그발행 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36" name="AutoShape 47"/>
          <p:cNvSpPr>
            <a:spLocks noChangeArrowheads="1"/>
          </p:cNvSpPr>
          <p:nvPr/>
        </p:nvSpPr>
        <p:spPr bwMode="auto">
          <a:xfrm>
            <a:off x="3276816" y="1556792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ko-KR" altLang="en-US" sz="1000" dirty="0" smtClean="0"/>
              <a:t>등록업무</a:t>
            </a:r>
            <a:endParaRPr lang="ko-KR" altLang="en-US" sz="1000" dirty="0"/>
          </a:p>
        </p:txBody>
      </p:sp>
      <p:sp>
        <p:nvSpPr>
          <p:cNvPr id="38" name="AutoShape 184"/>
          <p:cNvSpPr>
            <a:spLocks noChangeArrowheads="1"/>
          </p:cNvSpPr>
          <p:nvPr/>
        </p:nvSpPr>
        <p:spPr bwMode="auto">
          <a:xfrm>
            <a:off x="4310712" y="1454197"/>
            <a:ext cx="2364430" cy="2215991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B6B6B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135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extrusionH="6350"/>
          </a:bodyPr>
          <a:lstStyle/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기록물수집누계현황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일반문서류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기록물수집누계현황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시청각류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기록물수집누계현황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간행물류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기록물수집누계현황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마이크로필름류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해외기록물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)</a:t>
            </a: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년도별수집현황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일반기록물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YYYY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년도생산기록물현황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총괄표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전체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)</a:t>
            </a: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전체보유현황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일반문서류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전체보유현황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시청각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류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전체보유현황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간행물류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전체보유현황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마이크로필름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일반문서류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생산기관이관기록물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발간등록현황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기관별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/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주기별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발간등록현황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기관유형별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/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주기별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발간등록현황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전문기관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/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주기별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기록물소장현황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기록물등록목록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생산년도별기록물소장량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39" name="AutoShape 47"/>
          <p:cNvSpPr>
            <a:spLocks noChangeArrowheads="1"/>
          </p:cNvSpPr>
          <p:nvPr/>
        </p:nvSpPr>
        <p:spPr bwMode="auto">
          <a:xfrm>
            <a:off x="3276816" y="3675973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ko-KR" altLang="en-US" sz="1000" dirty="0" smtClean="0"/>
              <a:t>보존업무</a:t>
            </a:r>
            <a:endParaRPr lang="ko-KR" altLang="en-US" sz="1000" dirty="0"/>
          </a:p>
        </p:txBody>
      </p:sp>
      <p:sp>
        <p:nvSpPr>
          <p:cNvPr id="40" name="AutoShape 184"/>
          <p:cNvSpPr>
            <a:spLocks noChangeArrowheads="1"/>
          </p:cNvSpPr>
          <p:nvPr/>
        </p:nvSpPr>
        <p:spPr bwMode="auto">
          <a:xfrm>
            <a:off x="4310712" y="3675973"/>
            <a:ext cx="1774525" cy="1600438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B6B6B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135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extrusionH="6350"/>
          </a:bodyPr>
          <a:lstStyle/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기록물현황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유형별현황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문서류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)</a:t>
            </a: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기록물현황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유형별현황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정부간행물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)</a:t>
            </a: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기록물현황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유형별현황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시청각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)</a:t>
            </a: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기록물현황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유형별현황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행정박물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)</a:t>
            </a: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기록물현황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보존서고별현황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기록물서고</a:t>
            </a:r>
            <a:r>
              <a:rPr lang="en-US" altLang="ko-KR" sz="800" dirty="0" smtClean="0"/>
              <a:t>·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ea typeface="산돌고딕 L" pitchFamily="18" charset="-127"/>
              </a:rPr>
              <a:t>서가배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ea typeface="산돌고딕 L" pitchFamily="18" charset="-127"/>
              </a:rPr>
              <a:t>치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현황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기록물현황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유형별현황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기록물현황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보존서고별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행정박물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유형별통계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행정박물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최근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4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년간유형별통계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행정박물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특정유형의기관별통계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행정박물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특정유형의기관유형별통계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기록물보존처리현황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41" name="AutoShape 47"/>
          <p:cNvSpPr>
            <a:spLocks noChangeArrowheads="1"/>
          </p:cNvSpPr>
          <p:nvPr/>
        </p:nvSpPr>
        <p:spPr bwMode="auto">
          <a:xfrm>
            <a:off x="6780041" y="1559296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ko-KR" altLang="en-US" sz="1000" dirty="0" smtClean="0"/>
              <a:t>기술</a:t>
            </a:r>
            <a:r>
              <a:rPr lang="en-US" altLang="ko-KR" sz="1000" dirty="0" smtClean="0"/>
              <a:t>/</a:t>
            </a:r>
            <a:r>
              <a:rPr lang="ko-KR" altLang="en-US" sz="1000" dirty="0" err="1" smtClean="0"/>
              <a:t>재분류업무</a:t>
            </a:r>
            <a:endParaRPr lang="ko-KR" altLang="en-US" sz="1000" dirty="0"/>
          </a:p>
        </p:txBody>
      </p:sp>
      <p:sp>
        <p:nvSpPr>
          <p:cNvPr id="42" name="AutoShape 184"/>
          <p:cNvSpPr>
            <a:spLocks noChangeArrowheads="1"/>
          </p:cNvSpPr>
          <p:nvPr/>
        </p:nvSpPr>
        <p:spPr bwMode="auto">
          <a:xfrm>
            <a:off x="7872647" y="1513508"/>
            <a:ext cx="1787349" cy="738664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B6B6B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135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extrusionH="6350"/>
          </a:bodyPr>
          <a:lstStyle/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생산년도별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/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기관별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/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종류별기술통계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소장기록물보존기간재분류통계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총괄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)</a:t>
            </a: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대통령기록물평가통계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일반기록물매체수록가치평가통계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시청각기록물평가기술통계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소장기록물보존기간재분류전통계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43" name="AutoShape 47"/>
          <p:cNvSpPr>
            <a:spLocks noChangeArrowheads="1"/>
          </p:cNvSpPr>
          <p:nvPr/>
        </p:nvSpPr>
        <p:spPr bwMode="auto">
          <a:xfrm>
            <a:off x="6780041" y="2574305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ko-KR" altLang="en-US" sz="1000" dirty="0" smtClean="0"/>
              <a:t>보존매체수록</a:t>
            </a:r>
            <a:endParaRPr lang="en-US" altLang="ko-KR" sz="1000" dirty="0" smtClean="0"/>
          </a:p>
          <a:p>
            <a:pPr algn="ctr"/>
            <a:r>
              <a:rPr lang="ko-KR" altLang="en-US" sz="1000" dirty="0" smtClean="0"/>
              <a:t>업무</a:t>
            </a:r>
            <a:endParaRPr lang="ko-KR" altLang="en-US" sz="1000" dirty="0"/>
          </a:p>
        </p:txBody>
      </p:sp>
      <p:sp>
        <p:nvSpPr>
          <p:cNvPr id="44" name="AutoShape 184"/>
          <p:cNvSpPr>
            <a:spLocks noChangeArrowheads="1"/>
          </p:cNvSpPr>
          <p:nvPr/>
        </p:nvSpPr>
        <p:spPr bwMode="auto">
          <a:xfrm>
            <a:off x="7872647" y="2615268"/>
            <a:ext cx="1094852" cy="123111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B6B6B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135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extrusionH="6350"/>
          </a:bodyPr>
          <a:lstStyle/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마이크로필름수록현황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45" name="AutoShape 47"/>
          <p:cNvSpPr>
            <a:spLocks noChangeArrowheads="1"/>
          </p:cNvSpPr>
          <p:nvPr/>
        </p:nvSpPr>
        <p:spPr bwMode="auto">
          <a:xfrm>
            <a:off x="6780041" y="3270415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ko-KR" altLang="en-US" sz="1000" dirty="0" smtClean="0"/>
              <a:t>열람활용업무</a:t>
            </a:r>
            <a:endParaRPr lang="ko-KR" altLang="en-US" sz="1000" dirty="0"/>
          </a:p>
        </p:txBody>
      </p:sp>
      <p:sp>
        <p:nvSpPr>
          <p:cNvPr id="47" name="AutoShape 184"/>
          <p:cNvSpPr>
            <a:spLocks noChangeArrowheads="1"/>
          </p:cNvSpPr>
          <p:nvPr/>
        </p:nvSpPr>
        <p:spPr bwMode="auto">
          <a:xfrm>
            <a:off x="7872647" y="3222954"/>
            <a:ext cx="1931619" cy="1477328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B6B6B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135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extrusionH="6350"/>
          </a:bodyPr>
          <a:lstStyle/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청구방법별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현황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열람청구 및 처리현황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–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총괄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열람청구 및 처리현황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–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비공개사유별현황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공개방법별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현황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공개여부 결정기간별 현황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처리방법별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현황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열람내용별 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총괄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열람내용별 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-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세부내용별 현황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열람수수료 징수내역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전년도 동기대비 현황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대량열람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,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특이사항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cxnSp>
        <p:nvCxnSpPr>
          <p:cNvPr id="48" name="꺾인 연결선 47"/>
          <p:cNvCxnSpPr/>
          <p:nvPr/>
        </p:nvCxnSpPr>
        <p:spPr>
          <a:xfrm>
            <a:off x="315144" y="1358097"/>
            <a:ext cx="2961672" cy="452686"/>
          </a:xfrm>
          <a:prstGeom prst="bentConnector3">
            <a:avLst>
              <a:gd name="adj1" fmla="val 97083"/>
            </a:avLst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꺾인 연결선 53"/>
          <p:cNvCxnSpPr/>
          <p:nvPr/>
        </p:nvCxnSpPr>
        <p:spPr>
          <a:xfrm rot="16200000" flipH="1">
            <a:off x="2148218" y="2847056"/>
            <a:ext cx="2138549" cy="52779"/>
          </a:xfrm>
          <a:prstGeom prst="bentConnector3">
            <a:avLst>
              <a:gd name="adj1" fmla="val 100240"/>
            </a:avLst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꺾인 연결선 61"/>
          <p:cNvCxnSpPr>
            <a:endCxn id="41" idx="1"/>
          </p:cNvCxnSpPr>
          <p:nvPr/>
        </p:nvCxnSpPr>
        <p:spPr>
          <a:xfrm>
            <a:off x="3191102" y="1358097"/>
            <a:ext cx="3588939" cy="452687"/>
          </a:xfrm>
          <a:prstGeom prst="bentConnector3">
            <a:avLst>
              <a:gd name="adj1" fmla="val 96710"/>
            </a:avLst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꺾인 연결선 64"/>
          <p:cNvCxnSpPr/>
          <p:nvPr/>
        </p:nvCxnSpPr>
        <p:spPr>
          <a:xfrm rot="16200000" flipH="1">
            <a:off x="6196301" y="2271408"/>
            <a:ext cx="1046728" cy="105556"/>
          </a:xfrm>
          <a:prstGeom prst="bentConnector3">
            <a:avLst>
              <a:gd name="adj1" fmla="val 99503"/>
            </a:avLst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꺾인 연결선 68"/>
          <p:cNvCxnSpPr/>
          <p:nvPr/>
        </p:nvCxnSpPr>
        <p:spPr>
          <a:xfrm rot="16200000" flipH="1">
            <a:off x="6381783" y="3096812"/>
            <a:ext cx="675764" cy="105556"/>
          </a:xfrm>
          <a:prstGeom prst="bentConnector3">
            <a:avLst>
              <a:gd name="adj1" fmla="val 98487"/>
            </a:avLst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8838456" y="5735144"/>
            <a:ext cx="6270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 smtClean="0">
                <a:solidFill>
                  <a:schemeClr val="accent6">
                    <a:lumMod val="75000"/>
                  </a:schemeClr>
                </a:solidFill>
              </a:rPr>
              <a:t>&lt;</a:t>
            </a:r>
            <a:r>
              <a:rPr lang="ko-KR" altLang="en-US" sz="1000" b="1" dirty="0" smtClean="0">
                <a:solidFill>
                  <a:schemeClr val="accent6">
                    <a:lumMod val="75000"/>
                  </a:schemeClr>
                </a:solidFill>
              </a:rPr>
              <a:t>계속</a:t>
            </a:r>
            <a:r>
              <a:rPr lang="en-US" altLang="ko-KR" sz="1000" b="1" dirty="0" smtClean="0">
                <a:solidFill>
                  <a:schemeClr val="accent6">
                    <a:lumMod val="75000"/>
                  </a:schemeClr>
                </a:solidFill>
              </a:rPr>
              <a:t>&gt;</a:t>
            </a:r>
            <a:endParaRPr lang="ko-KR" altLang="en-US" sz="1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6727" y="138118"/>
            <a:ext cx="5112297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 extrusionH="6350"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□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중앙영구기록관리시스템 메뉴구성도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기록물 관리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]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3067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727" y="138118"/>
            <a:ext cx="5112297" cy="33855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 extrusionH="6350"/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/>
                <a:ea typeface="맑은 고딕"/>
              </a:rPr>
              <a:t>□ </a:t>
            </a:r>
            <a:r>
              <a:rPr lang="ko-KR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중앙영구기록관리시스템 메뉴구성도 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기록물 관리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]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23251" y="759437"/>
            <a:ext cx="9793088" cy="5760640"/>
            <a:chOff x="90960" y="692696"/>
            <a:chExt cx="9793088" cy="5760640"/>
          </a:xfrm>
        </p:grpSpPr>
        <p:sp>
          <p:nvSpPr>
            <p:cNvPr id="6" name="AutoShape 47"/>
            <p:cNvSpPr>
              <a:spLocks noChangeArrowheads="1"/>
            </p:cNvSpPr>
            <p:nvPr/>
          </p:nvSpPr>
          <p:spPr bwMode="auto">
            <a:xfrm>
              <a:off x="90960" y="692696"/>
              <a:ext cx="9793088" cy="5760640"/>
            </a:xfrm>
            <a:prstGeom prst="roundRect">
              <a:avLst>
                <a:gd name="adj" fmla="val 4387"/>
              </a:avLst>
            </a:prstGeom>
            <a:gradFill rotWithShape="1">
              <a:gsLst>
                <a:gs pos="0">
                  <a:srgbClr val="E9EFF7">
                    <a:gamma/>
                    <a:tint val="0"/>
                    <a:invGamma/>
                  </a:srgb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12700" algn="ctr">
              <a:solidFill>
                <a:schemeClr val="bg1">
                  <a:lumMod val="85000"/>
                </a:schemeClr>
              </a:solidFill>
              <a:round/>
              <a:headEnd/>
              <a:tailEnd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wrap="none" lIns="0" tIns="0" rIns="0" bIns="0" anchor="ctr"/>
            <a:lstStyle/>
            <a:p>
              <a:r>
                <a:rPr lang="en-US" altLang="ko-KR" sz="1000" dirty="0" smtClean="0"/>
                <a:t> </a:t>
              </a:r>
              <a:endParaRPr lang="ko-KR" altLang="en-US" sz="1000" dirty="0"/>
            </a:p>
          </p:txBody>
        </p:sp>
        <p:pic>
          <p:nvPicPr>
            <p:cNvPr id="7" name="Picture 2" descr="C:\Users\WooJung\Desktop\h1_logo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11775" y="6021191"/>
              <a:ext cx="1966608" cy="3081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0" name="꺾인 연결선 9"/>
          <p:cNvCxnSpPr/>
          <p:nvPr/>
        </p:nvCxnSpPr>
        <p:spPr>
          <a:xfrm rot="16200000" flipH="1">
            <a:off x="1234134" y="1608862"/>
            <a:ext cx="563684" cy="108851"/>
          </a:xfrm>
          <a:prstGeom prst="bentConnector3">
            <a:avLst>
              <a:gd name="adj1" fmla="val 100017"/>
            </a:avLst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utoShape 47"/>
          <p:cNvSpPr>
            <a:spLocks noChangeArrowheads="1"/>
          </p:cNvSpPr>
          <p:nvPr/>
        </p:nvSpPr>
        <p:spPr bwMode="auto">
          <a:xfrm>
            <a:off x="1570402" y="1779800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ko-KR" altLang="en-US" sz="1000" dirty="0" err="1" smtClean="0"/>
              <a:t>업무및기록분류</a:t>
            </a:r>
            <a:endParaRPr lang="en-US" altLang="ko-KR" sz="1000" dirty="0" smtClean="0"/>
          </a:p>
          <a:p>
            <a:pPr algn="ctr"/>
            <a:r>
              <a:rPr lang="ko-KR" altLang="en-US" sz="1000" dirty="0" smtClean="0"/>
              <a:t>업</a:t>
            </a:r>
            <a:r>
              <a:rPr lang="ko-KR" altLang="en-US" sz="1000" dirty="0"/>
              <a:t>무</a:t>
            </a:r>
          </a:p>
        </p:txBody>
      </p:sp>
      <p:sp>
        <p:nvSpPr>
          <p:cNvPr id="13" name="AutoShape 47"/>
          <p:cNvSpPr>
            <a:spLocks noChangeArrowheads="1"/>
          </p:cNvSpPr>
          <p:nvPr/>
        </p:nvSpPr>
        <p:spPr bwMode="auto">
          <a:xfrm>
            <a:off x="1576644" y="2528432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en-US" altLang="ko-KR" sz="1000" dirty="0" smtClean="0"/>
              <a:t>RFID</a:t>
            </a:r>
            <a:r>
              <a:rPr lang="ko-KR" altLang="en-US" sz="1000" dirty="0" smtClean="0"/>
              <a:t>태그현황</a:t>
            </a:r>
            <a:endParaRPr lang="ko-KR" altLang="en-US" sz="1000" dirty="0"/>
          </a:p>
        </p:txBody>
      </p:sp>
      <p:sp>
        <p:nvSpPr>
          <p:cNvPr id="14" name="AutoShape 47"/>
          <p:cNvSpPr>
            <a:spLocks noChangeArrowheads="1"/>
          </p:cNvSpPr>
          <p:nvPr/>
        </p:nvSpPr>
        <p:spPr bwMode="auto">
          <a:xfrm>
            <a:off x="4367682" y="1584439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ko-KR" altLang="en-US" sz="1000" dirty="0" smtClean="0"/>
              <a:t>기록물현황</a:t>
            </a:r>
            <a:endParaRPr lang="ko-KR" altLang="en-US" sz="1000" dirty="0"/>
          </a:p>
        </p:txBody>
      </p:sp>
      <p:sp>
        <p:nvSpPr>
          <p:cNvPr id="15" name="AutoShape 47"/>
          <p:cNvSpPr>
            <a:spLocks noChangeArrowheads="1"/>
          </p:cNvSpPr>
          <p:nvPr/>
        </p:nvSpPr>
        <p:spPr bwMode="auto">
          <a:xfrm>
            <a:off x="4364913" y="2348453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ko-KR" altLang="en-US" sz="1000" dirty="0" err="1" smtClean="0"/>
              <a:t>일반문서류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상세</a:t>
            </a:r>
            <a:r>
              <a:rPr lang="en-US" altLang="ko-KR" sz="1000" dirty="0" smtClean="0"/>
              <a:t>)</a:t>
            </a:r>
            <a:endParaRPr lang="ko-KR" altLang="en-US" sz="1000" dirty="0"/>
          </a:p>
        </p:txBody>
      </p:sp>
      <p:sp>
        <p:nvSpPr>
          <p:cNvPr id="16" name="AutoShape 47"/>
          <p:cNvSpPr>
            <a:spLocks noChangeArrowheads="1"/>
          </p:cNvSpPr>
          <p:nvPr/>
        </p:nvSpPr>
        <p:spPr bwMode="auto">
          <a:xfrm>
            <a:off x="4381894" y="3162242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ko-KR" altLang="en-US" sz="1000" dirty="0" smtClean="0"/>
              <a:t>기록물수집</a:t>
            </a:r>
            <a:endParaRPr lang="en-US" altLang="ko-KR" sz="1000" dirty="0" smtClean="0"/>
          </a:p>
          <a:p>
            <a:pPr algn="ctr"/>
            <a:r>
              <a:rPr lang="ko-KR" altLang="en-US" sz="1000" dirty="0" smtClean="0"/>
              <a:t>누계현황</a:t>
            </a:r>
            <a:endParaRPr lang="ko-KR" altLang="en-US" sz="1000" dirty="0"/>
          </a:p>
        </p:txBody>
      </p:sp>
      <p:sp>
        <p:nvSpPr>
          <p:cNvPr id="17" name="AutoShape 47"/>
          <p:cNvSpPr>
            <a:spLocks noChangeArrowheads="1"/>
          </p:cNvSpPr>
          <p:nvPr/>
        </p:nvSpPr>
        <p:spPr bwMode="auto">
          <a:xfrm>
            <a:off x="4381894" y="3973646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ko-KR" altLang="en-US" sz="1000" dirty="0" smtClean="0"/>
              <a:t>기록물수집현황</a:t>
            </a:r>
            <a:endParaRPr lang="ko-KR" altLang="en-US" sz="1000" dirty="0"/>
          </a:p>
        </p:txBody>
      </p:sp>
      <p:sp>
        <p:nvSpPr>
          <p:cNvPr id="18" name="AutoShape 47"/>
          <p:cNvSpPr>
            <a:spLocks noChangeArrowheads="1"/>
          </p:cNvSpPr>
          <p:nvPr/>
        </p:nvSpPr>
        <p:spPr bwMode="auto">
          <a:xfrm>
            <a:off x="7167925" y="1528753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ko-KR" altLang="en-US" sz="1000" dirty="0" smtClean="0"/>
              <a:t>기록물보유현황</a:t>
            </a:r>
            <a:endParaRPr lang="ko-KR" altLang="en-US" sz="1000" dirty="0"/>
          </a:p>
        </p:txBody>
      </p:sp>
      <p:sp>
        <p:nvSpPr>
          <p:cNvPr id="19" name="AutoShape 47"/>
          <p:cNvSpPr>
            <a:spLocks noChangeArrowheads="1"/>
          </p:cNvSpPr>
          <p:nvPr/>
        </p:nvSpPr>
        <p:spPr bwMode="auto">
          <a:xfrm>
            <a:off x="7146632" y="2355250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ko-KR" altLang="en-US" sz="1000" dirty="0" smtClean="0"/>
              <a:t>관리자통계</a:t>
            </a:r>
            <a:endParaRPr lang="ko-KR" altLang="en-US" sz="1000" dirty="0"/>
          </a:p>
        </p:txBody>
      </p:sp>
      <p:sp>
        <p:nvSpPr>
          <p:cNvPr id="20" name="AutoShape 47"/>
          <p:cNvSpPr>
            <a:spLocks noChangeArrowheads="1"/>
          </p:cNvSpPr>
          <p:nvPr/>
        </p:nvSpPr>
        <p:spPr bwMode="auto">
          <a:xfrm>
            <a:off x="7146592" y="3476418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ko-KR" altLang="en-US" sz="1000" dirty="0" smtClean="0"/>
              <a:t>행정박물현황</a:t>
            </a:r>
            <a:endParaRPr lang="ko-KR" altLang="en-US" sz="1000" dirty="0"/>
          </a:p>
        </p:txBody>
      </p:sp>
      <p:sp>
        <p:nvSpPr>
          <p:cNvPr id="21" name="AutoShape 47"/>
          <p:cNvSpPr>
            <a:spLocks noChangeArrowheads="1"/>
          </p:cNvSpPr>
          <p:nvPr/>
        </p:nvSpPr>
        <p:spPr bwMode="auto">
          <a:xfrm>
            <a:off x="1592538" y="3426313"/>
            <a:ext cx="1008000" cy="502975"/>
          </a:xfrm>
          <a:prstGeom prst="roundRect">
            <a:avLst>
              <a:gd name="adj" fmla="val 9750"/>
            </a:avLst>
          </a:prstGeom>
          <a:gradFill rotWithShape="1">
            <a:gsLst>
              <a:gs pos="0">
                <a:srgbClr val="E9EFF7">
                  <a:gamma/>
                  <a:tint val="0"/>
                  <a:invGamma/>
                </a:srgbClr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/>
          <a:extLst/>
        </p:spPr>
        <p:txBody>
          <a:bodyPr wrap="none" lIns="72000" tIns="72000" rIns="72000" bIns="72000" anchor="ctr"/>
          <a:lstStyle/>
          <a:p>
            <a:pPr algn="ctr"/>
            <a:r>
              <a:rPr lang="ko-KR" altLang="en-US" sz="1000" dirty="0" smtClean="0"/>
              <a:t>간행물현</a:t>
            </a:r>
            <a:r>
              <a:rPr lang="ko-KR" altLang="en-US" sz="1000" dirty="0"/>
              <a:t>황</a:t>
            </a:r>
          </a:p>
        </p:txBody>
      </p:sp>
      <p:sp>
        <p:nvSpPr>
          <p:cNvPr id="22" name="AutoShape 184"/>
          <p:cNvSpPr>
            <a:spLocks noChangeArrowheads="1"/>
          </p:cNvSpPr>
          <p:nvPr/>
        </p:nvSpPr>
        <p:spPr bwMode="auto">
          <a:xfrm>
            <a:off x="2694513" y="1779800"/>
            <a:ext cx="1197444" cy="246221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B6B6B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135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extrusionH="6350"/>
          </a:bodyPr>
          <a:lstStyle/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기관별단위과제현황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기관별보존기간조정현황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23" name="AutoShape 184"/>
          <p:cNvSpPr>
            <a:spLocks noChangeArrowheads="1"/>
          </p:cNvSpPr>
          <p:nvPr/>
        </p:nvSpPr>
        <p:spPr bwMode="auto">
          <a:xfrm>
            <a:off x="8265368" y="2355250"/>
            <a:ext cx="1376980" cy="1107996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B6B6B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135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extrusionH="6350"/>
          </a:bodyPr>
          <a:lstStyle/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전체통계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기록물생산현황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수집실적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수집현황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)</a:t>
            </a: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정리중현황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정리완료현황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서고배치현황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)</a:t>
            </a: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미수집현황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생산통보현황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연도별백분율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이용자현황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sp>
        <p:nvSpPr>
          <p:cNvPr id="32" name="AutoShape 184"/>
          <p:cNvSpPr>
            <a:spLocks noChangeArrowheads="1"/>
          </p:cNvSpPr>
          <p:nvPr/>
        </p:nvSpPr>
        <p:spPr bwMode="auto">
          <a:xfrm>
            <a:off x="2694513" y="2544528"/>
            <a:ext cx="1094852" cy="861774"/>
          </a:xfrm>
          <a:prstGeom prst="rect">
            <a:avLst/>
          </a:prstGeom>
          <a:noFill/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B6B6B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135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 extrusionH="6350"/>
          </a:bodyPr>
          <a:lstStyle/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생산기관별태그현황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서고별태그현황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기록물형태별태그현황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기록물무단유출현황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정수점검이력현황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태그신규</a:t>
            </a:r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/</a:t>
            </a:r>
            <a:r>
              <a:rPr lang="ko-KR" altLang="en-US" sz="8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재발행현황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  <a:p>
            <a:pPr latinLnBrk="0">
              <a:spcBef>
                <a:spcPct val="0"/>
              </a:spcBef>
              <a:buFont typeface="Arial" pitchFamily="34" charset="0"/>
              <a:buChar char="•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 </a:t>
            </a:r>
            <a:r>
              <a: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산돌고딕 L" pitchFamily="18" charset="-127"/>
                <a:ea typeface="산돌고딕 L" pitchFamily="18" charset="-127"/>
              </a:rPr>
              <a:t>기록물태그통계현황</a:t>
            </a:r>
            <a:endParaRPr lang="en-US" altLang="ko-KR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산돌고딕 L" pitchFamily="18" charset="-127"/>
              <a:ea typeface="산돌고딕 L" pitchFamily="18" charset="-127"/>
            </a:endParaRPr>
          </a:p>
        </p:txBody>
      </p:sp>
      <p:cxnSp>
        <p:nvCxnSpPr>
          <p:cNvPr id="53" name="꺾인 연결선 52"/>
          <p:cNvCxnSpPr/>
          <p:nvPr/>
        </p:nvCxnSpPr>
        <p:spPr>
          <a:xfrm rot="16200000" flipH="1">
            <a:off x="3896895" y="2129692"/>
            <a:ext cx="820239" cy="121336"/>
          </a:xfrm>
          <a:prstGeom prst="bentConnector2">
            <a:avLst/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꺾인 연결선 53"/>
          <p:cNvCxnSpPr/>
          <p:nvPr/>
        </p:nvCxnSpPr>
        <p:spPr>
          <a:xfrm rot="16200000" flipH="1">
            <a:off x="3905492" y="2944102"/>
            <a:ext cx="820239" cy="121336"/>
          </a:xfrm>
          <a:prstGeom prst="bentConnector2">
            <a:avLst/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연결선 54"/>
          <p:cNvCxnSpPr/>
          <p:nvPr/>
        </p:nvCxnSpPr>
        <p:spPr>
          <a:xfrm rot="16200000" flipH="1">
            <a:off x="3907453" y="3750557"/>
            <a:ext cx="820239" cy="121336"/>
          </a:xfrm>
          <a:prstGeom prst="bentConnector2">
            <a:avLst/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꺾인 연결선 57"/>
          <p:cNvCxnSpPr/>
          <p:nvPr/>
        </p:nvCxnSpPr>
        <p:spPr>
          <a:xfrm rot="16200000" flipH="1">
            <a:off x="6675845" y="2092301"/>
            <a:ext cx="820239" cy="121336"/>
          </a:xfrm>
          <a:prstGeom prst="bentConnector2">
            <a:avLst/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꺾인 연결선 59"/>
          <p:cNvCxnSpPr>
            <a:endCxn id="20" idx="1"/>
          </p:cNvCxnSpPr>
          <p:nvPr/>
        </p:nvCxnSpPr>
        <p:spPr>
          <a:xfrm rot="16200000" flipH="1">
            <a:off x="6503536" y="3084849"/>
            <a:ext cx="1164817" cy="121295"/>
          </a:xfrm>
          <a:prstGeom prst="bentConnector2">
            <a:avLst/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연결선 60"/>
          <p:cNvCxnSpPr/>
          <p:nvPr/>
        </p:nvCxnSpPr>
        <p:spPr>
          <a:xfrm rot="16200000" flipH="1">
            <a:off x="1112099" y="2294582"/>
            <a:ext cx="820239" cy="121336"/>
          </a:xfrm>
          <a:prstGeom prst="bentConnector2">
            <a:avLst/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꺾인 연결선 61"/>
          <p:cNvCxnSpPr>
            <a:endCxn id="21" idx="1"/>
          </p:cNvCxnSpPr>
          <p:nvPr/>
        </p:nvCxnSpPr>
        <p:spPr>
          <a:xfrm rot="16200000" flipH="1">
            <a:off x="1070830" y="3156092"/>
            <a:ext cx="912431" cy="130986"/>
          </a:xfrm>
          <a:prstGeom prst="bentConnector2">
            <a:avLst/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모서리가 둥근 직사각형 62"/>
          <p:cNvSpPr/>
          <p:nvPr/>
        </p:nvSpPr>
        <p:spPr>
          <a:xfrm>
            <a:off x="1134813" y="1034673"/>
            <a:ext cx="1266616" cy="35272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chemeClr val="accent3">
                <a:lumMod val="75000"/>
              </a:schemeClr>
            </a:solidFill>
          </a:ln>
          <a:effectLst>
            <a:outerShdw blurRad="38100" sx="102000" sy="102000" algn="ctr" rotWithShape="0">
              <a:prstClr val="black">
                <a:alpha val="9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smtClean="0">
                <a:solidFill>
                  <a:schemeClr val="bg1"/>
                </a:solidFill>
                <a:latin typeface="+mj-ea"/>
                <a:ea typeface="+mj-ea"/>
              </a:rPr>
              <a:t>통계                        </a:t>
            </a:r>
            <a:endParaRPr lang="ko-KR" altLang="en-US" sz="12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67" name="꺾인 연결선 66"/>
          <p:cNvCxnSpPr/>
          <p:nvPr/>
        </p:nvCxnSpPr>
        <p:spPr>
          <a:xfrm>
            <a:off x="1468393" y="1466979"/>
            <a:ext cx="2885303" cy="368948"/>
          </a:xfrm>
          <a:prstGeom prst="bentConnector3">
            <a:avLst>
              <a:gd name="adj1" fmla="val 96217"/>
            </a:avLst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꺾인 연결선 71"/>
          <p:cNvCxnSpPr/>
          <p:nvPr/>
        </p:nvCxnSpPr>
        <p:spPr>
          <a:xfrm>
            <a:off x="4232920" y="1466979"/>
            <a:ext cx="2913712" cy="313261"/>
          </a:xfrm>
          <a:prstGeom prst="bentConnector3">
            <a:avLst>
              <a:gd name="adj1" fmla="val 95766"/>
            </a:avLst>
          </a:prstGeom>
          <a:ln>
            <a:solidFill>
              <a:srgbClr val="7793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/>
          <p:cNvSpPr/>
          <p:nvPr/>
        </p:nvSpPr>
        <p:spPr>
          <a:xfrm>
            <a:off x="4548796" y="5522748"/>
            <a:ext cx="4953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200" dirty="0">
                <a:solidFill>
                  <a:schemeClr val="accent6">
                    <a:lumMod val="75000"/>
                  </a:schemeClr>
                </a:solidFill>
              </a:rPr>
              <a:t>※ </a:t>
            </a:r>
            <a:r>
              <a:rPr lang="ko-KR" altLang="en-US" sz="1200" b="1" dirty="0">
                <a:solidFill>
                  <a:schemeClr val="accent6">
                    <a:lumMod val="75000"/>
                  </a:schemeClr>
                </a:solidFill>
              </a:rPr>
              <a:t>사용자 기본권한</a:t>
            </a:r>
            <a:r>
              <a:rPr lang="ko-KR" altLang="en-US" sz="1200" dirty="0">
                <a:solidFill>
                  <a:schemeClr val="accent6">
                    <a:lumMod val="75000"/>
                  </a:schemeClr>
                </a:solidFill>
              </a:rPr>
              <a:t>내</a:t>
            </a:r>
            <a:r>
              <a:rPr lang="en-US" altLang="ko-KR" sz="12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ko-KR" altLang="en-US" sz="1200" b="1" dirty="0">
                <a:solidFill>
                  <a:schemeClr val="accent6">
                    <a:lumMod val="75000"/>
                  </a:schemeClr>
                </a:solidFill>
              </a:rPr>
              <a:t>검색</a:t>
            </a:r>
            <a:r>
              <a:rPr lang="en-US" altLang="ko-KR" sz="1200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ko-KR" altLang="en-US" sz="1200" b="1" dirty="0">
                <a:solidFill>
                  <a:schemeClr val="accent6">
                    <a:lumMod val="75000"/>
                  </a:schemeClr>
                </a:solidFill>
              </a:rPr>
              <a:t>통계</a:t>
            </a:r>
            <a:r>
              <a:rPr lang="ko-KR" altLang="en-US" sz="1200" dirty="0">
                <a:solidFill>
                  <a:schemeClr val="accent6">
                    <a:lumMod val="75000"/>
                  </a:schemeClr>
                </a:solidFill>
              </a:rPr>
              <a:t> 전체 권한 포함되어 </a:t>
            </a:r>
            <a:r>
              <a:rPr lang="ko-KR" altLang="en-US" sz="1200" dirty="0" smtClean="0">
                <a:solidFill>
                  <a:schemeClr val="accent6">
                    <a:lumMod val="75000"/>
                  </a:schemeClr>
                </a:solidFill>
              </a:rPr>
              <a:t>있습니다</a:t>
            </a:r>
            <a:r>
              <a:rPr lang="en-US" altLang="ko-KR" sz="1200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  <a:endParaRPr lang="ko-KR" alt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486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792</TotalTime>
  <Words>1304</Words>
  <Application>Microsoft Office PowerPoint</Application>
  <PresentationFormat>A4 용지(210x297mm)</PresentationFormat>
  <Paragraphs>502</Paragraphs>
  <Slides>7</Slides>
  <Notes>6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anne</dc:creator>
  <cp:lastModifiedBy>김광수</cp:lastModifiedBy>
  <cp:revision>73</cp:revision>
  <cp:lastPrinted>2019-03-19T01:43:56Z</cp:lastPrinted>
  <dcterms:created xsi:type="dcterms:W3CDTF">2015-01-15T05:48:11Z</dcterms:created>
  <dcterms:modified xsi:type="dcterms:W3CDTF">2019-11-05T06:26:05Z</dcterms:modified>
</cp:coreProperties>
</file>